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wdp" ContentType="image/vnd.ms-photo"/>
  <Default Extension="rels" ContentType="application/vnd.openxmlformats-package.relationships+xml"/>
  <Override PartName="/customXml/itemProps37.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8.svg" ContentType="image/svg+xml"/>
  <Override PartName="/ppt/media/image20.svg" ContentType="image/svg+xml"/>
  <Override PartName="/ppt/media/image22.svg" ContentType="image/svg+xml"/>
  <Override PartName="/ppt/media/image2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8.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7"/>
  </p:notesMasterIdLst>
  <p:handoutMasterIdLst>
    <p:handoutMasterId r:id="rId26"/>
  </p:handoutMasterIdLst>
  <p:sldIdLst>
    <p:sldId id="302" r:id="rId4"/>
    <p:sldId id="282" r:id="rId5"/>
    <p:sldId id="258" r:id="rId6"/>
    <p:sldId id="277" r:id="rId8"/>
    <p:sldId id="283" r:id="rId9"/>
    <p:sldId id="284" r:id="rId10"/>
    <p:sldId id="285" r:id="rId11"/>
    <p:sldId id="286" r:id="rId12"/>
    <p:sldId id="287" r:id="rId13"/>
    <p:sldId id="290" r:id="rId14"/>
    <p:sldId id="291" r:id="rId15"/>
    <p:sldId id="292" r:id="rId16"/>
    <p:sldId id="293" r:id="rId17"/>
    <p:sldId id="294" r:id="rId18"/>
    <p:sldId id="295" r:id="rId19"/>
    <p:sldId id="296" r:id="rId20"/>
    <p:sldId id="298" r:id="rId21"/>
    <p:sldId id="299" r:id="rId22"/>
    <p:sldId id="297" r:id="rId23"/>
    <p:sldId id="300" r:id="rId24"/>
    <p:sldId id="303" r:id="rId25"/>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3" userDrawn="1">
          <p15:clr>
            <a:srgbClr val="A4A3A4"/>
          </p15:clr>
        </p15:guide>
        <p15:guide id="2" pos="386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毛绎然" initials="毛绎然"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C3F5"/>
    <a:srgbClr val="592680"/>
    <a:srgbClr val="7030A0"/>
    <a:srgbClr val="461E66"/>
    <a:srgbClr val="311548"/>
    <a:srgbClr val="0063A8"/>
    <a:srgbClr val="0070C0"/>
    <a:srgbClr val="FEFAEE"/>
    <a:srgbClr val="C8B0E8"/>
    <a:srgbClr val="BDB1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76" d="100"/>
          <a:sy n="76" d="100"/>
        </p:scale>
        <p:origin x="72" y="135"/>
      </p:cViewPr>
      <p:guideLst>
        <p:guide orient="horz" pos="2213"/>
        <p:guide pos="386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3" Type="http://schemas.openxmlformats.org/officeDocument/2006/relationships/tags" Target="tags/tag38.xml"/><Relationship Id="rId32" Type="http://schemas.openxmlformats.org/officeDocument/2006/relationships/customXml" Target="../customXml/item1.xml"/><Relationship Id="rId31" Type="http://schemas.openxmlformats.org/officeDocument/2006/relationships/customXmlProps" Target="../customXml/itemProps37.xml"/><Relationship Id="rId30" Type="http://schemas.openxmlformats.org/officeDocument/2006/relationships/commentAuthors" Target="commentAuthors.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D49FA9-D22E-4650-94A7-3B8BCD4F56B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409C11-AEEF-4561-816E-8377EDAFD22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F99EDCF0-DFCB-4AF8-B907-8A1E92260E3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F99EDCF0-DFCB-4AF8-B907-8A1E92260E3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F99EDCF0-DFCB-4AF8-B907-8A1E92260E3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9.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9.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B66B159-8F0C-41E7-AB2B-8F346F92F6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65D660-0272-449E-8CB2-761D9255119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7" name="矩形 6"/>
          <p:cNvSpPr/>
          <p:nvPr userDrawn="1"/>
        </p:nvSpPr>
        <p:spPr>
          <a:xfrm>
            <a:off x="1" y="1"/>
            <a:ext cx="12192001" cy="8001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p>
        </p:txBody>
      </p:sp>
      <p:grpSp>
        <p:nvGrpSpPr>
          <p:cNvPr id="8" name="组合 7"/>
          <p:cNvGrpSpPr/>
          <p:nvPr userDrawn="1"/>
        </p:nvGrpSpPr>
        <p:grpSpPr bwMode="auto">
          <a:xfrm>
            <a:off x="1826685" y="141816"/>
            <a:ext cx="1773767" cy="601895"/>
            <a:chOff x="1399441" y="1145221"/>
            <a:chExt cx="1329556" cy="451276"/>
          </a:xfrm>
        </p:grpSpPr>
        <p:sp>
          <p:nvSpPr>
            <p:cNvPr id="9" name="圆角矩形 8"/>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35"/>
            </a:p>
          </p:txBody>
        </p:sp>
        <p:sp>
          <p:nvSpPr>
            <p:cNvPr id="10" name="TextBox 15"/>
            <p:cNvSpPr txBox="1">
              <a:spLocks noChangeArrowheads="1"/>
            </p:cNvSpPr>
            <p:nvPr/>
          </p:nvSpPr>
          <p:spPr bwMode="auto">
            <a:xfrm>
              <a:off x="1691214" y="1281176"/>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135">
                <a:solidFill>
                  <a:schemeClr val="bg1"/>
                </a:solidFill>
                <a:latin typeface="微软雅黑" panose="020B0503020204020204" pitchFamily="34" charset="-122"/>
                <a:ea typeface="微软雅黑" panose="020B0503020204020204" pitchFamily="34" charset="-122"/>
              </a:endParaRPr>
            </a:p>
          </p:txBody>
        </p:sp>
      </p:grpSp>
      <p:pic>
        <p:nvPicPr>
          <p:cNvPr id="20" name="图片 19"/>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200392" y="5257"/>
            <a:ext cx="1931336" cy="8160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p:cNvSpPr/>
          <p:nvPr userDrawn="1"/>
        </p:nvSpPr>
        <p:spPr>
          <a:xfrm>
            <a:off x="1" y="1"/>
            <a:ext cx="12192001" cy="8001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p>
        </p:txBody>
      </p:sp>
      <p:sp>
        <p:nvSpPr>
          <p:cNvPr id="21" name="矩形 20"/>
          <p:cNvSpPr/>
          <p:nvPr userDrawn="1"/>
        </p:nvSpPr>
        <p:spPr>
          <a:xfrm>
            <a:off x="2561580" y="-2117"/>
            <a:ext cx="1883149" cy="800100"/>
          </a:xfrm>
          <a:prstGeom prst="rect">
            <a:avLst/>
          </a:prstGeom>
          <a:solidFill>
            <a:srgbClr val="6DAD39"/>
          </a:solidFill>
          <a:ln>
            <a:solidFill>
              <a:srgbClr val="6DAD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8" name="组合 7"/>
          <p:cNvGrpSpPr/>
          <p:nvPr userDrawn="1"/>
        </p:nvGrpSpPr>
        <p:grpSpPr bwMode="auto">
          <a:xfrm>
            <a:off x="1826685" y="141816"/>
            <a:ext cx="1773767" cy="601895"/>
            <a:chOff x="1399441" y="1145221"/>
            <a:chExt cx="1329556" cy="451276"/>
          </a:xfrm>
        </p:grpSpPr>
        <p:sp>
          <p:nvSpPr>
            <p:cNvPr id="9" name="圆角矩形 8"/>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35"/>
            </a:p>
          </p:txBody>
        </p:sp>
        <p:sp>
          <p:nvSpPr>
            <p:cNvPr id="10" name="TextBox 15"/>
            <p:cNvSpPr txBox="1">
              <a:spLocks noChangeArrowheads="1"/>
            </p:cNvSpPr>
            <p:nvPr/>
          </p:nvSpPr>
          <p:spPr bwMode="auto">
            <a:xfrm>
              <a:off x="1691214" y="1281176"/>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135">
                <a:solidFill>
                  <a:schemeClr val="bg1"/>
                </a:solidFill>
                <a:latin typeface="微软雅黑" panose="020B0503020204020204" pitchFamily="34" charset="-122"/>
                <a:ea typeface="微软雅黑" panose="020B0503020204020204" pitchFamily="34" charset="-122"/>
              </a:endParaRPr>
            </a:p>
          </p:txBody>
        </p:sp>
      </p:grpSp>
      <p:sp>
        <p:nvSpPr>
          <p:cNvPr id="11" name="TextBox 16">
            <a:hlinkClick r:id="" action="ppaction://noaction" highlightClick="1"/>
            <a:hlinkHover r:id="" action="ppaction://noaction" highlightClick="1"/>
          </p:cNvPr>
          <p:cNvSpPr txBox="1"/>
          <p:nvPr userDrawn="1"/>
        </p:nvSpPr>
        <p:spPr>
          <a:xfrm>
            <a:off x="2639905" y="188171"/>
            <a:ext cx="166899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p>
            <a:pPr algn="ctr" fontAlgn="auto">
              <a:spcBef>
                <a:spcPts val="0"/>
              </a:spcBef>
              <a:spcAft>
                <a:spcPts val="0"/>
              </a:spcAft>
              <a:defRPr/>
            </a:pPr>
            <a:r>
              <a:rPr lang="zh-CN" altLang="en-US" sz="1465" dirty="0">
                <a:solidFill>
                  <a:schemeClr val="bg1"/>
                </a:solidFill>
                <a:effectLst/>
                <a:latin typeface="+mn-ea"/>
                <a:ea typeface="+mn-ea"/>
              </a:rPr>
              <a:t>选题背景及意义</a:t>
            </a:r>
            <a:endParaRPr lang="zh-CN" altLang="en-US" sz="1465" dirty="0">
              <a:solidFill>
                <a:schemeClr val="bg1"/>
              </a:solidFill>
              <a:effectLst/>
              <a:latin typeface="+mn-ea"/>
              <a:ea typeface="+mn-ea"/>
            </a:endParaRPr>
          </a:p>
        </p:txBody>
      </p:sp>
      <p:sp>
        <p:nvSpPr>
          <p:cNvPr id="12" name="TextBox 17">
            <a:hlinkClick r:id="" action="ppaction://hlinkshowjump?jump=nextslide" highlightClick="1"/>
            <a:hlinkHover r:id="" action="ppaction://noaction" highlightClick="1"/>
          </p:cNvPr>
          <p:cNvSpPr txBox="1"/>
          <p:nvPr userDrawn="1"/>
        </p:nvSpPr>
        <p:spPr>
          <a:xfrm>
            <a:off x="4444730" y="188171"/>
            <a:ext cx="177631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论文综述</a:t>
            </a:r>
            <a:endParaRPr lang="zh-CN" altLang="en-US" sz="1465" dirty="0">
              <a:solidFill>
                <a:schemeClr val="bg1">
                  <a:lumMod val="85000"/>
                </a:schemeClr>
              </a:solidFill>
              <a:latin typeface="+mn-ea"/>
              <a:ea typeface="+mn-ea"/>
            </a:endParaRPr>
          </a:p>
        </p:txBody>
      </p:sp>
      <p:sp>
        <p:nvSpPr>
          <p:cNvPr id="13" name="TextBox 18">
            <a:hlinkClick r:id="" action="ppaction://noaction" highlightClick="1"/>
            <a:hlinkHover r:id="" action="ppaction://noaction" highlightClick="1"/>
          </p:cNvPr>
          <p:cNvSpPr txBox="1"/>
          <p:nvPr userDrawn="1"/>
        </p:nvSpPr>
        <p:spPr>
          <a:xfrm>
            <a:off x="6356875" y="188171"/>
            <a:ext cx="1791527"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关键技术与难点</a:t>
            </a:r>
            <a:endParaRPr lang="zh-CN" altLang="en-US" sz="1465" dirty="0">
              <a:solidFill>
                <a:schemeClr val="bg1">
                  <a:lumMod val="85000"/>
                </a:schemeClr>
              </a:solidFill>
              <a:latin typeface="+mn-ea"/>
              <a:ea typeface="+mn-ea"/>
            </a:endParaRPr>
          </a:p>
        </p:txBody>
      </p:sp>
      <p:sp>
        <p:nvSpPr>
          <p:cNvPr id="14" name="TextBox 19">
            <a:hlinkClick r:id="" action="ppaction://noaction" highlightClick="1"/>
            <a:hlinkHover r:id="rId2" action="ppaction://hlinksldjump" highlightClick="1"/>
          </p:cNvPr>
          <p:cNvSpPr txBox="1"/>
          <p:nvPr userDrawn="1"/>
        </p:nvSpPr>
        <p:spPr>
          <a:xfrm>
            <a:off x="8284234" y="188171"/>
            <a:ext cx="1902751"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研究成果与应用</a:t>
            </a:r>
            <a:endParaRPr lang="zh-CN" altLang="en-US" sz="1465" dirty="0">
              <a:solidFill>
                <a:schemeClr val="bg1">
                  <a:lumMod val="85000"/>
                </a:schemeClr>
              </a:solidFill>
              <a:latin typeface="+mn-ea"/>
              <a:ea typeface="+mn-ea"/>
            </a:endParaRPr>
          </a:p>
        </p:txBody>
      </p:sp>
      <p:sp>
        <p:nvSpPr>
          <p:cNvPr id="15" name="TextBox 20">
            <a:hlinkClick r:id="" action="ppaction://noaction" highlightClick="1"/>
            <a:hlinkHover r:id="" action="ppaction://noaction" highlightClick="1"/>
          </p:cNvPr>
          <p:cNvSpPr txBox="1"/>
          <p:nvPr userDrawn="1"/>
        </p:nvSpPr>
        <p:spPr>
          <a:xfrm>
            <a:off x="10322817" y="188171"/>
            <a:ext cx="1564216"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论文总结</a:t>
            </a:r>
            <a:endParaRPr lang="zh-CN" altLang="en-US" sz="1465" dirty="0">
              <a:solidFill>
                <a:schemeClr val="bg1">
                  <a:lumMod val="85000"/>
                </a:schemeClr>
              </a:solidFill>
              <a:latin typeface="+mn-ea"/>
              <a:ea typeface="+mn-ea"/>
            </a:endParaRPr>
          </a:p>
        </p:txBody>
      </p:sp>
      <p:pic>
        <p:nvPicPr>
          <p:cNvPr id="20" name="图片 19"/>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200392" y="5257"/>
            <a:ext cx="1931336" cy="816000"/>
          </a:xfrm>
          <a:prstGeom prst="rect">
            <a:avLst/>
          </a:prstGeom>
        </p:spPr>
      </p:pic>
      <p:cxnSp>
        <p:nvCxnSpPr>
          <p:cNvPr id="25" name="直接连接符 24"/>
          <p:cNvCxnSpPr/>
          <p:nvPr userDrawn="1"/>
        </p:nvCxnSpPr>
        <p:spPr>
          <a:xfrm>
            <a:off x="6130740"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8258563"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10299607"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11886597"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7" name="矩形 6"/>
          <p:cNvSpPr/>
          <p:nvPr userDrawn="1"/>
        </p:nvSpPr>
        <p:spPr>
          <a:xfrm>
            <a:off x="1" y="1"/>
            <a:ext cx="12192001" cy="8001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p>
        </p:txBody>
      </p:sp>
      <p:sp>
        <p:nvSpPr>
          <p:cNvPr id="16" name="矩形 15"/>
          <p:cNvSpPr/>
          <p:nvPr userDrawn="1"/>
        </p:nvSpPr>
        <p:spPr>
          <a:xfrm>
            <a:off x="4459227" y="-3554"/>
            <a:ext cx="1883149" cy="800100"/>
          </a:xfrm>
          <a:prstGeom prst="rect">
            <a:avLst/>
          </a:prstGeom>
          <a:solidFill>
            <a:srgbClr val="6DAD39"/>
          </a:solidFill>
          <a:ln>
            <a:solidFill>
              <a:srgbClr val="6DAD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8" name="组合 7"/>
          <p:cNvGrpSpPr/>
          <p:nvPr userDrawn="1"/>
        </p:nvGrpSpPr>
        <p:grpSpPr bwMode="auto">
          <a:xfrm>
            <a:off x="1826685" y="141816"/>
            <a:ext cx="1773767" cy="601895"/>
            <a:chOff x="1399441" y="1145221"/>
            <a:chExt cx="1329556" cy="451276"/>
          </a:xfrm>
        </p:grpSpPr>
        <p:sp>
          <p:nvSpPr>
            <p:cNvPr id="9" name="圆角矩形 8"/>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35"/>
            </a:p>
          </p:txBody>
        </p:sp>
        <p:sp>
          <p:nvSpPr>
            <p:cNvPr id="10" name="TextBox 15"/>
            <p:cNvSpPr txBox="1">
              <a:spLocks noChangeArrowheads="1"/>
            </p:cNvSpPr>
            <p:nvPr/>
          </p:nvSpPr>
          <p:spPr bwMode="auto">
            <a:xfrm>
              <a:off x="1691214" y="1281176"/>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135">
                <a:solidFill>
                  <a:schemeClr val="bg1"/>
                </a:solidFill>
                <a:latin typeface="微软雅黑" panose="020B0503020204020204" pitchFamily="34" charset="-122"/>
                <a:ea typeface="微软雅黑" panose="020B0503020204020204" pitchFamily="34" charset="-122"/>
              </a:endParaRPr>
            </a:p>
          </p:txBody>
        </p:sp>
      </p:grpSp>
      <p:sp>
        <p:nvSpPr>
          <p:cNvPr id="11" name="TextBox 16">
            <a:hlinkClick r:id="" action="ppaction://noaction" highlightClick="1"/>
            <a:hlinkHover r:id="" action="ppaction://noaction" highlightClick="1"/>
          </p:cNvPr>
          <p:cNvSpPr txBox="1"/>
          <p:nvPr userDrawn="1"/>
        </p:nvSpPr>
        <p:spPr>
          <a:xfrm>
            <a:off x="2639905" y="188171"/>
            <a:ext cx="166899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p>
            <a:pPr algn="ctr" fontAlgn="auto">
              <a:spcBef>
                <a:spcPts val="0"/>
              </a:spcBef>
              <a:spcAft>
                <a:spcPts val="0"/>
              </a:spcAft>
              <a:defRPr/>
            </a:pPr>
            <a:r>
              <a:rPr lang="zh-CN" altLang="en-US" sz="1465" dirty="0">
                <a:solidFill>
                  <a:schemeClr val="bg1">
                    <a:lumMod val="85000"/>
                  </a:schemeClr>
                </a:solidFill>
                <a:effectLst/>
                <a:latin typeface="+mn-ea"/>
                <a:ea typeface="+mn-ea"/>
              </a:rPr>
              <a:t>选题背景及意义</a:t>
            </a:r>
            <a:endParaRPr lang="zh-CN" altLang="en-US" sz="1465" dirty="0">
              <a:solidFill>
                <a:schemeClr val="bg1">
                  <a:lumMod val="85000"/>
                </a:schemeClr>
              </a:solidFill>
              <a:effectLst/>
              <a:latin typeface="+mn-ea"/>
              <a:ea typeface="+mn-ea"/>
            </a:endParaRPr>
          </a:p>
        </p:txBody>
      </p:sp>
      <p:sp>
        <p:nvSpPr>
          <p:cNvPr id="12" name="TextBox 17">
            <a:hlinkClick r:id="" action="ppaction://hlinkshowjump?jump=nextslide" highlightClick="1"/>
            <a:hlinkHover r:id="" action="ppaction://noaction" highlightClick="1"/>
          </p:cNvPr>
          <p:cNvSpPr txBox="1"/>
          <p:nvPr userDrawn="1"/>
        </p:nvSpPr>
        <p:spPr>
          <a:xfrm>
            <a:off x="4444730" y="188171"/>
            <a:ext cx="177631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solidFill>
                <a:latin typeface="+mn-ea"/>
                <a:ea typeface="+mn-ea"/>
              </a:rPr>
              <a:t>论文综述</a:t>
            </a:r>
            <a:endParaRPr lang="zh-CN" altLang="en-US" sz="1465" dirty="0">
              <a:solidFill>
                <a:schemeClr val="bg1"/>
              </a:solidFill>
              <a:latin typeface="+mn-ea"/>
              <a:ea typeface="+mn-ea"/>
            </a:endParaRPr>
          </a:p>
        </p:txBody>
      </p:sp>
      <p:sp>
        <p:nvSpPr>
          <p:cNvPr id="13" name="TextBox 18">
            <a:hlinkClick r:id="" action="ppaction://noaction" highlightClick="1"/>
            <a:hlinkHover r:id="" action="ppaction://noaction" highlightClick="1"/>
          </p:cNvPr>
          <p:cNvSpPr txBox="1"/>
          <p:nvPr userDrawn="1"/>
        </p:nvSpPr>
        <p:spPr>
          <a:xfrm>
            <a:off x="6356875" y="188171"/>
            <a:ext cx="1791527"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关键技术与难点</a:t>
            </a:r>
            <a:endParaRPr lang="zh-CN" altLang="en-US" sz="1465" dirty="0">
              <a:solidFill>
                <a:schemeClr val="bg1">
                  <a:lumMod val="85000"/>
                </a:schemeClr>
              </a:solidFill>
              <a:latin typeface="+mn-ea"/>
              <a:ea typeface="+mn-ea"/>
            </a:endParaRPr>
          </a:p>
        </p:txBody>
      </p:sp>
      <p:sp>
        <p:nvSpPr>
          <p:cNvPr id="14" name="TextBox 19">
            <a:hlinkClick r:id="" action="ppaction://noaction" highlightClick="1"/>
            <a:hlinkHover r:id="rId2" action="ppaction://hlinksldjump" highlightClick="1"/>
          </p:cNvPr>
          <p:cNvSpPr txBox="1"/>
          <p:nvPr userDrawn="1"/>
        </p:nvSpPr>
        <p:spPr>
          <a:xfrm>
            <a:off x="8284234" y="188171"/>
            <a:ext cx="1902751"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研究成果与应用</a:t>
            </a:r>
            <a:endParaRPr lang="zh-CN" altLang="en-US" sz="1465" dirty="0">
              <a:solidFill>
                <a:schemeClr val="bg1">
                  <a:lumMod val="85000"/>
                </a:schemeClr>
              </a:solidFill>
              <a:latin typeface="+mn-ea"/>
              <a:ea typeface="+mn-ea"/>
            </a:endParaRPr>
          </a:p>
        </p:txBody>
      </p:sp>
      <p:sp>
        <p:nvSpPr>
          <p:cNvPr id="15" name="TextBox 20">
            <a:hlinkClick r:id="" action="ppaction://noaction" highlightClick="1"/>
            <a:hlinkHover r:id="" action="ppaction://noaction" highlightClick="1"/>
          </p:cNvPr>
          <p:cNvSpPr txBox="1"/>
          <p:nvPr userDrawn="1"/>
        </p:nvSpPr>
        <p:spPr>
          <a:xfrm>
            <a:off x="10322817" y="188171"/>
            <a:ext cx="1564216"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论文总结</a:t>
            </a:r>
            <a:endParaRPr lang="zh-CN" altLang="en-US" sz="1465" dirty="0">
              <a:solidFill>
                <a:schemeClr val="bg1">
                  <a:lumMod val="85000"/>
                </a:schemeClr>
              </a:solidFill>
              <a:latin typeface="+mn-ea"/>
              <a:ea typeface="+mn-ea"/>
            </a:endParaRPr>
          </a:p>
        </p:txBody>
      </p:sp>
      <p:pic>
        <p:nvPicPr>
          <p:cNvPr id="20" name="图片 19"/>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200392" y="5257"/>
            <a:ext cx="1931336" cy="816000"/>
          </a:xfrm>
          <a:prstGeom prst="rect">
            <a:avLst/>
          </a:prstGeom>
        </p:spPr>
      </p:pic>
      <p:cxnSp>
        <p:nvCxnSpPr>
          <p:cNvPr id="19" name="直接连接符 18"/>
          <p:cNvCxnSpPr/>
          <p:nvPr userDrawn="1"/>
        </p:nvCxnSpPr>
        <p:spPr>
          <a:xfrm>
            <a:off x="8258563"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10299607"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nvCxnSpPr>
        <p:spPr>
          <a:xfrm>
            <a:off x="11886597"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7" name="矩形 6"/>
          <p:cNvSpPr/>
          <p:nvPr userDrawn="1"/>
        </p:nvSpPr>
        <p:spPr>
          <a:xfrm>
            <a:off x="1" y="1"/>
            <a:ext cx="12192001" cy="8001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p>
        </p:txBody>
      </p:sp>
      <p:sp>
        <p:nvSpPr>
          <p:cNvPr id="22" name="矩形 21"/>
          <p:cNvSpPr/>
          <p:nvPr userDrawn="1"/>
        </p:nvSpPr>
        <p:spPr>
          <a:xfrm>
            <a:off x="6249088" y="-6768"/>
            <a:ext cx="1952165" cy="803655"/>
          </a:xfrm>
          <a:prstGeom prst="rect">
            <a:avLst/>
          </a:prstGeom>
          <a:solidFill>
            <a:srgbClr val="6DA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8" name="组合 7"/>
          <p:cNvGrpSpPr/>
          <p:nvPr userDrawn="1"/>
        </p:nvGrpSpPr>
        <p:grpSpPr bwMode="auto">
          <a:xfrm>
            <a:off x="1826685" y="141816"/>
            <a:ext cx="1773767" cy="601895"/>
            <a:chOff x="1399441" y="1145221"/>
            <a:chExt cx="1329556" cy="451276"/>
          </a:xfrm>
        </p:grpSpPr>
        <p:sp>
          <p:nvSpPr>
            <p:cNvPr id="9" name="圆角矩形 8"/>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35"/>
            </a:p>
          </p:txBody>
        </p:sp>
        <p:sp>
          <p:nvSpPr>
            <p:cNvPr id="10" name="TextBox 15"/>
            <p:cNvSpPr txBox="1">
              <a:spLocks noChangeArrowheads="1"/>
            </p:cNvSpPr>
            <p:nvPr/>
          </p:nvSpPr>
          <p:spPr bwMode="auto">
            <a:xfrm>
              <a:off x="1691214" y="1281176"/>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135">
                <a:solidFill>
                  <a:schemeClr val="bg1"/>
                </a:solidFill>
                <a:latin typeface="微软雅黑" panose="020B0503020204020204" pitchFamily="34" charset="-122"/>
                <a:ea typeface="微软雅黑" panose="020B0503020204020204" pitchFamily="34" charset="-122"/>
              </a:endParaRPr>
            </a:p>
          </p:txBody>
        </p:sp>
      </p:grpSp>
      <p:sp>
        <p:nvSpPr>
          <p:cNvPr id="11" name="TextBox 16">
            <a:hlinkClick r:id="" action="ppaction://noaction" highlightClick="1"/>
            <a:hlinkHover r:id="" action="ppaction://noaction" highlightClick="1"/>
          </p:cNvPr>
          <p:cNvSpPr txBox="1"/>
          <p:nvPr userDrawn="1"/>
        </p:nvSpPr>
        <p:spPr>
          <a:xfrm>
            <a:off x="2639905" y="188171"/>
            <a:ext cx="166899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p>
            <a:pPr algn="ctr" fontAlgn="auto">
              <a:spcBef>
                <a:spcPts val="0"/>
              </a:spcBef>
              <a:spcAft>
                <a:spcPts val="0"/>
              </a:spcAft>
              <a:defRPr/>
            </a:pPr>
            <a:r>
              <a:rPr lang="zh-CN" altLang="en-US" sz="1465" dirty="0">
                <a:solidFill>
                  <a:schemeClr val="bg1">
                    <a:lumMod val="85000"/>
                  </a:schemeClr>
                </a:solidFill>
                <a:effectLst/>
                <a:latin typeface="+mn-ea"/>
                <a:ea typeface="+mn-ea"/>
              </a:rPr>
              <a:t>选题背景及意义</a:t>
            </a:r>
            <a:endParaRPr lang="zh-CN" altLang="en-US" sz="1465" dirty="0">
              <a:solidFill>
                <a:schemeClr val="bg1">
                  <a:lumMod val="85000"/>
                </a:schemeClr>
              </a:solidFill>
              <a:effectLst/>
              <a:latin typeface="+mn-ea"/>
              <a:ea typeface="+mn-ea"/>
            </a:endParaRPr>
          </a:p>
        </p:txBody>
      </p:sp>
      <p:sp>
        <p:nvSpPr>
          <p:cNvPr id="12" name="TextBox 17">
            <a:hlinkClick r:id="" action="ppaction://hlinkshowjump?jump=nextslide" highlightClick="1"/>
            <a:hlinkHover r:id="" action="ppaction://noaction" highlightClick="1"/>
          </p:cNvPr>
          <p:cNvSpPr txBox="1"/>
          <p:nvPr userDrawn="1"/>
        </p:nvSpPr>
        <p:spPr>
          <a:xfrm>
            <a:off x="4444730" y="188171"/>
            <a:ext cx="177631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论文综述</a:t>
            </a:r>
            <a:endParaRPr lang="zh-CN" altLang="en-US" sz="1465" dirty="0">
              <a:solidFill>
                <a:schemeClr val="bg1">
                  <a:lumMod val="85000"/>
                </a:schemeClr>
              </a:solidFill>
              <a:latin typeface="+mn-ea"/>
              <a:ea typeface="+mn-ea"/>
            </a:endParaRPr>
          </a:p>
        </p:txBody>
      </p:sp>
      <p:sp>
        <p:nvSpPr>
          <p:cNvPr id="13" name="TextBox 18">
            <a:hlinkClick r:id="" action="ppaction://noaction" highlightClick="1"/>
            <a:hlinkHover r:id="" action="ppaction://noaction" highlightClick="1"/>
          </p:cNvPr>
          <p:cNvSpPr txBox="1"/>
          <p:nvPr userDrawn="1"/>
        </p:nvSpPr>
        <p:spPr>
          <a:xfrm>
            <a:off x="6356875" y="188171"/>
            <a:ext cx="1791527"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solidFill>
                <a:latin typeface="+mn-ea"/>
                <a:ea typeface="+mn-ea"/>
              </a:rPr>
              <a:t>关键技术与难点</a:t>
            </a:r>
            <a:endParaRPr lang="zh-CN" altLang="en-US" sz="1465" dirty="0">
              <a:solidFill>
                <a:schemeClr val="bg1"/>
              </a:solidFill>
              <a:latin typeface="+mn-ea"/>
              <a:ea typeface="+mn-ea"/>
            </a:endParaRPr>
          </a:p>
        </p:txBody>
      </p:sp>
      <p:sp>
        <p:nvSpPr>
          <p:cNvPr id="14" name="TextBox 19">
            <a:hlinkClick r:id="" action="ppaction://noaction" highlightClick="1"/>
            <a:hlinkHover r:id="rId2" action="ppaction://hlinksldjump" highlightClick="1"/>
          </p:cNvPr>
          <p:cNvSpPr txBox="1"/>
          <p:nvPr userDrawn="1"/>
        </p:nvSpPr>
        <p:spPr>
          <a:xfrm>
            <a:off x="8284234" y="188171"/>
            <a:ext cx="1902751"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研究成果与应用</a:t>
            </a:r>
            <a:endParaRPr lang="zh-CN" altLang="en-US" sz="1465" dirty="0">
              <a:solidFill>
                <a:schemeClr val="bg1">
                  <a:lumMod val="85000"/>
                </a:schemeClr>
              </a:solidFill>
              <a:latin typeface="+mn-ea"/>
              <a:ea typeface="+mn-ea"/>
            </a:endParaRPr>
          </a:p>
        </p:txBody>
      </p:sp>
      <p:sp>
        <p:nvSpPr>
          <p:cNvPr id="15" name="TextBox 20">
            <a:hlinkClick r:id="" action="ppaction://noaction" highlightClick="1"/>
            <a:hlinkHover r:id="" action="ppaction://noaction" highlightClick="1"/>
          </p:cNvPr>
          <p:cNvSpPr txBox="1"/>
          <p:nvPr userDrawn="1"/>
        </p:nvSpPr>
        <p:spPr>
          <a:xfrm>
            <a:off x="10322817" y="188171"/>
            <a:ext cx="1564216"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论文总结</a:t>
            </a:r>
            <a:endParaRPr lang="zh-CN" altLang="en-US" sz="1465" dirty="0">
              <a:solidFill>
                <a:schemeClr val="bg1">
                  <a:lumMod val="85000"/>
                </a:schemeClr>
              </a:solidFill>
              <a:latin typeface="+mn-ea"/>
              <a:ea typeface="+mn-ea"/>
            </a:endParaRPr>
          </a:p>
        </p:txBody>
      </p:sp>
      <p:pic>
        <p:nvPicPr>
          <p:cNvPr id="20" name="图片 19"/>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200392" y="5257"/>
            <a:ext cx="1931336" cy="816000"/>
          </a:xfrm>
          <a:prstGeom prst="rect">
            <a:avLst/>
          </a:prstGeom>
        </p:spPr>
      </p:pic>
      <p:cxnSp>
        <p:nvCxnSpPr>
          <p:cNvPr id="23" name="直接连接符 22"/>
          <p:cNvCxnSpPr/>
          <p:nvPr userDrawn="1"/>
        </p:nvCxnSpPr>
        <p:spPr>
          <a:xfrm>
            <a:off x="4436492"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10299607"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11886597"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7" name="矩形 6"/>
          <p:cNvSpPr/>
          <p:nvPr userDrawn="1"/>
        </p:nvSpPr>
        <p:spPr>
          <a:xfrm>
            <a:off x="1" y="1"/>
            <a:ext cx="12192001" cy="8001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p>
        </p:txBody>
      </p:sp>
      <p:sp>
        <p:nvSpPr>
          <p:cNvPr id="21" name="矩形 20"/>
          <p:cNvSpPr/>
          <p:nvPr userDrawn="1"/>
        </p:nvSpPr>
        <p:spPr>
          <a:xfrm>
            <a:off x="8226274" y="-6766"/>
            <a:ext cx="1952165" cy="803655"/>
          </a:xfrm>
          <a:prstGeom prst="rect">
            <a:avLst/>
          </a:prstGeom>
          <a:solidFill>
            <a:srgbClr val="6DA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8" name="组合 7"/>
          <p:cNvGrpSpPr/>
          <p:nvPr userDrawn="1"/>
        </p:nvGrpSpPr>
        <p:grpSpPr bwMode="auto">
          <a:xfrm>
            <a:off x="1826685" y="141816"/>
            <a:ext cx="1773767" cy="601895"/>
            <a:chOff x="1399441" y="1145221"/>
            <a:chExt cx="1329556" cy="451276"/>
          </a:xfrm>
        </p:grpSpPr>
        <p:sp>
          <p:nvSpPr>
            <p:cNvPr id="9" name="圆角矩形 8"/>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35"/>
            </a:p>
          </p:txBody>
        </p:sp>
        <p:sp>
          <p:nvSpPr>
            <p:cNvPr id="10" name="TextBox 15"/>
            <p:cNvSpPr txBox="1">
              <a:spLocks noChangeArrowheads="1"/>
            </p:cNvSpPr>
            <p:nvPr/>
          </p:nvSpPr>
          <p:spPr bwMode="auto">
            <a:xfrm>
              <a:off x="1691214" y="1281176"/>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135">
                <a:solidFill>
                  <a:schemeClr val="bg1"/>
                </a:solidFill>
                <a:latin typeface="微软雅黑" panose="020B0503020204020204" pitchFamily="34" charset="-122"/>
                <a:ea typeface="微软雅黑" panose="020B0503020204020204" pitchFamily="34" charset="-122"/>
              </a:endParaRPr>
            </a:p>
          </p:txBody>
        </p:sp>
      </p:grpSp>
      <p:sp>
        <p:nvSpPr>
          <p:cNvPr id="11" name="TextBox 16">
            <a:hlinkClick r:id="" action="ppaction://noaction" highlightClick="1"/>
            <a:hlinkHover r:id="" action="ppaction://noaction" highlightClick="1"/>
          </p:cNvPr>
          <p:cNvSpPr txBox="1"/>
          <p:nvPr userDrawn="1"/>
        </p:nvSpPr>
        <p:spPr>
          <a:xfrm>
            <a:off x="2639905" y="188171"/>
            <a:ext cx="166899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p>
            <a:pPr algn="ctr" fontAlgn="auto">
              <a:spcBef>
                <a:spcPts val="0"/>
              </a:spcBef>
              <a:spcAft>
                <a:spcPts val="0"/>
              </a:spcAft>
              <a:defRPr/>
            </a:pPr>
            <a:r>
              <a:rPr lang="zh-CN" altLang="en-US" sz="1465" dirty="0">
                <a:solidFill>
                  <a:schemeClr val="bg1">
                    <a:lumMod val="85000"/>
                  </a:schemeClr>
                </a:solidFill>
                <a:effectLst/>
                <a:latin typeface="+mn-ea"/>
                <a:ea typeface="+mn-ea"/>
              </a:rPr>
              <a:t>选题背景及意义</a:t>
            </a:r>
            <a:endParaRPr lang="zh-CN" altLang="en-US" sz="1465" dirty="0">
              <a:solidFill>
                <a:schemeClr val="bg1">
                  <a:lumMod val="85000"/>
                </a:schemeClr>
              </a:solidFill>
              <a:effectLst/>
              <a:latin typeface="+mn-ea"/>
              <a:ea typeface="+mn-ea"/>
            </a:endParaRPr>
          </a:p>
        </p:txBody>
      </p:sp>
      <p:sp>
        <p:nvSpPr>
          <p:cNvPr id="12" name="TextBox 17">
            <a:hlinkClick r:id="" action="ppaction://hlinkshowjump?jump=nextslide" highlightClick="1"/>
            <a:hlinkHover r:id="" action="ppaction://noaction" highlightClick="1"/>
          </p:cNvPr>
          <p:cNvSpPr txBox="1"/>
          <p:nvPr userDrawn="1"/>
        </p:nvSpPr>
        <p:spPr>
          <a:xfrm>
            <a:off x="4444730" y="188171"/>
            <a:ext cx="177631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论文综述</a:t>
            </a:r>
            <a:endParaRPr lang="zh-CN" altLang="en-US" sz="1465" dirty="0">
              <a:solidFill>
                <a:schemeClr val="bg1">
                  <a:lumMod val="85000"/>
                </a:schemeClr>
              </a:solidFill>
              <a:latin typeface="+mn-ea"/>
              <a:ea typeface="+mn-ea"/>
            </a:endParaRPr>
          </a:p>
        </p:txBody>
      </p:sp>
      <p:sp>
        <p:nvSpPr>
          <p:cNvPr id="13" name="TextBox 18">
            <a:hlinkClick r:id="" action="ppaction://noaction" highlightClick="1"/>
            <a:hlinkHover r:id="" action="ppaction://noaction" highlightClick="1"/>
          </p:cNvPr>
          <p:cNvSpPr txBox="1"/>
          <p:nvPr userDrawn="1"/>
        </p:nvSpPr>
        <p:spPr>
          <a:xfrm>
            <a:off x="6356875" y="188171"/>
            <a:ext cx="1791527"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关键技术与难点</a:t>
            </a:r>
            <a:endParaRPr lang="zh-CN" altLang="en-US" sz="1465" dirty="0">
              <a:solidFill>
                <a:schemeClr val="bg1">
                  <a:lumMod val="85000"/>
                </a:schemeClr>
              </a:solidFill>
              <a:latin typeface="+mn-ea"/>
              <a:ea typeface="+mn-ea"/>
            </a:endParaRPr>
          </a:p>
        </p:txBody>
      </p:sp>
      <p:sp>
        <p:nvSpPr>
          <p:cNvPr id="14" name="TextBox 19">
            <a:hlinkClick r:id="" action="ppaction://noaction" highlightClick="1"/>
            <a:hlinkHover r:id="rId2" action="ppaction://hlinksldjump" highlightClick="1"/>
          </p:cNvPr>
          <p:cNvSpPr txBox="1"/>
          <p:nvPr userDrawn="1"/>
        </p:nvSpPr>
        <p:spPr>
          <a:xfrm>
            <a:off x="8284234" y="188171"/>
            <a:ext cx="1902751"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solidFill>
                <a:latin typeface="+mn-ea"/>
                <a:ea typeface="+mn-ea"/>
              </a:rPr>
              <a:t>研究成果与应用</a:t>
            </a:r>
            <a:endParaRPr lang="zh-CN" altLang="en-US" sz="1465" dirty="0">
              <a:solidFill>
                <a:schemeClr val="bg1"/>
              </a:solidFill>
              <a:latin typeface="+mn-ea"/>
              <a:ea typeface="+mn-ea"/>
            </a:endParaRPr>
          </a:p>
        </p:txBody>
      </p:sp>
      <p:sp>
        <p:nvSpPr>
          <p:cNvPr id="15" name="TextBox 20">
            <a:hlinkClick r:id="" action="ppaction://noaction" highlightClick="1"/>
            <a:hlinkHover r:id="" action="ppaction://noaction" highlightClick="1"/>
          </p:cNvPr>
          <p:cNvSpPr txBox="1"/>
          <p:nvPr userDrawn="1"/>
        </p:nvSpPr>
        <p:spPr>
          <a:xfrm>
            <a:off x="10322817" y="188171"/>
            <a:ext cx="1564216"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论文总结</a:t>
            </a:r>
            <a:endParaRPr lang="zh-CN" altLang="en-US" sz="1465" dirty="0">
              <a:solidFill>
                <a:schemeClr val="bg1">
                  <a:lumMod val="85000"/>
                </a:schemeClr>
              </a:solidFill>
              <a:latin typeface="+mn-ea"/>
              <a:ea typeface="+mn-ea"/>
            </a:endParaRPr>
          </a:p>
        </p:txBody>
      </p:sp>
      <p:pic>
        <p:nvPicPr>
          <p:cNvPr id="20" name="图片 19"/>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200392" y="5257"/>
            <a:ext cx="1931336" cy="816000"/>
          </a:xfrm>
          <a:prstGeom prst="rect">
            <a:avLst/>
          </a:prstGeom>
        </p:spPr>
      </p:pic>
      <p:cxnSp>
        <p:nvCxnSpPr>
          <p:cNvPr id="16" name="直接连接符 15"/>
          <p:cNvCxnSpPr/>
          <p:nvPr userDrawn="1"/>
        </p:nvCxnSpPr>
        <p:spPr>
          <a:xfrm>
            <a:off x="4444729"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6130740"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11886597"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7" name="矩形 6"/>
          <p:cNvSpPr/>
          <p:nvPr userDrawn="1"/>
        </p:nvSpPr>
        <p:spPr>
          <a:xfrm>
            <a:off x="1" y="1"/>
            <a:ext cx="12192001" cy="8001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p>
        </p:txBody>
      </p:sp>
      <p:sp>
        <p:nvSpPr>
          <p:cNvPr id="19" name="矩形 18"/>
          <p:cNvSpPr/>
          <p:nvPr userDrawn="1"/>
        </p:nvSpPr>
        <p:spPr>
          <a:xfrm>
            <a:off x="10140988" y="-1213"/>
            <a:ext cx="1845067" cy="803655"/>
          </a:xfrm>
          <a:prstGeom prst="rect">
            <a:avLst/>
          </a:prstGeom>
          <a:solidFill>
            <a:srgbClr val="6DA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8" name="组合 7"/>
          <p:cNvGrpSpPr/>
          <p:nvPr userDrawn="1"/>
        </p:nvGrpSpPr>
        <p:grpSpPr bwMode="auto">
          <a:xfrm>
            <a:off x="1826685" y="141816"/>
            <a:ext cx="1773767" cy="601895"/>
            <a:chOff x="1399441" y="1145221"/>
            <a:chExt cx="1329556" cy="451276"/>
          </a:xfrm>
        </p:grpSpPr>
        <p:sp>
          <p:nvSpPr>
            <p:cNvPr id="9" name="圆角矩形 8"/>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35"/>
            </a:p>
          </p:txBody>
        </p:sp>
        <p:sp>
          <p:nvSpPr>
            <p:cNvPr id="10" name="TextBox 15"/>
            <p:cNvSpPr txBox="1">
              <a:spLocks noChangeArrowheads="1"/>
            </p:cNvSpPr>
            <p:nvPr/>
          </p:nvSpPr>
          <p:spPr bwMode="auto">
            <a:xfrm>
              <a:off x="1691214" y="1281176"/>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135">
                <a:solidFill>
                  <a:schemeClr val="bg1"/>
                </a:solidFill>
                <a:latin typeface="微软雅黑" panose="020B0503020204020204" pitchFamily="34" charset="-122"/>
                <a:ea typeface="微软雅黑" panose="020B0503020204020204" pitchFamily="34" charset="-122"/>
              </a:endParaRPr>
            </a:p>
          </p:txBody>
        </p:sp>
      </p:grpSp>
      <p:sp>
        <p:nvSpPr>
          <p:cNvPr id="11" name="TextBox 16">
            <a:hlinkClick r:id="" action="ppaction://noaction" highlightClick="1"/>
            <a:hlinkHover r:id="" action="ppaction://noaction" highlightClick="1"/>
          </p:cNvPr>
          <p:cNvSpPr txBox="1"/>
          <p:nvPr userDrawn="1"/>
        </p:nvSpPr>
        <p:spPr>
          <a:xfrm>
            <a:off x="2639905" y="188171"/>
            <a:ext cx="166899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p>
            <a:pPr algn="ctr" fontAlgn="auto">
              <a:spcBef>
                <a:spcPts val="0"/>
              </a:spcBef>
              <a:spcAft>
                <a:spcPts val="0"/>
              </a:spcAft>
              <a:defRPr/>
            </a:pPr>
            <a:r>
              <a:rPr lang="zh-CN" altLang="en-US" sz="1465" dirty="0">
                <a:solidFill>
                  <a:schemeClr val="bg1">
                    <a:lumMod val="85000"/>
                  </a:schemeClr>
                </a:solidFill>
                <a:effectLst/>
                <a:latin typeface="+mn-ea"/>
                <a:ea typeface="+mn-ea"/>
              </a:rPr>
              <a:t>选题背景及意义</a:t>
            </a:r>
            <a:endParaRPr lang="zh-CN" altLang="en-US" sz="1465" dirty="0">
              <a:solidFill>
                <a:schemeClr val="bg1">
                  <a:lumMod val="85000"/>
                </a:schemeClr>
              </a:solidFill>
              <a:effectLst/>
              <a:latin typeface="+mn-ea"/>
              <a:ea typeface="+mn-ea"/>
            </a:endParaRPr>
          </a:p>
        </p:txBody>
      </p:sp>
      <p:sp>
        <p:nvSpPr>
          <p:cNvPr id="12" name="TextBox 17">
            <a:hlinkClick r:id="" action="ppaction://hlinkshowjump?jump=nextslide" highlightClick="1"/>
            <a:hlinkHover r:id="" action="ppaction://noaction" highlightClick="1"/>
          </p:cNvPr>
          <p:cNvSpPr txBox="1"/>
          <p:nvPr userDrawn="1"/>
        </p:nvSpPr>
        <p:spPr>
          <a:xfrm>
            <a:off x="4444730" y="188171"/>
            <a:ext cx="1776313"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论文综述</a:t>
            </a:r>
            <a:endParaRPr lang="zh-CN" altLang="en-US" sz="1465" dirty="0">
              <a:solidFill>
                <a:schemeClr val="bg1">
                  <a:lumMod val="85000"/>
                </a:schemeClr>
              </a:solidFill>
              <a:latin typeface="+mn-ea"/>
              <a:ea typeface="+mn-ea"/>
            </a:endParaRPr>
          </a:p>
        </p:txBody>
      </p:sp>
      <p:sp>
        <p:nvSpPr>
          <p:cNvPr id="13" name="TextBox 18">
            <a:hlinkClick r:id="" action="ppaction://noaction" highlightClick="1"/>
            <a:hlinkHover r:id="" action="ppaction://noaction" highlightClick="1"/>
          </p:cNvPr>
          <p:cNvSpPr txBox="1"/>
          <p:nvPr userDrawn="1"/>
        </p:nvSpPr>
        <p:spPr>
          <a:xfrm>
            <a:off x="6356875" y="188171"/>
            <a:ext cx="1791527"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关键技术与难点</a:t>
            </a:r>
            <a:endParaRPr lang="zh-CN" altLang="en-US" sz="1465" dirty="0">
              <a:solidFill>
                <a:schemeClr val="bg1">
                  <a:lumMod val="85000"/>
                </a:schemeClr>
              </a:solidFill>
              <a:latin typeface="+mn-ea"/>
              <a:ea typeface="+mn-ea"/>
            </a:endParaRPr>
          </a:p>
        </p:txBody>
      </p:sp>
      <p:sp>
        <p:nvSpPr>
          <p:cNvPr id="14" name="TextBox 19">
            <a:hlinkClick r:id="" action="ppaction://noaction" highlightClick="1"/>
            <a:hlinkHover r:id="rId2" action="ppaction://hlinksldjump" highlightClick="1"/>
          </p:cNvPr>
          <p:cNvSpPr txBox="1"/>
          <p:nvPr userDrawn="1"/>
        </p:nvSpPr>
        <p:spPr>
          <a:xfrm>
            <a:off x="8284234" y="188171"/>
            <a:ext cx="1902751"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lumMod val="85000"/>
                  </a:schemeClr>
                </a:solidFill>
                <a:latin typeface="+mn-ea"/>
                <a:ea typeface="+mn-ea"/>
              </a:rPr>
              <a:t>研究成果与应用</a:t>
            </a:r>
            <a:endParaRPr lang="zh-CN" altLang="en-US" sz="1465" dirty="0">
              <a:solidFill>
                <a:schemeClr val="bg1">
                  <a:lumMod val="85000"/>
                </a:schemeClr>
              </a:solidFill>
              <a:latin typeface="+mn-ea"/>
              <a:ea typeface="+mn-ea"/>
            </a:endParaRPr>
          </a:p>
        </p:txBody>
      </p:sp>
      <p:sp>
        <p:nvSpPr>
          <p:cNvPr id="15" name="TextBox 20">
            <a:hlinkClick r:id="" action="ppaction://noaction" highlightClick="1"/>
            <a:hlinkHover r:id="" action="ppaction://noaction" highlightClick="1"/>
          </p:cNvPr>
          <p:cNvSpPr txBox="1"/>
          <p:nvPr userDrawn="1"/>
        </p:nvSpPr>
        <p:spPr>
          <a:xfrm>
            <a:off x="10322817" y="188171"/>
            <a:ext cx="1564216" cy="318100"/>
          </a:xfrm>
          <a:prstGeom prst="rect">
            <a:avLst/>
          </a:prstGeom>
          <a:noFill/>
          <a:ln>
            <a:noFill/>
          </a:ln>
          <a:effectLst>
            <a:outerShdw blurRad="50800" dist="38100" algn="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spAutoFit/>
          </a:bodyPr>
          <a:lstStyle>
            <a:defPPr>
              <a:defRPr lang="zh-CN"/>
            </a:defPPr>
            <a:lvl1pPr algn="ctr" fontAlgn="auto">
              <a:spcBef>
                <a:spcPts val="0"/>
              </a:spcBef>
              <a:spcAft>
                <a:spcPts val="0"/>
              </a:spcAft>
              <a:defRPr>
                <a:solidFill>
                  <a:schemeClr val="bg1"/>
                </a:solidFill>
                <a:latin typeface="华文中宋" panose="02010600040101010101" pitchFamily="2" charset="-122"/>
                <a:ea typeface="华文中宋" panose="02010600040101010101" pitchFamily="2" charset="-122"/>
              </a:defRPr>
            </a:lvl1pPr>
          </a:lstStyle>
          <a:p>
            <a:pPr>
              <a:defRPr/>
            </a:pPr>
            <a:r>
              <a:rPr lang="zh-CN" altLang="en-US" sz="1465" dirty="0">
                <a:solidFill>
                  <a:schemeClr val="bg1"/>
                </a:solidFill>
                <a:latin typeface="+mn-ea"/>
                <a:ea typeface="+mn-ea"/>
              </a:rPr>
              <a:t>论文总结</a:t>
            </a:r>
            <a:endParaRPr lang="zh-CN" altLang="en-US" sz="1465" dirty="0">
              <a:solidFill>
                <a:schemeClr val="bg1"/>
              </a:solidFill>
              <a:latin typeface="+mn-ea"/>
              <a:ea typeface="+mn-ea"/>
            </a:endParaRPr>
          </a:p>
        </p:txBody>
      </p:sp>
      <p:pic>
        <p:nvPicPr>
          <p:cNvPr id="20" name="图片 19"/>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200392" y="5257"/>
            <a:ext cx="1931336" cy="816000"/>
          </a:xfrm>
          <a:prstGeom prst="rect">
            <a:avLst/>
          </a:prstGeom>
        </p:spPr>
      </p:pic>
      <p:cxnSp>
        <p:nvCxnSpPr>
          <p:cNvPr id="16" name="直接连接符 15"/>
          <p:cNvCxnSpPr/>
          <p:nvPr userDrawn="1"/>
        </p:nvCxnSpPr>
        <p:spPr>
          <a:xfrm>
            <a:off x="4444729"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6130740"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258563" y="1"/>
            <a:ext cx="0" cy="821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a:prstGeom prst="rect">
            <a:avLst/>
          </a:prstGeo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a:xfrm>
            <a:off x="838200" y="6356351"/>
            <a:ext cx="2743200" cy="365125"/>
          </a:xfrm>
          <a:prstGeom prst="rect">
            <a:avLst/>
          </a:prstGeom>
        </p:spPr>
        <p:txBody>
          <a:bodyPr/>
          <a:lstStyle/>
          <a:p>
            <a:fld id="{82034AA1-B428-41E0-B535-BC735A647CCF}" type="datetimeFigureOut">
              <a:rPr lang="zh-CN" altLang="en-US" smtClean="0"/>
            </a:fld>
            <a:endParaRPr lang="zh-CN" altLang="en-US"/>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BEFB799D-BE67-4BE2-9F59-C4A12D5D24B8}"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9"/>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9"/>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a:xfrm>
            <a:off x="838200" y="6356351"/>
            <a:ext cx="2743200" cy="365125"/>
          </a:xfrm>
          <a:prstGeom prst="rect">
            <a:avLst/>
          </a:prstGeom>
        </p:spPr>
        <p:txBody>
          <a:bodyPr/>
          <a:lstStyle/>
          <a:p>
            <a:fld id="{82034AA1-B428-41E0-B535-BC735A647CCF}" type="datetimeFigureOut">
              <a:rPr lang="zh-CN" altLang="en-US" smtClean="0"/>
            </a:fld>
            <a:endParaRPr lang="zh-CN" altLang="en-US"/>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BEFB799D-BE67-4BE2-9F59-C4A12D5D24B8}"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a:xfrm>
            <a:off x="838200" y="6356351"/>
            <a:ext cx="2743200" cy="365125"/>
          </a:xfrm>
          <a:prstGeom prst="rect">
            <a:avLst/>
          </a:prstGeom>
        </p:spPr>
        <p:txBody>
          <a:bodyPr/>
          <a:lstStyle/>
          <a:p>
            <a:fld id="{82034AA1-B428-41E0-B535-BC735A647CCF}" type="datetimeFigureOut">
              <a:rPr lang="zh-CN" altLang="en-US" smtClean="0"/>
            </a:fld>
            <a:endParaRPr lang="zh-CN" altLang="en-US"/>
          </a:p>
        </p:txBody>
      </p:sp>
      <p:sp>
        <p:nvSpPr>
          <p:cNvPr id="8" name="Footer Placeholder 7"/>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8610600" y="6356351"/>
            <a:ext cx="2743200" cy="365125"/>
          </a:xfrm>
          <a:prstGeom prst="rect">
            <a:avLst/>
          </a:prstGeom>
        </p:spPr>
        <p:txBody>
          <a:bodyPr/>
          <a:lstStyle/>
          <a:p>
            <a:fld id="{BEFB799D-BE67-4BE2-9F59-C4A12D5D24B8}"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1"/>
            <a:ext cx="2743200" cy="365125"/>
          </a:xfrm>
          <a:prstGeom prst="rect">
            <a:avLst/>
          </a:prstGeom>
        </p:spPr>
        <p:txBody>
          <a:bodyPr/>
          <a:lstStyle/>
          <a:p>
            <a:fld id="{82034AA1-B428-41E0-B535-BC735A647CCF}" type="datetimeFigureOut">
              <a:rPr lang="zh-CN" altLang="en-US" smtClean="0"/>
            </a:fld>
            <a:endParaRPr lang="zh-CN" altLang="en-US"/>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a:xfrm>
            <a:off x="8610600" y="6356351"/>
            <a:ext cx="2743200" cy="365125"/>
          </a:xfrm>
          <a:prstGeom prst="rect">
            <a:avLst/>
          </a:prstGeom>
        </p:spPr>
        <p:txBody>
          <a:bodyPr/>
          <a:lstStyle/>
          <a:p>
            <a:fld id="{BEFB799D-BE67-4BE2-9F59-C4A12D5D24B8}"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1"/>
            <a:ext cx="2743200" cy="365125"/>
          </a:xfrm>
          <a:prstGeom prst="rect">
            <a:avLst/>
          </a:prstGeom>
        </p:spPr>
        <p:txBody>
          <a:bodyPr/>
          <a:lstStyle/>
          <a:p>
            <a:fld id="{82034AA1-B428-41E0-B535-BC735A647CCF}" type="datetimeFigureOut">
              <a:rPr lang="zh-CN" altLang="en-US" smtClean="0"/>
            </a:fld>
            <a:endParaRPr lang="zh-CN" altLang="en-US"/>
          </a:p>
        </p:txBody>
      </p:sp>
      <p:sp>
        <p:nvSpPr>
          <p:cNvPr id="3" name="Footer Placeholder 2"/>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1"/>
            <a:ext cx="2743200" cy="365125"/>
          </a:xfrm>
          <a:prstGeom prst="rect">
            <a:avLst/>
          </a:prstGeom>
        </p:spPr>
        <p:txBody>
          <a:bodyPr/>
          <a:lstStyle/>
          <a:p>
            <a:fld id="{BEFB799D-BE67-4BE2-9F59-C4A12D5D24B8}"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839788" y="2057401"/>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838200" y="6356351"/>
            <a:ext cx="2743200" cy="365125"/>
          </a:xfrm>
          <a:prstGeom prst="rect">
            <a:avLst/>
          </a:prstGeom>
        </p:spPr>
        <p:txBody>
          <a:bodyPr/>
          <a:lstStyle/>
          <a:p>
            <a:fld id="{82034AA1-B428-41E0-B535-BC735A647CCF}" type="datetimeFigureOut">
              <a:rPr lang="zh-CN" altLang="en-US" smtClean="0"/>
            </a:fld>
            <a:endParaRPr lang="zh-CN" altLang="en-US"/>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BEFB799D-BE67-4BE2-9F59-C4A12D5D24B8}"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1"/>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838200" y="6356351"/>
            <a:ext cx="2743200" cy="365125"/>
          </a:xfrm>
          <a:prstGeom prst="rect">
            <a:avLst/>
          </a:prstGeom>
        </p:spPr>
        <p:txBody>
          <a:bodyPr/>
          <a:lstStyle/>
          <a:p>
            <a:fld id="{82034AA1-B428-41E0-B535-BC735A647CCF}" type="datetimeFigureOut">
              <a:rPr lang="zh-CN" altLang="en-US" smtClean="0"/>
            </a:fld>
            <a:endParaRPr lang="zh-CN" altLang="en-US"/>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BEFB799D-BE67-4BE2-9F59-C4A12D5D24B8}"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1825625"/>
            <a:ext cx="10515600" cy="4351339"/>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838200" y="6356351"/>
            <a:ext cx="2743200" cy="365125"/>
          </a:xfrm>
          <a:prstGeom prst="rect">
            <a:avLst/>
          </a:prstGeom>
        </p:spPr>
        <p:txBody>
          <a:bodyPr/>
          <a:lstStyle/>
          <a:p>
            <a:fld id="{82034AA1-B428-41E0-B535-BC735A647CCF}" type="datetimeFigureOut">
              <a:rPr lang="zh-CN" altLang="en-US" smtClean="0"/>
            </a:fld>
            <a:endParaRPr lang="zh-CN" altLang="en-US"/>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BEFB799D-BE67-4BE2-9F59-C4A12D5D24B8}"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365126"/>
            <a:ext cx="7734300" cy="5811839"/>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838200" y="6356351"/>
            <a:ext cx="2743200" cy="365125"/>
          </a:xfrm>
          <a:prstGeom prst="rect">
            <a:avLst/>
          </a:prstGeom>
        </p:spPr>
        <p:txBody>
          <a:bodyPr/>
          <a:lstStyle/>
          <a:p>
            <a:fld id="{82034AA1-B428-41E0-B535-BC735A647CCF}" type="datetimeFigureOut">
              <a:rPr lang="zh-CN" altLang="en-US" smtClean="0"/>
            </a:fld>
            <a:endParaRPr lang="zh-CN" altLang="en-US"/>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BEFB799D-BE67-4BE2-9F59-C4A12D5D24B8}"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
        <p:nvSpPr>
          <p:cNvPr id="13" name="Rounded Rectangle 12"/>
          <p:cNvSpPr/>
          <p:nvPr userDrawn="1"/>
        </p:nvSpPr>
        <p:spPr>
          <a:xfrm>
            <a:off x="-410316" y="372775"/>
            <a:ext cx="654392" cy="298739"/>
          </a:xfrm>
          <a:prstGeom prst="roundRect">
            <a:avLst>
              <a:gd name="adj" fmla="val 50000"/>
            </a:avLst>
          </a:prstGeom>
          <a:solidFill>
            <a:srgbClr val="F23B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sp>
        <p:nvSpPr>
          <p:cNvPr id="7" name="Text Placeholder 10"/>
          <p:cNvSpPr>
            <a:spLocks noGrp="1"/>
          </p:cNvSpPr>
          <p:nvPr>
            <p:ph type="body" sz="quarter" idx="13"/>
          </p:nvPr>
        </p:nvSpPr>
        <p:spPr>
          <a:xfrm>
            <a:off x="333377" y="397250"/>
            <a:ext cx="10905239" cy="444500"/>
          </a:xfrm>
          <a:prstGeom prst="rect">
            <a:avLst/>
          </a:prstGeom>
        </p:spPr>
        <p:txBody>
          <a:bodyPr lIns="0" tIns="0" rIns="0" bIns="0">
            <a:normAutofit/>
          </a:bodyPr>
          <a:lstStyle>
            <a:lvl1pPr marL="0" indent="0">
              <a:buNone/>
              <a:defRPr sz="2000">
                <a:solidFill>
                  <a:schemeClr val="tx1">
                    <a:lumMod val="65000"/>
                    <a:lumOff val="35000"/>
                  </a:schemeClr>
                </a:solidFill>
                <a:latin typeface="Lato" panose="020F0502020204030203" pitchFamily="34" charset="0"/>
              </a:defRPr>
            </a:lvl1pPr>
          </a:lstStyle>
          <a:p>
            <a:pPr lvl="0"/>
            <a:endParaRPr lang="id-ID" dirty="0"/>
          </a:p>
        </p:txBody>
      </p:sp>
      <p:sp>
        <p:nvSpPr>
          <p:cNvPr id="10" name="Rounded Rectangle 9"/>
          <p:cNvSpPr/>
          <p:nvPr userDrawn="1"/>
        </p:nvSpPr>
        <p:spPr>
          <a:xfrm>
            <a:off x="11471565" y="372775"/>
            <a:ext cx="431079" cy="298739"/>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bg1">
                  <a:lumMod val="50000"/>
                </a:schemeClr>
              </a:solidFill>
            </a:endParaRPr>
          </a:p>
        </p:txBody>
      </p:sp>
      <p:sp>
        <p:nvSpPr>
          <p:cNvPr id="15" name="Slide Number Placeholder 5"/>
          <p:cNvSpPr>
            <a:spLocks noGrp="1"/>
          </p:cNvSpPr>
          <p:nvPr>
            <p:ph type="sldNum" sz="quarter" idx="12"/>
          </p:nvPr>
        </p:nvSpPr>
        <p:spPr>
          <a:xfrm>
            <a:off x="11471565" y="327461"/>
            <a:ext cx="431079" cy="389083"/>
          </a:xfrm>
          <a:prstGeom prst="rect">
            <a:avLst/>
          </a:prstGeom>
        </p:spPr>
        <p:txBody>
          <a:bodyPr lIns="0" tIns="0" rIns="0" bIns="0"/>
          <a:lstStyle>
            <a:lvl1pPr algn="ctr">
              <a:defRPr sz="1000">
                <a:solidFill>
                  <a:schemeClr val="bg1">
                    <a:lumMod val="50000"/>
                  </a:schemeClr>
                </a:solidFill>
                <a:latin typeface="Lato" panose="020F0502020204030203" pitchFamily="34" charset="0"/>
              </a:defRPr>
            </a:lvl1pPr>
          </a:lstStyle>
          <a:p>
            <a:fld id="{FCEE2C88-6C8F-484D-AF69-578F576B1F44}" type="slidenum">
              <a:rPr lang="en-US" smtClean="0"/>
            </a:fld>
            <a:endParaRPr lang="en-US" dirty="0"/>
          </a:p>
        </p:txBody>
      </p:sp>
      <p:sp>
        <p:nvSpPr>
          <p:cNvPr id="12" name="Text Placeholder 10"/>
          <p:cNvSpPr>
            <a:spLocks noGrp="1"/>
          </p:cNvSpPr>
          <p:nvPr>
            <p:ph type="body" sz="quarter" idx="14"/>
          </p:nvPr>
        </p:nvSpPr>
        <p:spPr>
          <a:xfrm>
            <a:off x="333377" y="790434"/>
            <a:ext cx="10905239" cy="280985"/>
          </a:xfrm>
          <a:prstGeom prst="rect">
            <a:avLst/>
          </a:prstGeom>
        </p:spPr>
        <p:txBody>
          <a:bodyPr lIns="0" tIns="0" rIns="0" bIns="0">
            <a:normAutofit/>
          </a:bodyPr>
          <a:lstStyle>
            <a:lvl1pPr marL="0" indent="0">
              <a:buNone/>
              <a:defRPr sz="1000">
                <a:solidFill>
                  <a:schemeClr val="bg1">
                    <a:lumMod val="50000"/>
                  </a:schemeClr>
                </a:solidFill>
                <a:latin typeface="+mn-lt"/>
              </a:defRPr>
            </a:lvl1pPr>
          </a:lstStyle>
          <a:p>
            <a:pPr lvl="0"/>
            <a:endParaRPr lang="id-ID"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Picture Placeholder 2"/>
          <p:cNvSpPr>
            <a:spLocks noGrp="1"/>
          </p:cNvSpPr>
          <p:nvPr>
            <p:ph type="pic" sz="quarter" idx="15"/>
          </p:nvPr>
        </p:nvSpPr>
        <p:spPr>
          <a:xfrm>
            <a:off x="0" y="1399032"/>
            <a:ext cx="12192000" cy="3145981"/>
          </a:xfrm>
          <a:prstGeom prst="rect">
            <a:avLst/>
          </a:prstGeom>
        </p:spPr>
        <p:txBody>
          <a:bodyPr/>
          <a:lstStyle>
            <a:lvl1pPr marL="0" indent="0" algn="ctr">
              <a:buNone/>
              <a:defRPr/>
            </a:lvl1pPr>
          </a:lstStyle>
          <a:p>
            <a:endParaRPr lang="id-ID"/>
          </a:p>
        </p:txBody>
      </p:sp>
      <p:sp>
        <p:nvSpPr>
          <p:cNvPr id="14" name="Rounded Rectangle 13"/>
          <p:cNvSpPr/>
          <p:nvPr userDrawn="1"/>
        </p:nvSpPr>
        <p:spPr>
          <a:xfrm>
            <a:off x="11471565" y="372775"/>
            <a:ext cx="431079" cy="298739"/>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bg1">
                  <a:lumMod val="50000"/>
                </a:schemeClr>
              </a:solidFill>
            </a:endParaRPr>
          </a:p>
        </p:txBody>
      </p:sp>
      <p:sp>
        <p:nvSpPr>
          <p:cNvPr id="11" name="Text Placeholder 10"/>
          <p:cNvSpPr>
            <a:spLocks noGrp="1"/>
          </p:cNvSpPr>
          <p:nvPr>
            <p:ph type="body" sz="quarter" idx="13"/>
          </p:nvPr>
        </p:nvSpPr>
        <p:spPr>
          <a:xfrm>
            <a:off x="333377" y="397250"/>
            <a:ext cx="10905239" cy="444500"/>
          </a:xfrm>
          <a:prstGeom prst="rect">
            <a:avLst/>
          </a:prstGeom>
        </p:spPr>
        <p:txBody>
          <a:bodyPr lIns="0" tIns="0" rIns="0" bIns="0">
            <a:normAutofit/>
          </a:bodyPr>
          <a:lstStyle>
            <a:lvl1pPr marL="0" indent="0">
              <a:buNone/>
              <a:defRPr sz="2000">
                <a:solidFill>
                  <a:schemeClr val="tx1">
                    <a:lumMod val="75000"/>
                    <a:lumOff val="25000"/>
                  </a:schemeClr>
                </a:solidFill>
                <a:latin typeface="Lato" panose="020F0502020204030203" pitchFamily="34" charset="0"/>
              </a:defRPr>
            </a:lvl1pPr>
          </a:lstStyle>
          <a:p>
            <a:pPr lvl="0"/>
            <a:endParaRPr lang="id-ID" dirty="0"/>
          </a:p>
        </p:txBody>
      </p:sp>
      <p:sp>
        <p:nvSpPr>
          <p:cNvPr id="6" name="Slide Number Placeholder 5"/>
          <p:cNvSpPr>
            <a:spLocks noGrp="1"/>
          </p:cNvSpPr>
          <p:nvPr>
            <p:ph type="sldNum" sz="quarter" idx="12"/>
          </p:nvPr>
        </p:nvSpPr>
        <p:spPr>
          <a:xfrm>
            <a:off x="11471565" y="327461"/>
            <a:ext cx="431079" cy="389083"/>
          </a:xfrm>
          <a:prstGeom prst="rect">
            <a:avLst/>
          </a:prstGeom>
        </p:spPr>
        <p:txBody>
          <a:bodyPr lIns="0" tIns="0" rIns="0" bIns="0"/>
          <a:lstStyle>
            <a:lvl1pPr algn="ctr">
              <a:defRPr sz="1000">
                <a:solidFill>
                  <a:schemeClr val="bg1">
                    <a:lumMod val="50000"/>
                  </a:schemeClr>
                </a:solidFill>
                <a:latin typeface="Lato" panose="020F0502020204030203" pitchFamily="34" charset="0"/>
              </a:defRPr>
            </a:lvl1pPr>
          </a:lstStyle>
          <a:p>
            <a:fld id="{FCEE2C88-6C8F-484D-AF69-578F576B1F44}" type="slidenum">
              <a:rPr lang="en-US" smtClean="0"/>
            </a:fld>
            <a:endParaRPr lang="en-US" dirty="0"/>
          </a:p>
        </p:txBody>
      </p:sp>
      <p:sp>
        <p:nvSpPr>
          <p:cNvPr id="12" name="Text Placeholder 10"/>
          <p:cNvSpPr>
            <a:spLocks noGrp="1"/>
          </p:cNvSpPr>
          <p:nvPr>
            <p:ph type="body" sz="quarter" idx="14"/>
          </p:nvPr>
        </p:nvSpPr>
        <p:spPr>
          <a:xfrm>
            <a:off x="333377" y="790434"/>
            <a:ext cx="10905239" cy="280985"/>
          </a:xfrm>
          <a:prstGeom prst="rect">
            <a:avLst/>
          </a:prstGeom>
        </p:spPr>
        <p:txBody>
          <a:bodyPr lIns="0" tIns="0" rIns="0" bIns="0">
            <a:normAutofit/>
          </a:bodyPr>
          <a:lstStyle>
            <a:lvl1pPr marL="0" indent="0">
              <a:buNone/>
              <a:defRPr sz="1000">
                <a:solidFill>
                  <a:schemeClr val="bg1">
                    <a:lumMod val="50000"/>
                  </a:schemeClr>
                </a:solidFill>
                <a:latin typeface="+mn-lt"/>
              </a:defRPr>
            </a:lvl1pPr>
          </a:lstStyle>
          <a:p>
            <a:pPr lvl="0"/>
            <a:endParaRPr lang="id-ID" dirty="0"/>
          </a:p>
        </p:txBody>
      </p:sp>
      <p:sp>
        <p:nvSpPr>
          <p:cNvPr id="9" name="Rounded Rectangle 8"/>
          <p:cNvSpPr/>
          <p:nvPr userDrawn="1"/>
        </p:nvSpPr>
        <p:spPr>
          <a:xfrm>
            <a:off x="-410316" y="372775"/>
            <a:ext cx="654392" cy="298739"/>
          </a:xfrm>
          <a:prstGeom prst="roundRect">
            <a:avLst>
              <a:gd name="adj" fmla="val 50000"/>
            </a:avLst>
          </a:prstGeom>
          <a:solidFill>
            <a:srgbClr val="F23B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9_节标题">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2" Type="http://schemas.openxmlformats.org/officeDocument/2006/relationships/theme" Target="../theme/theme2.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66B159-8F0C-41E7-AB2B-8F346F92F68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65D660-0272-449E-8CB2-761D9255119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EFAEE"/>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3.xml"/><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microsoft.com/office/2007/relationships/hdphoto" Target="../media/image4.wdp"/><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tags" Target="../tags/tag4.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7.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8.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9.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4.xml"/><Relationship Id="rId4" Type="http://schemas.openxmlformats.org/officeDocument/2006/relationships/image" Target="../media/image10.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4.xml"/><Relationship Id="rId4" Type="http://schemas.openxmlformats.org/officeDocument/2006/relationships/image" Target="../media/image11.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14.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0" Type="http://schemas.openxmlformats.org/officeDocument/2006/relationships/slideLayout" Target="../slideLayouts/slideLayout17.xml"/><Relationship Id="rId2" Type="http://schemas.openxmlformats.org/officeDocument/2006/relationships/tags" Target="../tags/tag6.xml"/><Relationship Id="rId19" Type="http://schemas.openxmlformats.org/officeDocument/2006/relationships/tags" Target="../tags/tag20.xml"/><Relationship Id="rId18" Type="http://schemas.openxmlformats.org/officeDocument/2006/relationships/tags" Target="../tags/tag19.xml"/><Relationship Id="rId17" Type="http://schemas.microsoft.com/office/2007/relationships/hdphoto" Target="../media/image4.wdp"/><Relationship Id="rId16" Type="http://schemas.openxmlformats.org/officeDocument/2006/relationships/image" Target="../media/image3.png"/><Relationship Id="rId15" Type="http://schemas.openxmlformats.org/officeDocument/2006/relationships/slide" Target="slide1.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16.xml.rels><?xml version="1.0" encoding="UTF-8" standalone="yes"?>
<Relationships xmlns="http://schemas.openxmlformats.org/package/2006/relationships"><Relationship Id="rId9" Type="http://schemas.openxmlformats.org/officeDocument/2006/relationships/image" Target="../media/image15.jpe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tags" Target="../tags/tag22.xml"/><Relationship Id="rId5" Type="http://schemas.openxmlformats.org/officeDocument/2006/relationships/tags" Target="../tags/tag21.xml"/><Relationship Id="rId4" Type="http://schemas.microsoft.com/office/2007/relationships/hdphoto" Target="../media/image4.wdp"/><Relationship Id="rId3" Type="http://schemas.openxmlformats.org/officeDocument/2006/relationships/image" Target="../media/image3.png"/><Relationship Id="rId2" Type="http://schemas.openxmlformats.org/officeDocument/2006/relationships/slide" Target="slide1.xml"/><Relationship Id="rId10" Type="http://schemas.openxmlformats.org/officeDocument/2006/relationships/slideLayout" Target="../slideLayouts/slideLayout18.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16.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18.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microsoft.com/office/2007/relationships/hdphoto" Target="../media/image4.wdp"/><Relationship Id="rId24" Type="http://schemas.openxmlformats.org/officeDocument/2006/relationships/slideLayout" Target="../slideLayouts/slideLayout18.xml"/><Relationship Id="rId23" Type="http://schemas.openxmlformats.org/officeDocument/2006/relationships/tags" Target="../tags/tag34.xml"/><Relationship Id="rId22" Type="http://schemas.openxmlformats.org/officeDocument/2006/relationships/tags" Target="../tags/tag33.xml"/><Relationship Id="rId21" Type="http://schemas.openxmlformats.org/officeDocument/2006/relationships/tags" Target="../tags/tag32.xml"/><Relationship Id="rId20" Type="http://schemas.openxmlformats.org/officeDocument/2006/relationships/image" Target="../media/image24.svg"/><Relationship Id="rId2" Type="http://schemas.openxmlformats.org/officeDocument/2006/relationships/image" Target="../media/image3.png"/><Relationship Id="rId19" Type="http://schemas.openxmlformats.org/officeDocument/2006/relationships/image" Target="../media/image23.png"/><Relationship Id="rId18" Type="http://schemas.openxmlformats.org/officeDocument/2006/relationships/image" Target="../media/image22.svg"/><Relationship Id="rId17" Type="http://schemas.openxmlformats.org/officeDocument/2006/relationships/image" Target="../media/image21.png"/><Relationship Id="rId16" Type="http://schemas.openxmlformats.org/officeDocument/2006/relationships/tags" Target="../tags/tag31.xml"/><Relationship Id="rId15" Type="http://schemas.openxmlformats.org/officeDocument/2006/relationships/image" Target="../media/image20.svg"/><Relationship Id="rId14" Type="http://schemas.openxmlformats.org/officeDocument/2006/relationships/image" Target="../media/image19.png"/><Relationship Id="rId13" Type="http://schemas.openxmlformats.org/officeDocument/2006/relationships/tags" Target="../tags/tag30.xml"/><Relationship Id="rId12" Type="http://schemas.openxmlformats.org/officeDocument/2006/relationships/image" Target="../media/image18.svg"/><Relationship Id="rId11" Type="http://schemas.openxmlformats.org/officeDocument/2006/relationships/image" Target="../media/image17.png"/><Relationship Id="rId10" Type="http://schemas.openxmlformats.org/officeDocument/2006/relationships/tags" Target="../tags/tag29.xml"/><Relationship Id="rId1" Type="http://schemas.openxmlformats.org/officeDocument/2006/relationships/slide" Target="slide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 Target="slide1.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36.xml"/><Relationship Id="rId4" Type="http://schemas.openxmlformats.org/officeDocument/2006/relationships/tags" Target="../tags/tag35.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5" name="http://photo-static-api.fotomore.com/creative/vcg/400/new/VCG211313685102.jpg?uid=386&amp;timestamp=1764675875&amp;sign=d8e031e654b835c23090cad5bb9053b6" descr="&amp;pky210_sjzg_VCG211313685102&amp;2&amp;src_toppic_inpsrchzd1&amp;"/>
          <p:cNvPicPr>
            <a:picLocks noChangeAspect="1"/>
          </p:cNvPicPr>
          <p:nvPr/>
        </p:nvPicPr>
        <p:blipFill>
          <a:blip r:embed="rId1"/>
          <a:stretch>
            <a:fillRect/>
          </a:stretch>
        </p:blipFill>
        <p:spPr>
          <a:xfrm>
            <a:off x="-530860" y="-111125"/>
            <a:ext cx="17698720" cy="6923405"/>
          </a:xfrm>
          <a:prstGeom prst="rect">
            <a:avLst/>
          </a:prstGeom>
        </p:spPr>
      </p:pic>
      <p:sp>
        <p:nvSpPr>
          <p:cNvPr id="8" name="矩形 7"/>
          <p:cNvSpPr/>
          <p:nvPr/>
        </p:nvSpPr>
        <p:spPr>
          <a:xfrm>
            <a:off x="-1002665" y="-450850"/>
            <a:ext cx="14080490" cy="7442200"/>
          </a:xfrm>
          <a:prstGeom prst="rect">
            <a:avLst/>
          </a:prstGeom>
          <a:solidFill>
            <a:srgbClr val="FEFAEE">
              <a:alpha val="5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993979" y="1185585"/>
            <a:ext cx="10205885" cy="4695887"/>
          </a:xfrm>
          <a:prstGeom prst="rect">
            <a:avLst/>
          </a:prstGeom>
          <a:solidFill>
            <a:schemeClr val="bg1">
              <a:alpha val="81000"/>
            </a:schemeClr>
          </a:solid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5" name="组合 24"/>
          <p:cNvGrpSpPr/>
          <p:nvPr/>
        </p:nvGrpSpPr>
        <p:grpSpPr>
          <a:xfrm>
            <a:off x="282333" y="2082454"/>
            <a:ext cx="11510010" cy="2111673"/>
            <a:chOff x="-2830389" y="1368740"/>
            <a:chExt cx="11510010" cy="2111673"/>
          </a:xfrm>
        </p:grpSpPr>
        <p:sp>
          <p:nvSpPr>
            <p:cNvPr id="26" name="PA_库_矩形 11"/>
            <p:cNvSpPr/>
            <p:nvPr>
              <p:custDataLst>
                <p:tags r:id="rId2"/>
              </p:custDataLst>
            </p:nvPr>
          </p:nvSpPr>
          <p:spPr>
            <a:xfrm>
              <a:off x="-2830389" y="1368740"/>
              <a:ext cx="11510010" cy="829945"/>
            </a:xfrm>
            <a:prstGeom prst="rect">
              <a:avLst/>
            </a:prstGeom>
            <a:effectLst/>
          </p:spPr>
          <p:txBody>
            <a:bodyPr wrap="square">
              <a:spAutoFit/>
            </a:bodyPr>
            <a:lstStyle/>
            <a:p>
              <a:pPr algn="ctr"/>
              <a:r>
                <a:rPr lang="zh-CN" altLang="en-US" sz="4800" b="1" dirty="0">
                  <a:solidFill>
                    <a:srgbClr val="592680"/>
                  </a:solidFill>
                  <a:latin typeface="黑体" panose="02010609060101010101" charset="-122"/>
                  <a:ea typeface="黑体" panose="02010609060101010101" charset="-122"/>
                </a:rPr>
                <a:t>生成式</a:t>
              </a:r>
              <a:r>
                <a:rPr lang="en-US" altLang="zh-CN" sz="4800" b="1" dirty="0">
                  <a:solidFill>
                    <a:srgbClr val="592680"/>
                  </a:solidFill>
                  <a:latin typeface="黑体" panose="02010609060101010101" charset="-122"/>
                  <a:ea typeface="黑体" panose="02010609060101010101" charset="-122"/>
                </a:rPr>
                <a:t>AI</a:t>
              </a:r>
              <a:r>
                <a:rPr lang="zh-CN" altLang="en-US" sz="4800" b="1" dirty="0">
                  <a:solidFill>
                    <a:srgbClr val="592680"/>
                  </a:solidFill>
                  <a:latin typeface="黑体" panose="02010609060101010101" charset="-122"/>
                  <a:ea typeface="黑体" panose="02010609060101010101" charset="-122"/>
                </a:rPr>
                <a:t>的文化风格可控性研究</a:t>
              </a:r>
              <a:endParaRPr lang="zh-CN" altLang="en-US" sz="4800" b="1" dirty="0">
                <a:solidFill>
                  <a:srgbClr val="592680"/>
                </a:solidFill>
                <a:latin typeface="黑体" panose="02010609060101010101" charset="-122"/>
                <a:ea typeface="黑体" panose="02010609060101010101" charset="-122"/>
              </a:endParaRPr>
            </a:p>
          </p:txBody>
        </p:sp>
        <p:sp>
          <p:nvSpPr>
            <p:cNvPr id="27" name="PA_库_矩形 11"/>
            <p:cNvSpPr/>
            <p:nvPr>
              <p:custDataLst>
                <p:tags r:id="rId3"/>
              </p:custDataLst>
            </p:nvPr>
          </p:nvSpPr>
          <p:spPr>
            <a:xfrm>
              <a:off x="-1484189" y="2558393"/>
              <a:ext cx="8518189" cy="922020"/>
            </a:xfrm>
            <a:prstGeom prst="rect">
              <a:avLst/>
            </a:prstGeom>
            <a:effectLst/>
          </p:spPr>
          <p:txBody>
            <a:bodyPr wrap="square">
              <a:spAutoFit/>
            </a:bodyPr>
            <a:lstStyle/>
            <a:p>
              <a:pPr algn="ctr"/>
              <a:r>
                <a:rPr lang="zh-CN" altLang="en-US" sz="5400" b="1" dirty="0">
                  <a:solidFill>
                    <a:srgbClr val="592680"/>
                  </a:solidFill>
                  <a:latin typeface="黑体" panose="02010609060101010101" charset="-122"/>
                  <a:ea typeface="黑体" panose="02010609060101010101" charset="-122"/>
                </a:rPr>
                <a:t>以跨文化诗歌转写为例</a:t>
              </a:r>
              <a:endParaRPr lang="zh-CN" altLang="en-US" sz="5400" b="1" dirty="0">
                <a:solidFill>
                  <a:srgbClr val="592680"/>
                </a:solidFill>
                <a:latin typeface="黑体" panose="02010609060101010101" charset="-122"/>
                <a:ea typeface="黑体" panose="02010609060101010101" charset="-122"/>
              </a:endParaRPr>
            </a:p>
          </p:txBody>
        </p:sp>
      </p:grpSp>
      <p:sp>
        <p:nvSpPr>
          <p:cNvPr id="28" name="矩形: 圆角 27"/>
          <p:cNvSpPr/>
          <p:nvPr/>
        </p:nvSpPr>
        <p:spPr>
          <a:xfrm>
            <a:off x="4749323" y="846537"/>
            <a:ext cx="2576513" cy="694351"/>
          </a:xfrm>
          <a:prstGeom prst="roundRect">
            <a:avLst/>
          </a:prstGeom>
          <a:solidFill>
            <a:srgbClr val="7030A0"/>
          </a:solidFill>
          <a:ln>
            <a:solidFill>
              <a:srgbClr val="8259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4">
            <a:lum bright="70000" contrast="-70000"/>
            <a:extLst>
              <a:ext uri="{BEBA8EAE-BF5A-486C-A8C5-ECC9F3942E4B}">
                <a14:imgProps xmlns:a14="http://schemas.microsoft.com/office/drawing/2010/main">
                  <a14:imgLayer r:embed="rId5">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4962197" y="924804"/>
            <a:ext cx="2151277" cy="537818"/>
          </a:xfrm>
          <a:prstGeom prst="rect">
            <a:avLst/>
          </a:prstGeom>
        </p:spPr>
      </p:pic>
      <p:sp>
        <p:nvSpPr>
          <p:cNvPr id="30" name="TextBox 10"/>
          <p:cNvSpPr txBox="1"/>
          <p:nvPr/>
        </p:nvSpPr>
        <p:spPr>
          <a:xfrm>
            <a:off x="3218488" y="4613227"/>
            <a:ext cx="5756684" cy="782744"/>
          </a:xfrm>
          <a:prstGeom prst="rect">
            <a:avLst/>
          </a:prstGeom>
          <a:noFill/>
        </p:spPr>
        <p:txBody>
          <a:bodyPr wrap="square" rtlCol="0">
            <a:noAutofit/>
          </a:bodyPr>
          <a:lstStyle/>
          <a:p>
            <a:pPr algn="ctr"/>
            <a:r>
              <a:rPr lang="zh-CN" altLang="en-US"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rPr>
              <a:t>指导老师：尹海燕</a:t>
            </a:r>
            <a:endParaRPr lang="en-US" altLang="zh-CN"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endParaRPr>
          </a:p>
          <a:p>
            <a:pPr algn="ctr"/>
            <a:r>
              <a:rPr lang="zh-CN" altLang="en-US"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rPr>
              <a:t>成员：王锦榕、刘璐毓、闵振昌、谢真婷</a:t>
            </a:r>
            <a:endParaRPr lang="en-US" altLang="zh-CN"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endParaRPr>
          </a:p>
          <a:p>
            <a:pPr algn="ctr"/>
            <a:endParaRPr lang="en-US" altLang="zh-CN"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endParaRPr>
          </a:p>
        </p:txBody>
      </p:sp>
    </p:spTree>
    <p:custDataLst>
      <p:tags r:id="rId6"/>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8"/>
          <p:cNvSpPr txBox="1"/>
          <p:nvPr/>
        </p:nvSpPr>
        <p:spPr>
          <a:xfrm>
            <a:off x="218364" y="3129354"/>
            <a:ext cx="4164525" cy="748988"/>
          </a:xfrm>
          <a:prstGeom prst="rect">
            <a:avLst/>
          </a:prstGeom>
          <a:noFill/>
        </p:spPr>
        <p:txBody>
          <a:bodyPr wrap="square" rtlCol="0">
            <a:spAutoFit/>
          </a:bodyPr>
          <a:lstStyle/>
          <a:p>
            <a:pPr defTabSz="914400"/>
            <a:r>
              <a:rPr lang="en-US" altLang="zh-CN" sz="4265" b="1" dirty="0">
                <a:solidFill>
                  <a:prstClr val="white">
                    <a:lumMod val="65000"/>
                  </a:prstClr>
                </a:solidFill>
                <a:latin typeface="微软雅黑" panose="020B0503020204020204" pitchFamily="34" charset="-122"/>
                <a:ea typeface="微软雅黑" panose="020B0503020204020204" pitchFamily="34" charset="-122"/>
              </a:rPr>
              <a:t>CONTENTS</a:t>
            </a:r>
            <a:endParaRPr lang="zh-CN" altLang="en-US" sz="4265" b="1" dirty="0">
              <a:solidFill>
                <a:prstClr val="white">
                  <a:lumMod val="65000"/>
                </a:prstClr>
              </a:solidFill>
              <a:latin typeface="微软雅黑" panose="020B0503020204020204" pitchFamily="34" charset="-122"/>
              <a:ea typeface="微软雅黑" panose="020B0503020204020204" pitchFamily="34" charset="-122"/>
            </a:endParaRPr>
          </a:p>
        </p:txBody>
      </p:sp>
      <p:sp>
        <p:nvSpPr>
          <p:cNvPr id="3" name="文本框 11"/>
          <p:cNvSpPr txBox="1"/>
          <p:nvPr/>
        </p:nvSpPr>
        <p:spPr>
          <a:xfrm>
            <a:off x="2639616" y="2635363"/>
            <a:ext cx="1143262" cy="666786"/>
          </a:xfrm>
          <a:prstGeom prst="rect">
            <a:avLst/>
          </a:prstGeom>
          <a:noFill/>
        </p:spPr>
        <p:txBody>
          <a:bodyPr wrap="none" rtlCol="0">
            <a:spAutoFit/>
          </a:bodyPr>
          <a:lstStyle/>
          <a:p>
            <a:pPr defTabSz="914400"/>
            <a:r>
              <a:rPr lang="zh-CN" altLang="en-US" sz="3735" b="1" dirty="0">
                <a:solidFill>
                  <a:srgbClr val="414455"/>
                </a:solidFill>
                <a:latin typeface="微软雅黑" panose="020B0503020204020204" pitchFamily="34" charset="-122"/>
                <a:ea typeface="微软雅黑" panose="020B0503020204020204" pitchFamily="34" charset="-122"/>
              </a:rPr>
              <a:t>目录</a:t>
            </a:r>
            <a:endParaRPr lang="zh-CN" altLang="en-US" sz="3735" b="1" dirty="0">
              <a:solidFill>
                <a:srgbClr val="414455"/>
              </a:solidFill>
              <a:latin typeface="微软雅黑" panose="020B0503020204020204" pitchFamily="34" charset="-122"/>
              <a:ea typeface="微软雅黑" panose="020B0503020204020204" pitchFamily="34" charset="-122"/>
            </a:endParaRPr>
          </a:p>
        </p:txBody>
      </p:sp>
      <p:sp>
        <p:nvSpPr>
          <p:cNvPr id="4" name="文本框 18"/>
          <p:cNvSpPr txBox="1"/>
          <p:nvPr/>
        </p:nvSpPr>
        <p:spPr>
          <a:xfrm>
            <a:off x="6117240" y="2357045"/>
            <a:ext cx="2316480" cy="460375"/>
          </a:xfrm>
          <a:prstGeom prst="rect">
            <a:avLst/>
          </a:prstGeom>
          <a:noFill/>
        </p:spPr>
        <p:txBody>
          <a:bodyPr wrap="none" rtlCol="0">
            <a:spAutoFit/>
          </a:bodyPr>
          <a:lstStyle/>
          <a:p>
            <a:pPr algn="l" defTabSz="914400"/>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研究背景与现状</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5544606" y="2207753"/>
            <a:ext cx="571992" cy="666787"/>
            <a:chOff x="3554093" y="2047768"/>
            <a:chExt cx="428994" cy="500090"/>
          </a:xfrm>
        </p:grpSpPr>
        <p:sp>
          <p:nvSpPr>
            <p:cNvPr id="6" name="文本框 16"/>
            <p:cNvSpPr txBox="1"/>
            <p:nvPr/>
          </p:nvSpPr>
          <p:spPr>
            <a:xfrm>
              <a:off x="3554093" y="2047768"/>
              <a:ext cx="320040" cy="500090"/>
            </a:xfrm>
            <a:prstGeom prst="rect">
              <a:avLst/>
            </a:prstGeom>
            <a:noFill/>
          </p:spPr>
          <p:txBody>
            <a:bodyPr wrap="none" rtlCol="0">
              <a:spAutoFit/>
            </a:bodyPr>
            <a:lstStyle/>
            <a:p>
              <a:pPr algn="ctr" defTabSz="914400"/>
              <a:r>
                <a:rPr lang="en-US" altLang="zh-CN" sz="3735" dirty="0">
                  <a:solidFill>
                    <a:srgbClr val="414455"/>
                  </a:solidFill>
                  <a:latin typeface="Nexa Light"/>
                  <a:ea typeface="微软雅黑" panose="020B0503020204020204" pitchFamily="34" charset="-122"/>
                </a:rPr>
                <a:t>1</a:t>
              </a:r>
              <a:endParaRPr lang="zh-CN" altLang="en-US" sz="3735" dirty="0">
                <a:solidFill>
                  <a:srgbClr val="414455"/>
                </a:solidFill>
                <a:latin typeface="Nexa Light"/>
                <a:ea typeface="微软雅黑" panose="020B0503020204020204" pitchFamily="34" charset="-122"/>
              </a:endParaRPr>
            </a:p>
          </p:txBody>
        </p:sp>
        <p:cxnSp>
          <p:nvCxnSpPr>
            <p:cNvPr id="7" name="直接连接符 6"/>
            <p:cNvCxnSpPr/>
            <p:nvPr/>
          </p:nvCxnSpPr>
          <p:spPr>
            <a:xfrm flipH="1">
              <a:off x="3736631" y="2227402"/>
              <a:ext cx="246456" cy="246456"/>
            </a:xfrm>
            <a:prstGeom prst="line">
              <a:avLst/>
            </a:prstGeom>
            <a:ln>
              <a:solidFill>
                <a:srgbClr val="5C307D"/>
              </a:solidFill>
            </a:ln>
          </p:spPr>
          <p:style>
            <a:lnRef idx="1">
              <a:schemeClr val="accent1"/>
            </a:lnRef>
            <a:fillRef idx="0">
              <a:schemeClr val="accent1"/>
            </a:fillRef>
            <a:effectRef idx="0">
              <a:schemeClr val="accent1"/>
            </a:effectRef>
            <a:fontRef idx="minor">
              <a:schemeClr val="tx1"/>
            </a:fontRef>
          </p:style>
        </p:cxnSp>
      </p:grpSp>
      <p:sp>
        <p:nvSpPr>
          <p:cNvPr id="8" name="文本框 21"/>
          <p:cNvSpPr txBox="1"/>
          <p:nvPr/>
        </p:nvSpPr>
        <p:spPr>
          <a:xfrm>
            <a:off x="6116194" y="4651316"/>
            <a:ext cx="2926080" cy="460375"/>
          </a:xfrm>
          <a:prstGeom prst="rect">
            <a:avLst/>
          </a:prstGeom>
          <a:noFill/>
        </p:spPr>
        <p:txBody>
          <a:bodyPr wrap="none" rtlCol="0">
            <a:spAutoFit/>
          </a:bodyPr>
          <a:lstStyle/>
          <a:p>
            <a:pPr algn="l" defTabSz="914400"/>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前期准备与总结展望</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5502422" y="4542937"/>
            <a:ext cx="613772" cy="666787"/>
            <a:chOff x="6110397" y="2057986"/>
            <a:chExt cx="460329" cy="500090"/>
          </a:xfrm>
        </p:grpSpPr>
        <p:sp>
          <p:nvSpPr>
            <p:cNvPr id="10" name="文本框 20"/>
            <p:cNvSpPr txBox="1"/>
            <p:nvPr/>
          </p:nvSpPr>
          <p:spPr>
            <a:xfrm>
              <a:off x="6110397" y="2057986"/>
              <a:ext cx="320040" cy="500090"/>
            </a:xfrm>
            <a:prstGeom prst="rect">
              <a:avLst/>
            </a:prstGeom>
            <a:noFill/>
          </p:spPr>
          <p:txBody>
            <a:bodyPr wrap="none" rtlCol="0">
              <a:spAutoFit/>
            </a:bodyPr>
            <a:lstStyle/>
            <a:p>
              <a:pPr algn="ctr" defTabSz="914400"/>
              <a:r>
                <a:rPr lang="en-US" altLang="zh-CN" sz="3735" dirty="0">
                  <a:solidFill>
                    <a:srgbClr val="414455"/>
                  </a:solidFill>
                  <a:latin typeface="Nexa Light"/>
                  <a:ea typeface="微软雅黑" panose="020B0503020204020204" pitchFamily="34" charset="-122"/>
                </a:rPr>
                <a:t>4</a:t>
              </a:r>
              <a:endParaRPr lang="zh-CN" altLang="en-US" sz="3735" dirty="0">
                <a:solidFill>
                  <a:srgbClr val="414455"/>
                </a:solidFill>
                <a:latin typeface="Nexa Light"/>
                <a:ea typeface="微软雅黑" panose="020B0503020204020204" pitchFamily="34" charset="-122"/>
              </a:endParaRPr>
            </a:p>
          </p:txBody>
        </p:sp>
        <p:cxnSp>
          <p:nvCxnSpPr>
            <p:cNvPr id="11" name="直接连接符 10"/>
            <p:cNvCxnSpPr/>
            <p:nvPr/>
          </p:nvCxnSpPr>
          <p:spPr>
            <a:xfrm flipH="1">
              <a:off x="6324270" y="2227402"/>
              <a:ext cx="246456" cy="246456"/>
            </a:xfrm>
            <a:prstGeom prst="line">
              <a:avLst/>
            </a:prstGeom>
            <a:ln>
              <a:solidFill>
                <a:srgbClr val="5C307D"/>
              </a:solidFill>
            </a:ln>
          </p:spPr>
          <p:style>
            <a:lnRef idx="1">
              <a:schemeClr val="accent1"/>
            </a:lnRef>
            <a:fillRef idx="0">
              <a:schemeClr val="accent1"/>
            </a:fillRef>
            <a:effectRef idx="0">
              <a:schemeClr val="accent1"/>
            </a:effectRef>
            <a:fontRef idx="minor">
              <a:schemeClr val="tx1"/>
            </a:fontRef>
          </p:style>
        </p:cxnSp>
      </p:grpSp>
      <p:sp>
        <p:nvSpPr>
          <p:cNvPr id="12" name="文本框 24"/>
          <p:cNvSpPr txBox="1"/>
          <p:nvPr/>
        </p:nvSpPr>
        <p:spPr>
          <a:xfrm>
            <a:off x="6117239" y="3129555"/>
            <a:ext cx="2926080" cy="460375"/>
          </a:xfrm>
          <a:prstGeom prst="rect">
            <a:avLst/>
          </a:prstGeom>
          <a:noFill/>
        </p:spPr>
        <p:txBody>
          <a:bodyPr wrap="none" rtlCol="0">
            <a:spAutoFit/>
          </a:bodyPr>
          <a:lstStyle/>
          <a:p>
            <a:pPr algn="l" defTabSz="914400"/>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研究内容与技术路线</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5544606" y="2980264"/>
            <a:ext cx="571992" cy="666787"/>
            <a:chOff x="3554093" y="2627150"/>
            <a:chExt cx="428994" cy="500090"/>
          </a:xfrm>
        </p:grpSpPr>
        <p:sp>
          <p:nvSpPr>
            <p:cNvPr id="14" name="文本框 23"/>
            <p:cNvSpPr txBox="1"/>
            <p:nvPr/>
          </p:nvSpPr>
          <p:spPr>
            <a:xfrm>
              <a:off x="3554093" y="2627150"/>
              <a:ext cx="320040" cy="500090"/>
            </a:xfrm>
            <a:prstGeom prst="rect">
              <a:avLst/>
            </a:prstGeom>
            <a:noFill/>
          </p:spPr>
          <p:txBody>
            <a:bodyPr wrap="none" rtlCol="0">
              <a:spAutoFit/>
            </a:bodyPr>
            <a:lstStyle/>
            <a:p>
              <a:pPr algn="ctr" defTabSz="914400"/>
              <a:r>
                <a:rPr lang="en-US" altLang="zh-CN" sz="3735" dirty="0">
                  <a:solidFill>
                    <a:srgbClr val="414455"/>
                  </a:solidFill>
                  <a:latin typeface="Nexa Light"/>
                  <a:ea typeface="微软雅黑" panose="020B0503020204020204" pitchFamily="34" charset="-122"/>
                </a:rPr>
                <a:t>2</a:t>
              </a:r>
              <a:endParaRPr lang="zh-CN" altLang="en-US" sz="3735" dirty="0">
                <a:solidFill>
                  <a:srgbClr val="414455"/>
                </a:solidFill>
                <a:latin typeface="Nexa Light"/>
                <a:ea typeface="微软雅黑" panose="020B0503020204020204" pitchFamily="34" charset="-122"/>
              </a:endParaRPr>
            </a:p>
          </p:txBody>
        </p:sp>
        <p:cxnSp>
          <p:nvCxnSpPr>
            <p:cNvPr id="15" name="直接连接符 14"/>
            <p:cNvCxnSpPr/>
            <p:nvPr/>
          </p:nvCxnSpPr>
          <p:spPr>
            <a:xfrm flipH="1">
              <a:off x="3736631" y="2806784"/>
              <a:ext cx="246456" cy="246456"/>
            </a:xfrm>
            <a:prstGeom prst="line">
              <a:avLst/>
            </a:prstGeom>
            <a:ln>
              <a:solidFill>
                <a:srgbClr val="5C307D"/>
              </a:solidFill>
            </a:ln>
          </p:spPr>
          <p:style>
            <a:lnRef idx="1">
              <a:schemeClr val="accent1"/>
            </a:lnRef>
            <a:fillRef idx="0">
              <a:schemeClr val="accent1"/>
            </a:fillRef>
            <a:effectRef idx="0">
              <a:schemeClr val="accent1"/>
            </a:effectRef>
            <a:fontRef idx="minor">
              <a:schemeClr val="tx1"/>
            </a:fontRef>
          </p:style>
        </p:cxnSp>
      </p:grpSp>
      <p:sp>
        <p:nvSpPr>
          <p:cNvPr id="20" name="文本框 30"/>
          <p:cNvSpPr txBox="1"/>
          <p:nvPr/>
        </p:nvSpPr>
        <p:spPr>
          <a:xfrm>
            <a:off x="6117240" y="3894545"/>
            <a:ext cx="2621280" cy="460375"/>
          </a:xfrm>
          <a:prstGeom prst="rect">
            <a:avLst/>
          </a:prstGeom>
          <a:noFill/>
        </p:spPr>
        <p:txBody>
          <a:bodyPr wrap="none" rtlCol="0">
            <a:spAutoFit/>
          </a:bodyPr>
          <a:lstStyle/>
          <a:p>
            <a:pPr algn="l" defTabSz="914400"/>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创新点与项目特色</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5544606" y="3745254"/>
            <a:ext cx="571992" cy="666787"/>
            <a:chOff x="3554093" y="3200893"/>
            <a:chExt cx="428994" cy="500090"/>
          </a:xfrm>
        </p:grpSpPr>
        <p:sp>
          <p:nvSpPr>
            <p:cNvPr id="22" name="文本框 29"/>
            <p:cNvSpPr txBox="1"/>
            <p:nvPr/>
          </p:nvSpPr>
          <p:spPr>
            <a:xfrm>
              <a:off x="3554093" y="3200893"/>
              <a:ext cx="320040" cy="500090"/>
            </a:xfrm>
            <a:prstGeom prst="rect">
              <a:avLst/>
            </a:prstGeom>
            <a:noFill/>
          </p:spPr>
          <p:txBody>
            <a:bodyPr wrap="none" rtlCol="0">
              <a:spAutoFit/>
            </a:bodyPr>
            <a:lstStyle/>
            <a:p>
              <a:pPr algn="ctr" defTabSz="914400"/>
              <a:r>
                <a:rPr lang="en-US" altLang="zh-CN" sz="3735" dirty="0">
                  <a:solidFill>
                    <a:srgbClr val="414455"/>
                  </a:solidFill>
                  <a:latin typeface="Nexa Light"/>
                  <a:ea typeface="微软雅黑" panose="020B0503020204020204" pitchFamily="34" charset="-122"/>
                </a:rPr>
                <a:t>3</a:t>
              </a:r>
              <a:endParaRPr lang="zh-CN" altLang="en-US" sz="3735" dirty="0">
                <a:solidFill>
                  <a:srgbClr val="414455"/>
                </a:solidFill>
                <a:latin typeface="Nexa Light"/>
                <a:ea typeface="微软雅黑" panose="020B0503020204020204" pitchFamily="34" charset="-122"/>
              </a:endParaRPr>
            </a:p>
          </p:txBody>
        </p:sp>
        <p:cxnSp>
          <p:nvCxnSpPr>
            <p:cNvPr id="23" name="直接连接符 22"/>
            <p:cNvCxnSpPr/>
            <p:nvPr/>
          </p:nvCxnSpPr>
          <p:spPr>
            <a:xfrm flipH="1">
              <a:off x="3736631" y="3380527"/>
              <a:ext cx="246456" cy="246456"/>
            </a:xfrm>
            <a:prstGeom prst="line">
              <a:avLst/>
            </a:prstGeom>
            <a:ln>
              <a:solidFill>
                <a:srgbClr val="5C307D"/>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p:cNvCxnSpPr/>
          <p:nvPr/>
        </p:nvCxnSpPr>
        <p:spPr>
          <a:xfrm>
            <a:off x="4371280" y="2852361"/>
            <a:ext cx="0" cy="206297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0000"/>
              </a:solidFill>
              <a:highlight>
                <a:srgbClr val="FF0000"/>
              </a:highlight>
              <a:latin typeface="Nexa Light"/>
              <a:ea typeface="微软雅黑" panose="020B0503020204020204" pitchFamily="34" charset="-122"/>
            </a:endParaRPr>
          </a:p>
        </p:txBody>
      </p:sp>
      <p:grpSp>
        <p:nvGrpSpPr>
          <p:cNvPr id="26" name="组合 7"/>
          <p:cNvGrpSpPr/>
          <p:nvPr/>
        </p:nvGrpSpPr>
        <p:grpSpPr bwMode="auto">
          <a:xfrm>
            <a:off x="1826685" y="141817"/>
            <a:ext cx="1773767" cy="601895"/>
            <a:chOff x="0" y="0"/>
            <a:chExt cx="1329556" cy="451276"/>
          </a:xfrm>
        </p:grpSpPr>
        <p:sp>
          <p:nvSpPr>
            <p:cNvPr id="27"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29"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58" name="图片 57"/>
          <p:cNvPicPr>
            <a:picLocks noChangeAspect="1"/>
          </p:cNvPicPr>
          <p:nvPr/>
        </p:nvPicPr>
        <p:blipFill>
          <a:blip r:embed="rId1">
            <a:lum bright="70000" contrast="-70000"/>
            <a:extLst>
              <a:ext uri="{BEBA8EAE-BF5A-486C-A8C5-ECC9F3942E4B}">
                <a14:imgProps xmlns:a14="http://schemas.microsoft.com/office/drawing/2010/main">
                  <a14:imgLayer r:embed="rId2">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EFAEE"/>
        </a:solidFill>
        <a:effectLst/>
      </p:bgPr>
    </p:bg>
    <p:spTree>
      <p:nvGrpSpPr>
        <p:cNvPr id="1" name=""/>
        <p:cNvGrpSpPr/>
        <p:nvPr/>
      </p:nvGrpSpPr>
      <p:grpSpPr>
        <a:xfrm>
          <a:off x="0" y="0"/>
          <a:ext cx="0" cy="0"/>
          <a:chOff x="0" y="0"/>
          <a:chExt cx="0" cy="0"/>
        </a:xfrm>
      </p:grpSpPr>
      <p:sp>
        <p:nvSpPr>
          <p:cNvPr id="95"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96" name="矩形 20"/>
          <p:cNvSpPr>
            <a:spLocks noChangeArrowheads="1"/>
          </p:cNvSpPr>
          <p:nvPr/>
        </p:nvSpPr>
        <p:spPr bwMode="auto">
          <a:xfrm>
            <a:off x="2560955" y="-1905"/>
            <a:ext cx="2078990"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97" name="组合 7"/>
          <p:cNvGrpSpPr/>
          <p:nvPr/>
        </p:nvGrpSpPr>
        <p:grpSpPr bwMode="auto">
          <a:xfrm>
            <a:off x="1826685" y="141817"/>
            <a:ext cx="1773767" cy="601895"/>
            <a:chOff x="0" y="0"/>
            <a:chExt cx="1329556" cy="451276"/>
          </a:xfrm>
        </p:grpSpPr>
        <p:sp>
          <p:nvSpPr>
            <p:cNvPr id="98"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99"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0"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1"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2"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3"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4"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05"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06"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107" name="图片 106"/>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47" name="矩形 46"/>
          <p:cNvSpPr/>
          <p:nvPr/>
        </p:nvSpPr>
        <p:spPr>
          <a:xfrm>
            <a:off x="939800" y="1437005"/>
            <a:ext cx="10211435" cy="339852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47"/>
          <p:cNvSpPr/>
          <p:nvPr/>
        </p:nvSpPr>
        <p:spPr>
          <a:xfrm>
            <a:off x="1071364" y="1083667"/>
            <a:ext cx="2289153" cy="662151"/>
          </a:xfrm>
          <a:prstGeom prst="roundRect">
            <a:avLst>
              <a:gd name="adj" fmla="val 2428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t>研究背景</a:t>
            </a:r>
            <a:endParaRPr lang="zh-CN" altLang="en-US" sz="2400" dirty="0"/>
          </a:p>
        </p:txBody>
      </p:sp>
      <p:sp>
        <p:nvSpPr>
          <p:cNvPr id="49" name="文本框 48"/>
          <p:cNvSpPr txBox="1"/>
          <p:nvPr/>
        </p:nvSpPr>
        <p:spPr>
          <a:xfrm>
            <a:off x="1218009" y="1819478"/>
            <a:ext cx="9429672" cy="2861310"/>
          </a:xfrm>
          <a:prstGeom prst="rect">
            <a:avLst/>
          </a:prstGeom>
          <a:noFill/>
        </p:spPr>
        <p:txBody>
          <a:bodyPr wrap="square" rtlCol="0">
            <a:spAutoFit/>
          </a:bodyPr>
          <a:lstStyle/>
          <a:p>
            <a:pPr fontAlgn="auto">
              <a:lnSpc>
                <a:spcPts val="2700"/>
              </a:lnSpc>
            </a:pPr>
            <a:r>
              <a:rPr lang="zh-CN" altLang="en-US" sz="2000" dirty="0">
                <a:latin typeface="+mn-ea"/>
              </a:rPr>
              <a:t>  诗歌作为各国文学的重要组成部分和文化的凝练载体，在跨文化传递中往往面临着远超普通文本的翻译和转写难度，传统人工翻译及早期技术虽已在相关领域做出诸多尝试，却始终难以取得</a:t>
            </a:r>
            <a:r>
              <a:rPr lang="zh-CN" altLang="en-US" sz="2000" b="1" dirty="0">
                <a:solidFill>
                  <a:schemeClr val="tx1"/>
                </a:solidFill>
                <a:latin typeface="+mn-ea"/>
              </a:rPr>
              <a:t>“语义完整”</a:t>
            </a:r>
            <a:r>
              <a:rPr lang="zh-CN" altLang="en-US" sz="2000" dirty="0">
                <a:latin typeface="+mn-ea"/>
              </a:rPr>
              <a:t>、</a:t>
            </a:r>
            <a:r>
              <a:rPr lang="zh-CN" altLang="en-US" sz="2000" b="1" dirty="0">
                <a:latin typeface="+mn-ea"/>
              </a:rPr>
              <a:t>“情感互通”</a:t>
            </a:r>
            <a:r>
              <a:rPr lang="zh-CN" altLang="en-US" sz="2000" dirty="0">
                <a:latin typeface="+mn-ea"/>
              </a:rPr>
              <a:t>与</a:t>
            </a:r>
            <a:r>
              <a:rPr lang="zh-CN" altLang="en-US" sz="2000" b="1" dirty="0">
                <a:latin typeface="+mn-ea"/>
              </a:rPr>
              <a:t>“文化内涵”</a:t>
            </a:r>
            <a:r>
              <a:rPr lang="zh-CN" altLang="en-US" sz="2000" dirty="0">
                <a:latin typeface="+mn-ea"/>
              </a:rPr>
              <a:t>的完美平衡。</a:t>
            </a:r>
            <a:endParaRPr lang="en-US" altLang="zh-CN" sz="2000" dirty="0">
              <a:latin typeface="+mn-ea"/>
            </a:endParaRPr>
          </a:p>
          <a:p>
            <a:pPr fontAlgn="auto">
              <a:lnSpc>
                <a:spcPts val="2700"/>
              </a:lnSpc>
            </a:pPr>
            <a:r>
              <a:rPr lang="zh-CN" altLang="en-US" sz="2000" dirty="0">
                <a:latin typeface="+mn-ea"/>
              </a:rPr>
              <a:t>  生成式 </a:t>
            </a:r>
            <a:r>
              <a:rPr lang="en-US" altLang="zh-CN" sz="2000" dirty="0">
                <a:latin typeface="+mn-ea"/>
              </a:rPr>
              <a:t>AI </a:t>
            </a:r>
            <a:r>
              <a:rPr lang="zh-CN" altLang="en-US" sz="2000" dirty="0">
                <a:latin typeface="+mn-ea"/>
              </a:rPr>
              <a:t>的兴起为诗歌转写提供了新的技术契机，但其在诗歌转写中仍存在风格控制具有</a:t>
            </a:r>
            <a:r>
              <a:rPr lang="zh-CN" altLang="en-US" sz="2000" b="1" dirty="0">
                <a:latin typeface="+mn-ea"/>
              </a:rPr>
              <a:t>缺乏显式建模、文化内涵流失、语义损耗</a:t>
            </a:r>
            <a:r>
              <a:rPr lang="zh-CN" altLang="en-US" sz="2000" dirty="0">
                <a:latin typeface="+mn-ea"/>
              </a:rPr>
              <a:t>等问题。本项目聚焦广受中国读者喜爱的俄罗斯经典诗歌与现代韩语诗歌的汉语化转写，尝试突破生成式</a:t>
            </a:r>
            <a:r>
              <a:rPr lang="en-US" altLang="zh-CN" sz="2000" dirty="0">
                <a:latin typeface="+mn-ea"/>
              </a:rPr>
              <a:t>AI</a:t>
            </a:r>
            <a:r>
              <a:rPr lang="zh-CN" altLang="en-US" sz="2000" dirty="0">
                <a:latin typeface="+mn-ea"/>
              </a:rPr>
              <a:t>翻译的现有局限，构建一个能够精确理解和转换各国文化风格的诗歌转写智能系统。</a:t>
            </a:r>
            <a:endParaRPr lang="zh-CN" altLang="en-US" sz="2000" dirty="0">
              <a:latin typeface="+mn-ea"/>
            </a:endParaRPr>
          </a:p>
        </p:txBody>
      </p:sp>
      <p:pic>
        <p:nvPicPr>
          <p:cNvPr id="51" name="图形 50"/>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10466070" y="4089400"/>
            <a:ext cx="1265555" cy="1259205"/>
          </a:xfrm>
          <a:prstGeom prst="rect">
            <a:avLst/>
          </a:prstGeom>
        </p:spPr>
      </p:pic>
      <p:sp>
        <p:nvSpPr>
          <p:cNvPr id="2" name="箭头: V 形 1"/>
          <p:cNvSpPr/>
          <p:nvPr/>
        </p:nvSpPr>
        <p:spPr>
          <a:xfrm>
            <a:off x="939800" y="5035550"/>
            <a:ext cx="4385310" cy="397510"/>
          </a:xfrm>
          <a:prstGeom prst="chevron">
            <a:avLst/>
          </a:prstGeom>
          <a:solidFill>
            <a:srgbClr val="CBC3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什么是诗歌转写（</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poem recreation</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1071364" y="5472429"/>
            <a:ext cx="9162008" cy="829945"/>
          </a:xfrm>
          <a:prstGeom prst="rect">
            <a:avLst/>
          </a:prstGeom>
          <a:noFill/>
        </p:spPr>
        <p:txBody>
          <a:bodyPr wrap="square" rtlCol="0">
            <a:spAutoFit/>
          </a:bodyPr>
          <a:lstStyle/>
          <a:p>
            <a:pPr>
              <a:lnSpc>
                <a:spcPct val="150000"/>
              </a:lnSpc>
            </a:pPr>
            <a:r>
              <a:rPr lang="zh-CN" altLang="en-US" sz="1600" dirty="0"/>
              <a:t>诗歌转写是指在保留原诗歌核心内容的基础上，通过调整语言风格、重构表达形式等方式，将其创作为另一种语言的诗歌体裁的再创作过程。</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0" name="组合 89"/>
          <p:cNvGrpSpPr/>
          <p:nvPr/>
        </p:nvGrpSpPr>
        <p:grpSpPr>
          <a:xfrm>
            <a:off x="747962" y="1866593"/>
            <a:ext cx="3485635" cy="878307"/>
            <a:chOff x="798411" y="1345818"/>
            <a:chExt cx="3485634" cy="878306"/>
          </a:xfrm>
          <a:solidFill>
            <a:srgbClr val="49247A"/>
          </a:solidFill>
        </p:grpSpPr>
        <p:sp>
          <p:nvSpPr>
            <p:cNvPr id="91" name="矩形 90"/>
            <p:cNvSpPr/>
            <p:nvPr/>
          </p:nvSpPr>
          <p:spPr>
            <a:xfrm>
              <a:off x="903171" y="1345818"/>
              <a:ext cx="3380874" cy="8783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92" name="组合 91"/>
            <p:cNvGrpSpPr/>
            <p:nvPr/>
          </p:nvGrpSpPr>
          <p:grpSpPr>
            <a:xfrm>
              <a:off x="798411" y="1489895"/>
              <a:ext cx="1022682" cy="556091"/>
              <a:chOff x="721409" y="1359267"/>
              <a:chExt cx="1022682" cy="556091"/>
            </a:xfrm>
            <a:grpFill/>
          </p:grpSpPr>
          <p:sp>
            <p:nvSpPr>
              <p:cNvPr id="94" name="任意多边形 93"/>
              <p:cNvSpPr/>
              <p:nvPr/>
            </p:nvSpPr>
            <p:spPr>
              <a:xfrm flipV="1">
                <a:off x="721410" y="1404984"/>
                <a:ext cx="1022681" cy="510374"/>
              </a:xfrm>
              <a:custGeom>
                <a:avLst/>
                <a:gdLst>
                  <a:gd name="connsiteX0" fmla="*/ 0 w 1022681"/>
                  <a:gd name="connsiteY0" fmla="*/ 0 h 342899"/>
                  <a:gd name="connsiteX1" fmla="*/ 1022681 w 1022681"/>
                  <a:gd name="connsiteY1" fmla="*/ 0 h 342899"/>
                  <a:gd name="connsiteX2" fmla="*/ 1022681 w 1022681"/>
                  <a:gd name="connsiteY2" fmla="*/ 8036 h 342899"/>
                  <a:gd name="connsiteX3" fmla="*/ 762826 w 1022681"/>
                  <a:gd name="connsiteY3" fmla="*/ 342899 h 342899"/>
                  <a:gd name="connsiteX4" fmla="*/ 0 w 1022681"/>
                  <a:gd name="connsiteY4" fmla="*/ 342899 h 34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681" h="342899">
                    <a:moveTo>
                      <a:pt x="0" y="0"/>
                    </a:moveTo>
                    <a:lnTo>
                      <a:pt x="1022681" y="0"/>
                    </a:lnTo>
                    <a:lnTo>
                      <a:pt x="1022681" y="8036"/>
                    </a:lnTo>
                    <a:lnTo>
                      <a:pt x="762826" y="342899"/>
                    </a:lnTo>
                    <a:lnTo>
                      <a:pt x="0" y="342899"/>
                    </a:lnTo>
                    <a:close/>
                  </a:path>
                </a:pathLst>
              </a:custGeom>
              <a:solidFill>
                <a:srgbClr val="BDB1D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95" name="直角三角形 94"/>
              <p:cNvSpPr/>
              <p:nvPr/>
            </p:nvSpPr>
            <p:spPr>
              <a:xfrm flipH="1">
                <a:off x="721409" y="1359267"/>
                <a:ext cx="120797" cy="45719"/>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sp>
          <p:nvSpPr>
            <p:cNvPr id="93" name="文本框 2"/>
            <p:cNvSpPr txBox="1"/>
            <p:nvPr/>
          </p:nvSpPr>
          <p:spPr>
            <a:xfrm>
              <a:off x="1871531" y="1553545"/>
              <a:ext cx="2258018" cy="420564"/>
            </a:xfrm>
            <a:prstGeom prst="rect">
              <a:avLst/>
            </a:prstGeom>
            <a:grpFill/>
          </p:spPr>
          <p:txBody>
            <a:bodyPr wrap="square" rtlCol="0">
              <a:spAutoFit/>
            </a:bodyPr>
            <a:lstStyle/>
            <a:p>
              <a:pPr defTabSz="914400"/>
              <a:r>
                <a:rPr lang="zh-CN" altLang="en-US" sz="2135" dirty="0">
                  <a:solidFill>
                    <a:prstClr val="white"/>
                  </a:solidFill>
                  <a:latin typeface="微软雅黑" panose="020B0503020204020204" pitchFamily="34" charset="-122"/>
                  <a:ea typeface="微软雅黑" panose="020B0503020204020204" pitchFamily="34" charset="-122"/>
                </a:rPr>
                <a:t>语义忠实派</a:t>
              </a:r>
              <a:endParaRPr lang="zh-CN" altLang="en-US" sz="2135" dirty="0">
                <a:solidFill>
                  <a:prstClr val="white"/>
                </a:solidFill>
                <a:latin typeface="微软雅黑" panose="020B0503020204020204" pitchFamily="34" charset="-122"/>
                <a:ea typeface="微软雅黑" panose="020B0503020204020204" pitchFamily="34" charset="-122"/>
              </a:endParaRPr>
            </a:p>
          </p:txBody>
        </p:sp>
      </p:grpSp>
      <p:grpSp>
        <p:nvGrpSpPr>
          <p:cNvPr id="96" name="组合 95"/>
          <p:cNvGrpSpPr/>
          <p:nvPr/>
        </p:nvGrpSpPr>
        <p:grpSpPr>
          <a:xfrm>
            <a:off x="4310961" y="1866593"/>
            <a:ext cx="3508047" cy="878307"/>
            <a:chOff x="4361409" y="1345818"/>
            <a:chExt cx="3508047" cy="878306"/>
          </a:xfrm>
          <a:solidFill>
            <a:srgbClr val="49247A"/>
          </a:solidFill>
        </p:grpSpPr>
        <p:sp>
          <p:nvSpPr>
            <p:cNvPr id="97" name="矩形 96"/>
            <p:cNvSpPr/>
            <p:nvPr/>
          </p:nvSpPr>
          <p:spPr>
            <a:xfrm>
              <a:off x="4488582" y="1345818"/>
              <a:ext cx="3380874" cy="8783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98" name="组合 97"/>
            <p:cNvGrpSpPr/>
            <p:nvPr/>
          </p:nvGrpSpPr>
          <p:grpSpPr>
            <a:xfrm>
              <a:off x="4361409" y="1489895"/>
              <a:ext cx="1022682" cy="554516"/>
              <a:chOff x="721409" y="1359267"/>
              <a:chExt cx="1022682" cy="554516"/>
            </a:xfrm>
            <a:grpFill/>
          </p:grpSpPr>
          <p:sp>
            <p:nvSpPr>
              <p:cNvPr id="100" name="任意多边形 99"/>
              <p:cNvSpPr/>
              <p:nvPr/>
            </p:nvSpPr>
            <p:spPr>
              <a:xfrm flipV="1">
                <a:off x="721410" y="1404984"/>
                <a:ext cx="1022681" cy="508799"/>
              </a:xfrm>
              <a:custGeom>
                <a:avLst/>
                <a:gdLst>
                  <a:gd name="connsiteX0" fmla="*/ 0 w 1022681"/>
                  <a:gd name="connsiteY0" fmla="*/ 0 h 342899"/>
                  <a:gd name="connsiteX1" fmla="*/ 1022681 w 1022681"/>
                  <a:gd name="connsiteY1" fmla="*/ 0 h 342899"/>
                  <a:gd name="connsiteX2" fmla="*/ 1022681 w 1022681"/>
                  <a:gd name="connsiteY2" fmla="*/ 8036 h 342899"/>
                  <a:gd name="connsiteX3" fmla="*/ 762826 w 1022681"/>
                  <a:gd name="connsiteY3" fmla="*/ 342899 h 342899"/>
                  <a:gd name="connsiteX4" fmla="*/ 0 w 1022681"/>
                  <a:gd name="connsiteY4" fmla="*/ 342899 h 34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681" h="342899">
                    <a:moveTo>
                      <a:pt x="0" y="0"/>
                    </a:moveTo>
                    <a:lnTo>
                      <a:pt x="1022681" y="0"/>
                    </a:lnTo>
                    <a:lnTo>
                      <a:pt x="1022681" y="8036"/>
                    </a:lnTo>
                    <a:lnTo>
                      <a:pt x="762826" y="342899"/>
                    </a:lnTo>
                    <a:lnTo>
                      <a:pt x="0" y="342899"/>
                    </a:lnTo>
                    <a:close/>
                  </a:path>
                </a:pathLst>
              </a:custGeom>
              <a:solidFill>
                <a:srgbClr val="BDB1D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01" name="直角三角形 100"/>
              <p:cNvSpPr/>
              <p:nvPr/>
            </p:nvSpPr>
            <p:spPr>
              <a:xfrm flipH="1">
                <a:off x="721409" y="1359267"/>
                <a:ext cx="120797" cy="45719"/>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sp>
          <p:nvSpPr>
            <p:cNvPr id="99" name="文本框 68"/>
            <p:cNvSpPr txBox="1"/>
            <p:nvPr/>
          </p:nvSpPr>
          <p:spPr>
            <a:xfrm>
              <a:off x="5519936" y="1553545"/>
              <a:ext cx="2195915" cy="420564"/>
            </a:xfrm>
            <a:prstGeom prst="rect">
              <a:avLst/>
            </a:prstGeom>
            <a:grpFill/>
          </p:spPr>
          <p:txBody>
            <a:bodyPr wrap="square" rtlCol="0">
              <a:spAutoFit/>
            </a:bodyPr>
            <a:lstStyle/>
            <a:p>
              <a:pPr defTabSz="914400"/>
              <a:r>
                <a:rPr lang="zh-CN" altLang="en-US" sz="2135" dirty="0">
                  <a:solidFill>
                    <a:prstClr val="white"/>
                  </a:solidFill>
                  <a:latin typeface="微软雅黑" panose="020B0503020204020204" pitchFamily="34" charset="-122"/>
                  <a:ea typeface="微软雅黑" panose="020B0503020204020204" pitchFamily="34" charset="-122"/>
                </a:rPr>
                <a:t>形式保真派</a:t>
              </a:r>
              <a:endParaRPr lang="zh-CN" altLang="en-US" sz="2135" dirty="0">
                <a:solidFill>
                  <a:prstClr val="white"/>
                </a:solidFill>
                <a:latin typeface="微软雅黑" panose="020B0503020204020204" pitchFamily="34" charset="-122"/>
                <a:ea typeface="微软雅黑" panose="020B0503020204020204" pitchFamily="34" charset="-122"/>
              </a:endParaRPr>
            </a:p>
          </p:txBody>
        </p:sp>
      </p:grpSp>
      <p:grpSp>
        <p:nvGrpSpPr>
          <p:cNvPr id="102" name="组合 101"/>
          <p:cNvGrpSpPr/>
          <p:nvPr/>
        </p:nvGrpSpPr>
        <p:grpSpPr>
          <a:xfrm>
            <a:off x="7921408" y="1876856"/>
            <a:ext cx="3499761" cy="878307"/>
            <a:chOff x="7955105" y="1345818"/>
            <a:chExt cx="3499761" cy="878306"/>
          </a:xfrm>
          <a:solidFill>
            <a:srgbClr val="49247A"/>
          </a:solidFill>
        </p:grpSpPr>
        <p:sp>
          <p:nvSpPr>
            <p:cNvPr id="103" name="矩形 102"/>
            <p:cNvSpPr/>
            <p:nvPr/>
          </p:nvSpPr>
          <p:spPr>
            <a:xfrm>
              <a:off x="8073992" y="1345818"/>
              <a:ext cx="3380874" cy="87830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104" name="组合 103"/>
            <p:cNvGrpSpPr/>
            <p:nvPr/>
          </p:nvGrpSpPr>
          <p:grpSpPr>
            <a:xfrm>
              <a:off x="7955105" y="1489895"/>
              <a:ext cx="1022682" cy="554516"/>
              <a:chOff x="721409" y="1359267"/>
              <a:chExt cx="1022682" cy="554516"/>
            </a:xfrm>
            <a:grpFill/>
          </p:grpSpPr>
          <p:sp>
            <p:nvSpPr>
              <p:cNvPr id="106" name="任意多边形 105"/>
              <p:cNvSpPr/>
              <p:nvPr/>
            </p:nvSpPr>
            <p:spPr>
              <a:xfrm flipV="1">
                <a:off x="721410" y="1404984"/>
                <a:ext cx="1022681" cy="508799"/>
              </a:xfrm>
              <a:custGeom>
                <a:avLst/>
                <a:gdLst>
                  <a:gd name="connsiteX0" fmla="*/ 0 w 1022681"/>
                  <a:gd name="connsiteY0" fmla="*/ 0 h 342899"/>
                  <a:gd name="connsiteX1" fmla="*/ 1022681 w 1022681"/>
                  <a:gd name="connsiteY1" fmla="*/ 0 h 342899"/>
                  <a:gd name="connsiteX2" fmla="*/ 1022681 w 1022681"/>
                  <a:gd name="connsiteY2" fmla="*/ 8036 h 342899"/>
                  <a:gd name="connsiteX3" fmla="*/ 762826 w 1022681"/>
                  <a:gd name="connsiteY3" fmla="*/ 342899 h 342899"/>
                  <a:gd name="connsiteX4" fmla="*/ 0 w 1022681"/>
                  <a:gd name="connsiteY4" fmla="*/ 342899 h 34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681" h="342899">
                    <a:moveTo>
                      <a:pt x="0" y="0"/>
                    </a:moveTo>
                    <a:lnTo>
                      <a:pt x="1022681" y="0"/>
                    </a:lnTo>
                    <a:lnTo>
                      <a:pt x="1022681" y="8036"/>
                    </a:lnTo>
                    <a:lnTo>
                      <a:pt x="762826" y="342899"/>
                    </a:lnTo>
                    <a:lnTo>
                      <a:pt x="0" y="342899"/>
                    </a:lnTo>
                    <a:close/>
                  </a:path>
                </a:pathLst>
              </a:custGeom>
              <a:solidFill>
                <a:srgbClr val="BDB1D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dirty="0">
                  <a:solidFill>
                    <a:prstClr val="white"/>
                  </a:solidFill>
                  <a:latin typeface="Nexa Light"/>
                  <a:ea typeface="微软雅黑" panose="020B0503020204020204" pitchFamily="34" charset="-122"/>
                </a:endParaRPr>
              </a:p>
            </p:txBody>
          </p:sp>
          <p:sp>
            <p:nvSpPr>
              <p:cNvPr id="107" name="直角三角形 106"/>
              <p:cNvSpPr/>
              <p:nvPr/>
            </p:nvSpPr>
            <p:spPr>
              <a:xfrm flipH="1">
                <a:off x="721409" y="1359267"/>
                <a:ext cx="120797" cy="45719"/>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sp>
          <p:nvSpPr>
            <p:cNvPr id="105" name="文本框 69"/>
            <p:cNvSpPr txBox="1"/>
            <p:nvPr/>
          </p:nvSpPr>
          <p:spPr>
            <a:xfrm>
              <a:off x="9132189" y="1543282"/>
              <a:ext cx="1666652" cy="420884"/>
            </a:xfrm>
            <a:prstGeom prst="rect">
              <a:avLst/>
            </a:prstGeom>
            <a:grpFill/>
          </p:spPr>
          <p:txBody>
            <a:bodyPr wrap="square" rtlCol="0">
              <a:spAutoFit/>
            </a:bodyPr>
            <a:lstStyle/>
            <a:p>
              <a:pPr defTabSz="914400"/>
              <a:r>
                <a:rPr lang="zh-CN" altLang="en-US" sz="2135" dirty="0">
                  <a:solidFill>
                    <a:prstClr val="white"/>
                  </a:solidFill>
                  <a:latin typeface="微软雅黑" panose="020B0503020204020204" pitchFamily="34" charset="-122"/>
                  <a:ea typeface="微软雅黑" panose="020B0503020204020204" pitchFamily="34" charset="-122"/>
                </a:rPr>
                <a:t>文化互动派</a:t>
              </a:r>
              <a:endParaRPr lang="zh-CN" altLang="en-US" sz="2135" dirty="0">
                <a:solidFill>
                  <a:prstClr val="white"/>
                </a:solidFill>
                <a:latin typeface="微软雅黑" panose="020B0503020204020204" pitchFamily="34" charset="-122"/>
                <a:ea typeface="微软雅黑" panose="020B0503020204020204" pitchFamily="34" charset="-122"/>
              </a:endParaRPr>
            </a:p>
          </p:txBody>
        </p:sp>
      </p:grpSp>
      <p:grpSp>
        <p:nvGrpSpPr>
          <p:cNvPr id="108" name="组合 107"/>
          <p:cNvGrpSpPr/>
          <p:nvPr/>
        </p:nvGrpSpPr>
        <p:grpSpPr>
          <a:xfrm>
            <a:off x="852720" y="5800921"/>
            <a:ext cx="3380875" cy="733927"/>
            <a:chOff x="903169" y="5280144"/>
            <a:chExt cx="3380874" cy="733927"/>
          </a:xfrm>
          <a:solidFill>
            <a:srgbClr val="49247A"/>
          </a:solidFill>
        </p:grpSpPr>
        <p:sp>
          <p:nvSpPr>
            <p:cNvPr id="109" name="矩形 108"/>
            <p:cNvSpPr/>
            <p:nvPr/>
          </p:nvSpPr>
          <p:spPr>
            <a:xfrm>
              <a:off x="903169" y="5280144"/>
              <a:ext cx="3380874" cy="7339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10" name="文本框 70"/>
            <p:cNvSpPr txBox="1"/>
            <p:nvPr/>
          </p:nvSpPr>
          <p:spPr>
            <a:xfrm>
              <a:off x="1484153" y="5413908"/>
              <a:ext cx="2180341" cy="400110"/>
            </a:xfrm>
            <a:prstGeom prst="rect">
              <a:avLst/>
            </a:prstGeom>
            <a:grpFill/>
          </p:spPr>
          <p:txBody>
            <a:bodyPr wrap="square" rtlCol="0">
              <a:spAutoFit/>
            </a:bodyPr>
            <a:lstStyle/>
            <a:p>
              <a:pPr defTabSz="914400"/>
              <a:r>
                <a:rPr lang="zh-CN" altLang="en-US" sz="2000" dirty="0">
                  <a:solidFill>
                    <a:prstClr val="white"/>
                  </a:solidFill>
                  <a:latin typeface="微软雅黑" panose="020B0503020204020204" pitchFamily="34" charset="-122"/>
                  <a:ea typeface="微软雅黑" panose="020B0503020204020204" pitchFamily="34" charset="-122"/>
                </a:rPr>
                <a:t>损失语义完整性</a:t>
              </a: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grpSp>
        <p:nvGrpSpPr>
          <p:cNvPr id="111" name="组合 110"/>
          <p:cNvGrpSpPr/>
          <p:nvPr/>
        </p:nvGrpSpPr>
        <p:grpSpPr>
          <a:xfrm>
            <a:off x="4438131" y="5800924"/>
            <a:ext cx="3380875" cy="733927"/>
            <a:chOff x="4488580" y="5280144"/>
            <a:chExt cx="3380874" cy="733927"/>
          </a:xfrm>
          <a:solidFill>
            <a:srgbClr val="414455"/>
          </a:solidFill>
        </p:grpSpPr>
        <p:sp>
          <p:nvSpPr>
            <p:cNvPr id="112" name="矩形 111"/>
            <p:cNvSpPr/>
            <p:nvPr/>
          </p:nvSpPr>
          <p:spPr>
            <a:xfrm>
              <a:off x="4488580" y="5280144"/>
              <a:ext cx="3380874" cy="733927"/>
            </a:xfrm>
            <a:prstGeom prst="rect">
              <a:avLst/>
            </a:prstGeom>
            <a:solidFill>
              <a:srgbClr val="49247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dirty="0">
                <a:solidFill>
                  <a:prstClr val="white"/>
                </a:solidFill>
                <a:latin typeface="Nexa Light"/>
                <a:ea typeface="微软雅黑" panose="020B0503020204020204" pitchFamily="34" charset="-122"/>
              </a:endParaRPr>
            </a:p>
          </p:txBody>
        </p:sp>
        <p:sp>
          <p:nvSpPr>
            <p:cNvPr id="113" name="文本框 71"/>
            <p:cNvSpPr txBox="1"/>
            <p:nvPr/>
          </p:nvSpPr>
          <p:spPr>
            <a:xfrm>
              <a:off x="4690394" y="5413905"/>
              <a:ext cx="3103854" cy="400110"/>
            </a:xfrm>
            <a:prstGeom prst="rect">
              <a:avLst/>
            </a:prstGeom>
            <a:solidFill>
              <a:srgbClr val="49247A"/>
            </a:solidFill>
          </p:spPr>
          <p:txBody>
            <a:bodyPr wrap="square" rtlCol="0">
              <a:spAutoFit/>
            </a:bodyPr>
            <a:lstStyle/>
            <a:p>
              <a:pPr defTabSz="914400"/>
              <a:r>
                <a:rPr lang="zh-CN" altLang="en-US" sz="2000" dirty="0">
                  <a:solidFill>
                    <a:prstClr val="white"/>
                  </a:solidFill>
                  <a:latin typeface="微软雅黑" panose="020B0503020204020204" pitchFamily="34" charset="-122"/>
                  <a:ea typeface="微软雅黑" panose="020B0503020204020204" pitchFamily="34" charset="-122"/>
                </a:rPr>
                <a:t>缺乏跨诗体转换的灵活度</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grpSp>
        <p:nvGrpSpPr>
          <p:cNvPr id="114" name="组合 113"/>
          <p:cNvGrpSpPr/>
          <p:nvPr/>
        </p:nvGrpSpPr>
        <p:grpSpPr>
          <a:xfrm>
            <a:off x="8040293" y="5800920"/>
            <a:ext cx="3390903" cy="733927"/>
            <a:chOff x="8069034" y="5322296"/>
            <a:chExt cx="3380874" cy="733927"/>
          </a:xfrm>
          <a:solidFill>
            <a:srgbClr val="49247A"/>
          </a:solidFill>
        </p:grpSpPr>
        <p:sp>
          <p:nvSpPr>
            <p:cNvPr id="115" name="矩形 114"/>
            <p:cNvSpPr/>
            <p:nvPr/>
          </p:nvSpPr>
          <p:spPr>
            <a:xfrm>
              <a:off x="8069034" y="5322296"/>
              <a:ext cx="3380874" cy="7339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dirty="0">
                <a:solidFill>
                  <a:prstClr val="white"/>
                </a:solidFill>
                <a:latin typeface="Nexa Light"/>
                <a:ea typeface="微软雅黑" panose="020B0503020204020204" pitchFamily="34" charset="-122"/>
              </a:endParaRPr>
            </a:p>
          </p:txBody>
        </p:sp>
        <p:sp>
          <p:nvSpPr>
            <p:cNvPr id="116" name="文本框 72"/>
            <p:cNvSpPr txBox="1"/>
            <p:nvPr/>
          </p:nvSpPr>
          <p:spPr>
            <a:xfrm>
              <a:off x="8657613" y="5456061"/>
              <a:ext cx="2580469" cy="400110"/>
            </a:xfrm>
            <a:prstGeom prst="rect">
              <a:avLst/>
            </a:prstGeom>
            <a:grpFill/>
          </p:spPr>
          <p:txBody>
            <a:bodyPr wrap="square" rtlCol="0">
              <a:spAutoFit/>
            </a:bodyPr>
            <a:lstStyle/>
            <a:p>
              <a:pPr defTabSz="914400"/>
              <a:r>
                <a:rPr lang="zh-CN" altLang="en-US" sz="2000" dirty="0">
                  <a:solidFill>
                    <a:prstClr val="white"/>
                  </a:solidFill>
                  <a:latin typeface="微软雅黑" panose="020B0503020204020204" pitchFamily="34" charset="-122"/>
                  <a:ea typeface="微软雅黑" panose="020B0503020204020204" pitchFamily="34" charset="-122"/>
                </a:rPr>
                <a:t>暂无标准化评价体系</a:t>
              </a: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2560955" y="-1905"/>
            <a:ext cx="2078990"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9" name="矩形 8"/>
          <p:cNvSpPr/>
          <p:nvPr/>
        </p:nvSpPr>
        <p:spPr>
          <a:xfrm>
            <a:off x="852719" y="1863623"/>
            <a:ext cx="3363697" cy="4671225"/>
          </a:xfrm>
          <a:prstGeom prst="rect">
            <a:avLst/>
          </a:prstGeom>
          <a:noFill/>
          <a:ln w="28575">
            <a:solidFill>
              <a:srgbClr val="C8B0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438129" y="1863623"/>
            <a:ext cx="3363697" cy="4671225"/>
          </a:xfrm>
          <a:prstGeom prst="rect">
            <a:avLst/>
          </a:prstGeom>
          <a:noFill/>
          <a:ln w="28575">
            <a:solidFill>
              <a:srgbClr val="C8B0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057530" y="1863622"/>
            <a:ext cx="3363697" cy="4671225"/>
          </a:xfrm>
          <a:prstGeom prst="rect">
            <a:avLst/>
          </a:prstGeom>
          <a:noFill/>
          <a:ln w="28575">
            <a:solidFill>
              <a:srgbClr val="C8B0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734814" y="979527"/>
            <a:ext cx="2646878" cy="584775"/>
          </a:xfrm>
          <a:prstGeom prst="rect">
            <a:avLst/>
          </a:prstGeom>
          <a:noFill/>
        </p:spPr>
        <p:txBody>
          <a:bodyPr wrap="none" rtlCol="0">
            <a:spAutoFit/>
          </a:bodyPr>
          <a:lstStyle/>
          <a:p>
            <a:r>
              <a:rPr lang="zh-CN" altLang="en-US" sz="3200" b="1" dirty="0"/>
              <a:t>翻译理论背景</a:t>
            </a:r>
            <a:endParaRPr lang="zh-CN" altLang="en-US" sz="3200" b="1" dirty="0"/>
          </a:p>
        </p:txBody>
      </p:sp>
      <p:sp>
        <p:nvSpPr>
          <p:cNvPr id="14" name="文本框 13"/>
          <p:cNvSpPr txBox="1"/>
          <p:nvPr/>
        </p:nvSpPr>
        <p:spPr>
          <a:xfrm>
            <a:off x="911102" y="2895437"/>
            <a:ext cx="3215629" cy="2676525"/>
          </a:xfrm>
          <a:prstGeom prst="rect">
            <a:avLst/>
          </a:prstGeom>
          <a:noFill/>
        </p:spPr>
        <p:txBody>
          <a:bodyPr wrap="square" rtlCol="0">
            <a:spAutoFit/>
          </a:bodyPr>
          <a:lstStyle/>
          <a:p>
            <a:pPr marL="285750" indent="-285750">
              <a:lnSpc>
                <a:spcPct val="150000"/>
              </a:lnSpc>
              <a:buFont typeface="Wingdings" panose="05000000000000000000" pitchFamily="2" charset="2"/>
              <a:buChar char="u"/>
            </a:pPr>
            <a:r>
              <a:rPr lang="zh-CN" altLang="en-US" sz="1600" dirty="0">
                <a:latin typeface="+mn-ea"/>
              </a:rPr>
              <a:t>以尤金</a:t>
            </a:r>
            <a:r>
              <a:rPr lang="en-US" altLang="zh-CN" sz="1600" dirty="0">
                <a:latin typeface="+mn-ea"/>
              </a:rPr>
              <a:t>·</a:t>
            </a:r>
            <a:r>
              <a:rPr lang="zh-CN" altLang="en-US" sz="1600" dirty="0">
                <a:latin typeface="+mn-ea"/>
              </a:rPr>
              <a:t>奈达的“功能对等（</a:t>
            </a:r>
            <a:r>
              <a:rPr lang="en-US" altLang="zh-CN" sz="1600" dirty="0">
                <a:latin typeface="+mn-ea"/>
              </a:rPr>
              <a:t>Functional Equivalence Theory)</a:t>
            </a:r>
            <a:r>
              <a:rPr lang="zh-CN" altLang="en-US" sz="1600" dirty="0">
                <a:latin typeface="+mn-ea"/>
              </a:rPr>
              <a:t>”理论为核心</a:t>
            </a:r>
            <a:endParaRPr lang="en-US" altLang="zh-CN" sz="1600" dirty="0">
              <a:latin typeface="+mn-ea"/>
            </a:endParaRPr>
          </a:p>
          <a:p>
            <a:pPr marL="285750" indent="-285750">
              <a:lnSpc>
                <a:spcPct val="150000"/>
              </a:lnSpc>
              <a:buFont typeface="Wingdings" panose="05000000000000000000" pitchFamily="2" charset="2"/>
              <a:buChar char="u"/>
            </a:pPr>
            <a:r>
              <a:rPr lang="zh-CN" altLang="en-US" sz="1600" dirty="0">
                <a:latin typeface="+mn-ea"/>
              </a:rPr>
              <a:t>在诗歌翻译中强调“情感内核的传递优先于格律、词汇的逐字对应”</a:t>
            </a:r>
            <a:endParaRPr lang="en-US" altLang="zh-CN" sz="1600" dirty="0">
              <a:latin typeface="+mn-ea"/>
            </a:endParaRPr>
          </a:p>
          <a:p>
            <a:pPr marL="285750" indent="-285750">
              <a:lnSpc>
                <a:spcPct val="150000"/>
              </a:lnSpc>
              <a:buFont typeface="Wingdings" panose="05000000000000000000" pitchFamily="2" charset="2"/>
              <a:buChar char="u"/>
            </a:pPr>
            <a:r>
              <a:rPr lang="zh-CN" altLang="en-US" sz="1600" dirty="0">
                <a:latin typeface="+mn-ea"/>
              </a:rPr>
              <a:t>强调诗歌翻译中的“交际目的”</a:t>
            </a:r>
            <a:endParaRPr lang="zh-CN" altLang="en-US" sz="1600" dirty="0">
              <a:latin typeface="+mn-ea"/>
            </a:endParaRPr>
          </a:p>
        </p:txBody>
      </p:sp>
      <p:sp>
        <p:nvSpPr>
          <p:cNvPr id="15" name="文本框 14"/>
          <p:cNvSpPr txBox="1"/>
          <p:nvPr/>
        </p:nvSpPr>
        <p:spPr>
          <a:xfrm>
            <a:off x="4521311" y="2771971"/>
            <a:ext cx="3222250" cy="3461385"/>
          </a:xfrm>
          <a:prstGeom prst="rect">
            <a:avLst/>
          </a:prstGeom>
          <a:noFill/>
        </p:spPr>
        <p:txBody>
          <a:bodyPr wrap="square" rtlCol="0">
            <a:spAutoFit/>
          </a:bodyPr>
          <a:lstStyle/>
          <a:p>
            <a:pPr marL="285750" indent="-285750">
              <a:lnSpc>
                <a:spcPct val="150000"/>
              </a:lnSpc>
              <a:buFont typeface="Wingdings" panose="05000000000000000000" pitchFamily="2" charset="2"/>
              <a:buChar char="u"/>
            </a:pPr>
            <a:r>
              <a:rPr lang="zh-CN" altLang="en-US" sz="1600" dirty="0">
                <a:latin typeface="+mn-ea"/>
              </a:rPr>
              <a:t>以许渊冲的“三美论（</a:t>
            </a:r>
            <a:r>
              <a:rPr lang="en-US" altLang="zh-CN" sz="1600" dirty="0">
                <a:latin typeface="+mn-ea"/>
              </a:rPr>
              <a:t>the Three Beauties</a:t>
            </a:r>
            <a:r>
              <a:rPr lang="zh-CN" altLang="en-US" sz="1600" dirty="0">
                <a:latin typeface="+mn-ea"/>
              </a:rPr>
              <a:t>）”（音美、形美、意美）为代表</a:t>
            </a:r>
            <a:endParaRPr lang="zh-CN" altLang="en-US" sz="1600" dirty="0">
              <a:latin typeface="+mn-ea"/>
            </a:endParaRPr>
          </a:p>
          <a:p>
            <a:pPr marL="285750" indent="-285750">
              <a:lnSpc>
                <a:spcPct val="150000"/>
              </a:lnSpc>
              <a:buFont typeface="Wingdings" panose="05000000000000000000" pitchFamily="2" charset="2"/>
              <a:buChar char="u"/>
            </a:pPr>
            <a:r>
              <a:rPr lang="zh-CN" altLang="en-US" sz="1600" dirty="0">
                <a:latin typeface="+mn-ea"/>
              </a:rPr>
              <a:t>主张诗歌翻译需同步保留“韵律节奏的音美、句式结构的形美、意象情感的意美”</a:t>
            </a:r>
            <a:endParaRPr lang="zh-CN" altLang="en-US" sz="1600" dirty="0">
              <a:latin typeface="+mn-ea"/>
            </a:endParaRPr>
          </a:p>
          <a:p>
            <a:pPr marL="285750" indent="-285750">
              <a:lnSpc>
                <a:spcPct val="150000"/>
              </a:lnSpc>
              <a:buFont typeface="Wingdings" panose="05000000000000000000" pitchFamily="2" charset="2"/>
              <a:buChar char="u"/>
            </a:pPr>
            <a:r>
              <a:rPr lang="zh-CN" altLang="en-US" sz="1600" dirty="0">
                <a:latin typeface="+mn-ea"/>
              </a:rPr>
              <a:t>倾向于“静态保留源诗形式”而非跨文化转写</a:t>
            </a:r>
            <a:endParaRPr lang="zh-CN" altLang="en-US" sz="1600" dirty="0">
              <a:latin typeface="+mn-ea"/>
            </a:endParaRPr>
          </a:p>
          <a:p>
            <a:pPr marL="285750" indent="-285750">
              <a:lnSpc>
                <a:spcPct val="150000"/>
              </a:lnSpc>
              <a:buFont typeface="Wingdings" panose="05000000000000000000" pitchFamily="2" charset="2"/>
              <a:buChar char="u"/>
            </a:pPr>
            <a:endParaRPr lang="zh-CN" altLang="en-US" dirty="0"/>
          </a:p>
        </p:txBody>
      </p:sp>
      <p:sp>
        <p:nvSpPr>
          <p:cNvPr id="16" name="文本框 15"/>
          <p:cNvSpPr txBox="1"/>
          <p:nvPr/>
        </p:nvSpPr>
        <p:spPr>
          <a:xfrm>
            <a:off x="8131175" y="2876550"/>
            <a:ext cx="3094990" cy="2676525"/>
          </a:xfrm>
          <a:prstGeom prst="rect">
            <a:avLst/>
          </a:prstGeom>
          <a:noFill/>
        </p:spPr>
        <p:txBody>
          <a:bodyPr wrap="square" rtlCol="0">
            <a:spAutoFit/>
          </a:bodyPr>
          <a:lstStyle/>
          <a:p>
            <a:pPr marL="342900" indent="-342900" fontAlgn="auto">
              <a:lnSpc>
                <a:spcPct val="150000"/>
              </a:lnSpc>
              <a:buFont typeface="Wingdings" panose="05000000000000000000" pitchFamily="2" charset="2"/>
              <a:buChar char="u"/>
            </a:pPr>
            <a:r>
              <a:rPr lang="zh-CN" altLang="en-US" sz="1600" dirty="0">
                <a:latin typeface="+mn-ea"/>
              </a:rPr>
              <a:t>以巴斯奈特的文化本质论、勒菲弗尔的制约因素论和韦努蒂的异化</a:t>
            </a:r>
            <a:r>
              <a:rPr lang="en-US" altLang="zh-CN" sz="1600" dirty="0">
                <a:latin typeface="+mn-ea"/>
              </a:rPr>
              <a:t>-</a:t>
            </a:r>
            <a:r>
              <a:rPr lang="zh-CN" altLang="en-US" sz="1600" dirty="0">
                <a:latin typeface="+mn-ea"/>
              </a:rPr>
              <a:t>归化理论为核心</a:t>
            </a:r>
            <a:endParaRPr lang="en-US" altLang="zh-CN" sz="1600" dirty="0">
              <a:latin typeface="+mn-ea"/>
            </a:endParaRPr>
          </a:p>
          <a:p>
            <a:pPr marL="342900" indent="-342900" fontAlgn="auto">
              <a:lnSpc>
                <a:spcPct val="150000"/>
              </a:lnSpc>
              <a:buFont typeface="Wingdings" panose="05000000000000000000" pitchFamily="2" charset="2"/>
              <a:buChar char="u"/>
            </a:pPr>
            <a:r>
              <a:rPr lang="zh-CN" altLang="en-US" sz="1600" dirty="0">
                <a:latin typeface="+mn-ea"/>
              </a:rPr>
              <a:t>强调“保留文化差异”与“保证可读性”间的平衡，既保留不同文化的异质性，又兼具文化的融合性</a:t>
            </a:r>
            <a:endParaRPr lang="zh-CN" altLang="en-US" sz="16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2560955" y="-1905"/>
            <a:ext cx="2078990"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12" name="等腰三角形 11"/>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734814" y="979527"/>
            <a:ext cx="2646878" cy="584775"/>
          </a:xfrm>
          <a:prstGeom prst="rect">
            <a:avLst/>
          </a:prstGeom>
          <a:noFill/>
        </p:spPr>
        <p:txBody>
          <a:bodyPr wrap="none" rtlCol="0">
            <a:spAutoFit/>
          </a:bodyPr>
          <a:lstStyle/>
          <a:p>
            <a:r>
              <a:rPr lang="zh-CN" altLang="en-US" sz="3200" b="1" dirty="0"/>
              <a:t>翻译理论背景</a:t>
            </a:r>
            <a:endParaRPr lang="zh-CN" altLang="en-US" sz="3200" b="1" dirty="0"/>
          </a:p>
        </p:txBody>
      </p:sp>
      <p:sp>
        <p:nvSpPr>
          <p:cNvPr id="17" name="矩形: 圆顶角 16"/>
          <p:cNvSpPr/>
          <p:nvPr/>
        </p:nvSpPr>
        <p:spPr>
          <a:xfrm>
            <a:off x="660237" y="2403272"/>
            <a:ext cx="2213479" cy="584775"/>
          </a:xfrm>
          <a:prstGeom prst="round2SameRect">
            <a:avLst/>
          </a:prstGeom>
          <a:solidFill>
            <a:srgbClr val="CBC3F5"/>
          </a:solidFill>
          <a:ln>
            <a:solidFill>
              <a:srgbClr val="2D5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语义忠实派理论</a:t>
            </a:r>
            <a:endParaRPr lang="zh-CN" altLang="en-US" sz="2000" dirty="0">
              <a:solidFill>
                <a:schemeClr val="tx1"/>
              </a:solidFill>
            </a:endParaRPr>
          </a:p>
        </p:txBody>
      </p:sp>
      <p:sp>
        <p:nvSpPr>
          <p:cNvPr id="18" name="矩形: 圆顶角 17"/>
          <p:cNvSpPr/>
          <p:nvPr/>
        </p:nvSpPr>
        <p:spPr>
          <a:xfrm>
            <a:off x="660239" y="3850208"/>
            <a:ext cx="2213479" cy="584775"/>
          </a:xfrm>
          <a:prstGeom prst="round2SameRect">
            <a:avLst/>
          </a:prstGeom>
          <a:solidFill>
            <a:srgbClr val="CBC3F5"/>
          </a:solidFill>
          <a:ln>
            <a:solidFill>
              <a:srgbClr val="2D5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形式保真派理论</a:t>
            </a:r>
            <a:endParaRPr lang="zh-CN" altLang="en-US" sz="2000" dirty="0">
              <a:solidFill>
                <a:schemeClr val="tx1"/>
              </a:solidFill>
            </a:endParaRPr>
          </a:p>
        </p:txBody>
      </p:sp>
      <p:sp>
        <p:nvSpPr>
          <p:cNvPr id="19" name="矩形: 圆顶角 18"/>
          <p:cNvSpPr/>
          <p:nvPr/>
        </p:nvSpPr>
        <p:spPr>
          <a:xfrm>
            <a:off x="660236" y="5224329"/>
            <a:ext cx="2213479" cy="584775"/>
          </a:xfrm>
          <a:prstGeom prst="round2SameRect">
            <a:avLst/>
          </a:prstGeom>
          <a:solidFill>
            <a:srgbClr val="CBC3F5"/>
          </a:solidFill>
          <a:ln>
            <a:solidFill>
              <a:srgbClr val="2D5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文化互动派理论</a:t>
            </a:r>
            <a:endParaRPr lang="zh-CN" altLang="en-US" sz="2000" dirty="0">
              <a:solidFill>
                <a:schemeClr val="tx1"/>
              </a:solidFill>
            </a:endParaRPr>
          </a:p>
        </p:txBody>
      </p:sp>
      <p:sp>
        <p:nvSpPr>
          <p:cNvPr id="20" name="矩形: 圆角 19"/>
          <p:cNvSpPr/>
          <p:nvPr/>
        </p:nvSpPr>
        <p:spPr>
          <a:xfrm>
            <a:off x="4418754" y="2075325"/>
            <a:ext cx="2768246" cy="1280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对诗歌的格式、韵律还原度不够；为便于理解牺牲内涵完整性</a:t>
            </a:r>
            <a:endParaRPr lang="zh-CN" altLang="en-US" dirty="0"/>
          </a:p>
        </p:txBody>
      </p:sp>
      <p:sp>
        <p:nvSpPr>
          <p:cNvPr id="21" name="箭头: 右 20"/>
          <p:cNvSpPr/>
          <p:nvPr/>
        </p:nvSpPr>
        <p:spPr>
          <a:xfrm>
            <a:off x="3115068" y="2584431"/>
            <a:ext cx="813501" cy="247978"/>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p:cNvSpPr/>
          <p:nvPr/>
        </p:nvSpPr>
        <p:spPr>
          <a:xfrm>
            <a:off x="3115068" y="4018515"/>
            <a:ext cx="813501" cy="247978"/>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p:cNvSpPr/>
          <p:nvPr/>
        </p:nvSpPr>
        <p:spPr>
          <a:xfrm>
            <a:off x="3115218" y="5392717"/>
            <a:ext cx="813501" cy="247978"/>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418754" y="3502516"/>
            <a:ext cx="2768246" cy="1280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构建了“形式、韵律、情感”的三维翻译评估体系</a:t>
            </a:r>
            <a:endParaRPr lang="zh-CN" altLang="en-US" dirty="0"/>
          </a:p>
        </p:txBody>
      </p:sp>
      <p:sp>
        <p:nvSpPr>
          <p:cNvPr id="25" name="矩形: 圆角 24"/>
          <p:cNvSpPr/>
          <p:nvPr/>
        </p:nvSpPr>
        <p:spPr>
          <a:xfrm>
            <a:off x="4442002" y="4929707"/>
            <a:ext cx="2768246" cy="1280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在对“归化”和“异化”的辩证统一中，对意象意义做出极大保留和灵活处理</a:t>
            </a:r>
            <a:endParaRPr lang="zh-CN" altLang="en-US" dirty="0"/>
          </a:p>
        </p:txBody>
      </p:sp>
      <p:sp>
        <p:nvSpPr>
          <p:cNvPr id="26" name="矩形: 圆角 25"/>
          <p:cNvSpPr/>
          <p:nvPr/>
        </p:nvSpPr>
        <p:spPr>
          <a:xfrm>
            <a:off x="4170356" y="1762194"/>
            <a:ext cx="3315063" cy="4793675"/>
          </a:xfrm>
          <a:prstGeom prst="roundRect">
            <a:avLst/>
          </a:prstGeom>
          <a:noFill/>
          <a:ln w="28575">
            <a:solidFill>
              <a:srgbClr val="C8B0E8"/>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p:cNvSpPr/>
          <p:nvPr/>
        </p:nvSpPr>
        <p:spPr>
          <a:xfrm>
            <a:off x="8763517" y="2075325"/>
            <a:ext cx="2768246" cy="1280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转写既需追求字面等效，也需实现文化内涵适配</a:t>
            </a:r>
            <a:endParaRPr lang="zh-CN" altLang="en-US" dirty="0"/>
          </a:p>
        </p:txBody>
      </p:sp>
      <p:sp>
        <p:nvSpPr>
          <p:cNvPr id="28" name="矩形: 圆角 27"/>
          <p:cNvSpPr/>
          <p:nvPr/>
        </p:nvSpPr>
        <p:spPr>
          <a:xfrm>
            <a:off x="8782057" y="3502515"/>
            <a:ext cx="2768246" cy="1280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为构建文学文本转写大语言模型提供参考评价体系</a:t>
            </a:r>
            <a:endParaRPr lang="zh-CN" altLang="en-US" dirty="0"/>
          </a:p>
        </p:txBody>
      </p:sp>
      <p:sp>
        <p:nvSpPr>
          <p:cNvPr id="29" name="矩形: 圆角 28"/>
          <p:cNvSpPr/>
          <p:nvPr/>
        </p:nvSpPr>
        <p:spPr>
          <a:xfrm>
            <a:off x="8763517" y="4924486"/>
            <a:ext cx="2768246" cy="1280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为转写的“文化风格可控性”提供了策略依据，避免翻译中的文化霸权</a:t>
            </a:r>
            <a:endParaRPr lang="zh-CN" altLang="en-US" dirty="0"/>
          </a:p>
        </p:txBody>
      </p:sp>
      <p:sp>
        <p:nvSpPr>
          <p:cNvPr id="30" name="矩形: 圆角 29"/>
          <p:cNvSpPr/>
          <p:nvPr/>
        </p:nvSpPr>
        <p:spPr>
          <a:xfrm>
            <a:off x="8490108" y="1762193"/>
            <a:ext cx="3315063" cy="4793675"/>
          </a:xfrm>
          <a:prstGeom prst="roundRect">
            <a:avLst/>
          </a:prstGeom>
          <a:noFill/>
          <a:ln w="28575">
            <a:solidFill>
              <a:srgbClr val="C8B0E8"/>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右 30"/>
          <p:cNvSpPr/>
          <p:nvPr/>
        </p:nvSpPr>
        <p:spPr>
          <a:xfrm>
            <a:off x="7606556" y="2591416"/>
            <a:ext cx="813501" cy="247978"/>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右 31"/>
          <p:cNvSpPr/>
          <p:nvPr/>
        </p:nvSpPr>
        <p:spPr>
          <a:xfrm>
            <a:off x="7606593" y="4019150"/>
            <a:ext cx="813501" cy="247978"/>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右 32"/>
          <p:cNvSpPr/>
          <p:nvPr/>
        </p:nvSpPr>
        <p:spPr>
          <a:xfrm>
            <a:off x="7606593" y="5392717"/>
            <a:ext cx="813501" cy="247978"/>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顶角 33"/>
          <p:cNvSpPr/>
          <p:nvPr/>
        </p:nvSpPr>
        <p:spPr>
          <a:xfrm>
            <a:off x="4684340" y="1336495"/>
            <a:ext cx="2283569" cy="422153"/>
          </a:xfrm>
          <a:prstGeom prst="round2SameRect">
            <a:avLst/>
          </a:prstGeom>
          <a:solidFill>
            <a:schemeClr val="accent4">
              <a:lumMod val="20000"/>
              <a:lumOff val="80000"/>
            </a:schemeClr>
          </a:solidFill>
          <a:ln w="28575">
            <a:solidFill>
              <a:srgbClr val="C8B0E8"/>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优势或不足</a:t>
            </a:r>
            <a:endParaRPr lang="zh-CN" altLang="en-US" dirty="0">
              <a:solidFill>
                <a:schemeClr val="tx1"/>
              </a:solidFill>
            </a:endParaRPr>
          </a:p>
        </p:txBody>
      </p:sp>
      <p:sp>
        <p:nvSpPr>
          <p:cNvPr id="35" name="矩形: 圆顶角 34"/>
          <p:cNvSpPr/>
          <p:nvPr/>
        </p:nvSpPr>
        <p:spPr>
          <a:xfrm>
            <a:off x="9005854" y="1337009"/>
            <a:ext cx="2283569" cy="422153"/>
          </a:xfrm>
          <a:prstGeom prst="round2SameRect">
            <a:avLst/>
          </a:prstGeom>
          <a:solidFill>
            <a:schemeClr val="accent4">
              <a:lumMod val="20000"/>
              <a:lumOff val="80000"/>
            </a:schemeClr>
          </a:solidFill>
          <a:ln w="28575">
            <a:solidFill>
              <a:srgbClr val="C8B0E8"/>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对诗歌转写的借鉴</a:t>
            </a:r>
            <a:endParaRPr lang="zh-CN" altLang="en-US"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2560955" y="-1905"/>
            <a:ext cx="2078990"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12" name="等腰三角形 11"/>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734814" y="979527"/>
            <a:ext cx="1826141" cy="584775"/>
          </a:xfrm>
          <a:prstGeom prst="rect">
            <a:avLst/>
          </a:prstGeom>
          <a:noFill/>
        </p:spPr>
        <p:txBody>
          <a:bodyPr wrap="none" rtlCol="0">
            <a:spAutoFit/>
          </a:bodyPr>
          <a:lstStyle/>
          <a:p>
            <a:r>
              <a:rPr lang="zh-CN" altLang="en-US" sz="3200" b="1" dirty="0"/>
              <a:t>技术背景</a:t>
            </a:r>
            <a:endParaRPr lang="zh-CN" altLang="en-US" sz="3200" b="1" dirty="0"/>
          </a:p>
        </p:txBody>
      </p:sp>
      <p:sp>
        <p:nvSpPr>
          <p:cNvPr id="10" name="矩形: 圆角 9"/>
          <p:cNvSpPr/>
          <p:nvPr/>
        </p:nvSpPr>
        <p:spPr>
          <a:xfrm>
            <a:off x="834390" y="1745615"/>
            <a:ext cx="4146550" cy="4694555"/>
          </a:xfrm>
          <a:prstGeom prst="roundRect">
            <a:avLst>
              <a:gd name="adj" fmla="val 5515"/>
            </a:avLst>
          </a:prstGeom>
          <a:noFill/>
          <a:ln w="28575">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881483" y="3875131"/>
            <a:ext cx="4052528" cy="0"/>
          </a:xfrm>
          <a:prstGeom prst="line">
            <a:avLst/>
          </a:prstGeom>
          <a:ln w="28575">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53135" y="1804670"/>
            <a:ext cx="3879850" cy="1938020"/>
          </a:xfrm>
          <a:prstGeom prst="rect">
            <a:avLst/>
          </a:prstGeom>
          <a:noFill/>
        </p:spPr>
        <p:txBody>
          <a:bodyPr wrap="square" rtlCol="0">
            <a:spAutoFit/>
          </a:bodyPr>
          <a:lstStyle/>
          <a:p>
            <a:pPr>
              <a:lnSpc>
                <a:spcPct val="150000"/>
              </a:lnSpc>
            </a:pPr>
            <a:r>
              <a:rPr lang="zh-CN" altLang="en-US" sz="2000" b="1" dirty="0">
                <a:latin typeface="+mn-ea"/>
              </a:rPr>
              <a:t>统计机器翻译</a:t>
            </a:r>
            <a:r>
              <a:rPr lang="en-US" altLang="zh-CN" sz="2000" b="1" dirty="0">
                <a:latin typeface="+mn-ea"/>
              </a:rPr>
              <a:t>SMT</a:t>
            </a:r>
            <a:r>
              <a:rPr lang="zh-CN" altLang="en-US" sz="2000" b="1" dirty="0">
                <a:latin typeface="+mn-ea"/>
              </a:rPr>
              <a:t>：</a:t>
            </a:r>
            <a:endParaRPr lang="en-US" altLang="zh-CN" sz="2000" b="1" dirty="0">
              <a:latin typeface="+mn-ea"/>
            </a:endParaRPr>
          </a:p>
          <a:p>
            <a:pPr marL="342900" indent="-342900">
              <a:lnSpc>
                <a:spcPct val="150000"/>
              </a:lnSpc>
              <a:buFont typeface="Wingdings" panose="05000000000000000000" pitchFamily="2" charset="2"/>
              <a:buChar char="u"/>
            </a:pPr>
            <a:r>
              <a:rPr lang="zh-CN" altLang="en-US" sz="2000" dirty="0">
                <a:latin typeface="+mn-ea"/>
              </a:rPr>
              <a:t>依赖大规模平行语料库统计</a:t>
            </a:r>
            <a:endParaRPr lang="zh-CN" altLang="en-US" sz="2000" dirty="0">
              <a:latin typeface="+mn-ea"/>
            </a:endParaRPr>
          </a:p>
          <a:p>
            <a:pPr indent="0">
              <a:lnSpc>
                <a:spcPct val="150000"/>
              </a:lnSpc>
              <a:buFont typeface="Wingdings" panose="05000000000000000000" pitchFamily="2" charset="2"/>
              <a:buNone/>
            </a:pPr>
            <a:r>
              <a:rPr lang="en-US" altLang="zh-CN" sz="2000" dirty="0">
                <a:latin typeface="+mn-ea"/>
              </a:rPr>
              <a:t>     </a:t>
            </a:r>
            <a:r>
              <a:rPr lang="zh-CN" altLang="en-US" sz="2000" dirty="0">
                <a:latin typeface="+mn-ea"/>
              </a:rPr>
              <a:t>词汇特征</a:t>
            </a:r>
            <a:endParaRPr lang="zh-CN" altLang="en-US" sz="2000" dirty="0">
              <a:latin typeface="+mn-ea"/>
            </a:endParaRPr>
          </a:p>
          <a:p>
            <a:pPr marL="342900" indent="-342900">
              <a:lnSpc>
                <a:spcPct val="150000"/>
              </a:lnSpc>
              <a:buFont typeface="Wingdings" panose="05000000000000000000" pitchFamily="2" charset="2"/>
              <a:buChar char="u"/>
            </a:pPr>
            <a:r>
              <a:rPr lang="en-US" altLang="zh-CN" sz="2000" dirty="0">
                <a:latin typeface="+mn-ea"/>
              </a:rPr>
              <a:t>句子对齐</a:t>
            </a:r>
            <a:r>
              <a:rPr lang="zh-CN" altLang="en-US" sz="2000" dirty="0">
                <a:latin typeface="+mn-ea"/>
              </a:rPr>
              <a:t>，建立语义对应关系</a:t>
            </a:r>
            <a:endParaRPr lang="zh-CN" altLang="en-US" sz="2000" dirty="0">
              <a:latin typeface="+mn-ea"/>
            </a:endParaRPr>
          </a:p>
        </p:txBody>
      </p:sp>
      <p:sp>
        <p:nvSpPr>
          <p:cNvPr id="36" name="文本框 35"/>
          <p:cNvSpPr txBox="1"/>
          <p:nvPr/>
        </p:nvSpPr>
        <p:spPr>
          <a:xfrm>
            <a:off x="953770" y="3935095"/>
            <a:ext cx="3879215" cy="2399665"/>
          </a:xfrm>
          <a:prstGeom prst="rect">
            <a:avLst/>
          </a:prstGeom>
          <a:noFill/>
        </p:spPr>
        <p:txBody>
          <a:bodyPr wrap="square" rtlCol="0">
            <a:spAutoFit/>
          </a:bodyPr>
          <a:lstStyle/>
          <a:p>
            <a:pPr>
              <a:lnSpc>
                <a:spcPct val="150000"/>
              </a:lnSpc>
            </a:pPr>
            <a:r>
              <a:rPr lang="zh-CN" altLang="en-US" sz="2000" b="1" dirty="0">
                <a:latin typeface="+mn-ea"/>
              </a:rPr>
              <a:t>关键瓶颈：</a:t>
            </a:r>
            <a:endParaRPr lang="en-US" altLang="zh-CN" sz="2000" b="1" dirty="0">
              <a:latin typeface="+mn-ea"/>
            </a:endParaRPr>
          </a:p>
          <a:p>
            <a:pPr marL="342900" indent="-342900">
              <a:lnSpc>
                <a:spcPct val="150000"/>
              </a:lnSpc>
              <a:buFont typeface="Wingdings" panose="05000000000000000000" pitchFamily="2" charset="2"/>
              <a:buChar char="u"/>
            </a:pPr>
            <a:r>
              <a:rPr lang="zh-CN" altLang="en-US" sz="2000" dirty="0">
                <a:latin typeface="+mn-ea"/>
              </a:rPr>
              <a:t>语料库构建困难：对语料规模和质量的依赖</a:t>
            </a:r>
            <a:endParaRPr lang="zh-CN" altLang="en-US" sz="2000" dirty="0">
              <a:latin typeface="+mn-ea"/>
            </a:endParaRPr>
          </a:p>
          <a:p>
            <a:pPr marL="342900" indent="-342900">
              <a:lnSpc>
                <a:spcPct val="150000"/>
              </a:lnSpc>
              <a:buFont typeface="Wingdings" panose="05000000000000000000" pitchFamily="2" charset="2"/>
              <a:buChar char="u"/>
            </a:pPr>
            <a:r>
              <a:rPr lang="zh-CN" altLang="en-US" sz="2000" dirty="0">
                <a:latin typeface="+mn-ea"/>
              </a:rPr>
              <a:t>文化适配缺失：直译内容，</a:t>
            </a:r>
            <a:endParaRPr lang="zh-CN" altLang="en-US" sz="2000" dirty="0">
              <a:latin typeface="+mn-ea"/>
            </a:endParaRPr>
          </a:p>
          <a:p>
            <a:pPr indent="0">
              <a:lnSpc>
                <a:spcPct val="150000"/>
              </a:lnSpc>
              <a:buFont typeface="Wingdings" panose="05000000000000000000" pitchFamily="2" charset="2"/>
              <a:buNone/>
            </a:pPr>
            <a:r>
              <a:rPr lang="en-US" altLang="zh-CN" sz="2000" dirty="0">
                <a:latin typeface="+mn-ea"/>
              </a:rPr>
              <a:t>    </a:t>
            </a:r>
            <a:r>
              <a:rPr lang="zh-CN" altLang="en-US" sz="2000" dirty="0">
                <a:latin typeface="+mn-ea"/>
              </a:rPr>
              <a:t>不便读者理解诗歌深刻意蕴</a:t>
            </a:r>
            <a:endParaRPr lang="zh-CN" altLang="en-US" sz="2000" dirty="0">
              <a:latin typeface="+mn-ea"/>
            </a:endParaRPr>
          </a:p>
        </p:txBody>
      </p:sp>
      <p:pic>
        <p:nvPicPr>
          <p:cNvPr id="45" name="图片 44"/>
          <p:cNvPicPr>
            <a:picLocks noChangeAspect="1"/>
          </p:cNvPicPr>
          <p:nvPr/>
        </p:nvPicPr>
        <p:blipFill>
          <a:blip r:embed="rId4"/>
          <a:stretch>
            <a:fillRect/>
          </a:stretch>
        </p:blipFill>
        <p:spPr>
          <a:xfrm>
            <a:off x="5409565" y="2063750"/>
            <a:ext cx="6306820" cy="35274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2560955" y="-1905"/>
            <a:ext cx="2078990"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12" name="等腰三角形 11"/>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734814" y="979527"/>
            <a:ext cx="1826141" cy="584775"/>
          </a:xfrm>
          <a:prstGeom prst="rect">
            <a:avLst/>
          </a:prstGeom>
          <a:noFill/>
        </p:spPr>
        <p:txBody>
          <a:bodyPr wrap="none" rtlCol="0">
            <a:spAutoFit/>
          </a:bodyPr>
          <a:lstStyle/>
          <a:p>
            <a:r>
              <a:rPr lang="zh-CN" altLang="en-US" sz="3200" b="1" dirty="0"/>
              <a:t>技术背景</a:t>
            </a:r>
            <a:endParaRPr lang="zh-CN" altLang="en-US" sz="3200" b="1" dirty="0"/>
          </a:p>
        </p:txBody>
      </p:sp>
      <p:pic>
        <p:nvPicPr>
          <p:cNvPr id="9" name="图片 8"/>
          <p:cNvPicPr>
            <a:picLocks noChangeAspect="1"/>
          </p:cNvPicPr>
          <p:nvPr/>
        </p:nvPicPr>
        <p:blipFill>
          <a:blip r:embed="rId4"/>
          <a:srcRect b="46539"/>
          <a:stretch>
            <a:fillRect/>
          </a:stretch>
        </p:blipFill>
        <p:spPr>
          <a:xfrm>
            <a:off x="5887720" y="2169160"/>
            <a:ext cx="5864225" cy="3563620"/>
          </a:xfrm>
          <a:prstGeom prst="rect">
            <a:avLst/>
          </a:prstGeom>
        </p:spPr>
      </p:pic>
      <p:sp>
        <p:nvSpPr>
          <p:cNvPr id="11" name="矩形: 圆角 9"/>
          <p:cNvSpPr/>
          <p:nvPr/>
        </p:nvSpPr>
        <p:spPr>
          <a:xfrm>
            <a:off x="967105" y="4366260"/>
            <a:ext cx="4467860" cy="1966595"/>
          </a:xfrm>
          <a:prstGeom prst="roundRect">
            <a:avLst>
              <a:gd name="adj" fmla="val 5515"/>
            </a:avLst>
          </a:prstGeom>
          <a:noFill/>
          <a:ln w="28575">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078865" y="1889760"/>
            <a:ext cx="3879850" cy="2399665"/>
          </a:xfrm>
          <a:prstGeom prst="rect">
            <a:avLst/>
          </a:prstGeom>
          <a:noFill/>
        </p:spPr>
        <p:txBody>
          <a:bodyPr wrap="square" rtlCol="0">
            <a:spAutoFit/>
          </a:bodyPr>
          <a:lstStyle/>
          <a:p>
            <a:pPr>
              <a:lnSpc>
                <a:spcPct val="150000"/>
              </a:lnSpc>
            </a:pPr>
            <a:r>
              <a:rPr lang="zh-CN" altLang="en-US" sz="2000" b="1" dirty="0">
                <a:latin typeface="+mn-ea"/>
                <a:sym typeface="+mn-ea"/>
              </a:rPr>
              <a:t>大语言模型</a:t>
            </a:r>
            <a:r>
              <a:rPr lang="en-US" altLang="zh-CN" sz="2000" b="1" dirty="0">
                <a:latin typeface="+mn-ea"/>
                <a:sym typeface="+mn-ea"/>
              </a:rPr>
              <a:t>LLMs</a:t>
            </a:r>
            <a:r>
              <a:rPr lang="zh-CN" altLang="en-US" sz="2000" b="1" dirty="0">
                <a:latin typeface="+mn-ea"/>
                <a:sym typeface="+mn-ea"/>
              </a:rPr>
              <a:t>：</a:t>
            </a:r>
            <a:endParaRPr lang="en-US" altLang="zh-CN" sz="2000" b="1" dirty="0">
              <a:latin typeface="+mn-ea"/>
            </a:endParaRPr>
          </a:p>
          <a:p>
            <a:pPr marL="342900" indent="-342900">
              <a:lnSpc>
                <a:spcPct val="150000"/>
              </a:lnSpc>
              <a:buFont typeface="Wingdings" panose="05000000000000000000" pitchFamily="2" charset="2"/>
              <a:buChar char="u"/>
            </a:pPr>
            <a:r>
              <a:rPr lang="zh-CN" altLang="en-US" sz="2000" dirty="0">
                <a:latin typeface="+mn-ea"/>
                <a:sym typeface="+mn-ea"/>
              </a:rPr>
              <a:t>海量多样化无标注文本学习</a:t>
            </a:r>
            <a:endParaRPr lang="en-US" altLang="zh-CN" sz="2000" dirty="0">
              <a:latin typeface="+mn-ea"/>
            </a:endParaRPr>
          </a:p>
          <a:p>
            <a:pPr marL="342900" indent="-342900">
              <a:lnSpc>
                <a:spcPct val="150000"/>
              </a:lnSpc>
              <a:buFont typeface="Wingdings" panose="05000000000000000000" pitchFamily="2" charset="2"/>
              <a:buChar char="u"/>
            </a:pPr>
            <a:r>
              <a:rPr lang="zh-CN" altLang="en-US" sz="2000" dirty="0">
                <a:latin typeface="+mn-ea"/>
                <a:sym typeface="+mn-ea"/>
              </a:rPr>
              <a:t>对用户友好，支持文化风格向量定制与微调</a:t>
            </a:r>
            <a:endParaRPr lang="en-US" altLang="zh-CN" sz="2000" dirty="0">
              <a:latin typeface="+mn-ea"/>
            </a:endParaRPr>
          </a:p>
          <a:p>
            <a:pPr>
              <a:lnSpc>
                <a:spcPct val="150000"/>
              </a:lnSpc>
            </a:pPr>
            <a:endParaRPr lang="zh-CN" altLang="en-US" sz="2000" dirty="0">
              <a:latin typeface="+mn-ea"/>
            </a:endParaRPr>
          </a:p>
        </p:txBody>
      </p:sp>
      <p:sp>
        <p:nvSpPr>
          <p:cNvPr id="18" name="文本框 17"/>
          <p:cNvSpPr txBox="1"/>
          <p:nvPr/>
        </p:nvSpPr>
        <p:spPr>
          <a:xfrm>
            <a:off x="1261745" y="4566285"/>
            <a:ext cx="3879215" cy="1476375"/>
          </a:xfrm>
          <a:prstGeom prst="rect">
            <a:avLst/>
          </a:prstGeom>
          <a:noFill/>
        </p:spPr>
        <p:txBody>
          <a:bodyPr wrap="square" rtlCol="0">
            <a:spAutoFit/>
          </a:bodyPr>
          <a:lstStyle/>
          <a:p>
            <a:pPr>
              <a:lnSpc>
                <a:spcPct val="150000"/>
              </a:lnSpc>
            </a:pPr>
            <a:r>
              <a:rPr lang="zh-CN" altLang="en-US" sz="2000" b="1" dirty="0">
                <a:latin typeface="+mn-ea"/>
                <a:sym typeface="+mn-ea"/>
              </a:rPr>
              <a:t>关键瓶颈：</a:t>
            </a:r>
            <a:endParaRPr lang="en-US" altLang="zh-CN" sz="2000" b="1" dirty="0">
              <a:latin typeface="+mn-ea"/>
            </a:endParaRPr>
          </a:p>
          <a:p>
            <a:pPr marL="342900" indent="-342900">
              <a:lnSpc>
                <a:spcPct val="150000"/>
              </a:lnSpc>
              <a:buFont typeface="Wingdings" panose="05000000000000000000" pitchFamily="2" charset="2"/>
              <a:buChar char="u"/>
            </a:pPr>
            <a:r>
              <a:rPr lang="zh-CN" altLang="en-US" sz="2000" dirty="0">
                <a:latin typeface="+mn-ea"/>
                <a:sym typeface="+mn-ea"/>
              </a:rPr>
              <a:t>缺乏科学客观的成果评估体系</a:t>
            </a:r>
            <a:endParaRPr lang="en-US" altLang="zh-CN" sz="2000" dirty="0">
              <a:latin typeface="+mn-ea"/>
            </a:endParaRPr>
          </a:p>
          <a:p>
            <a:pPr marL="342900" indent="-342900">
              <a:lnSpc>
                <a:spcPct val="150000"/>
              </a:lnSpc>
              <a:buFont typeface="Wingdings" panose="05000000000000000000" pitchFamily="2" charset="2"/>
              <a:buChar char="u"/>
            </a:pPr>
            <a:r>
              <a:rPr lang="zh-CN" sz="2000" dirty="0">
                <a:latin typeface="+mn-ea"/>
                <a:sym typeface="+mn-ea"/>
              </a:rPr>
              <a:t>依赖</a:t>
            </a:r>
            <a:r>
              <a:rPr lang="en-US" altLang="zh-CN" sz="2000" dirty="0">
                <a:latin typeface="+mn-ea"/>
                <a:sym typeface="+mn-ea"/>
              </a:rPr>
              <a:t>Prompt</a:t>
            </a:r>
            <a:r>
              <a:rPr lang="zh-CN" altLang="en-US" sz="2000" dirty="0">
                <a:latin typeface="+mn-ea"/>
                <a:sym typeface="+mn-ea"/>
              </a:rPr>
              <a:t>产出结果</a:t>
            </a:r>
            <a:endParaRPr lang="zh-CN" altLang="en-US" sz="2000" dirty="0">
              <a:latin typeface="+mn-ea"/>
            </a:endParaRPr>
          </a:p>
        </p:txBody>
      </p:sp>
      <p:sp>
        <p:nvSpPr>
          <p:cNvPr id="19" name="矩形: 圆角 9"/>
          <p:cNvSpPr/>
          <p:nvPr/>
        </p:nvSpPr>
        <p:spPr>
          <a:xfrm>
            <a:off x="967105" y="1889760"/>
            <a:ext cx="4467860" cy="1991360"/>
          </a:xfrm>
          <a:prstGeom prst="roundRect">
            <a:avLst>
              <a:gd name="adj" fmla="val 5515"/>
            </a:avLst>
          </a:prstGeom>
          <a:noFill/>
          <a:ln w="28575">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2560955" y="-1905"/>
            <a:ext cx="2078990"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12" name="等腰三角形 11"/>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734814" y="979527"/>
            <a:ext cx="2646878" cy="584775"/>
          </a:xfrm>
          <a:prstGeom prst="rect">
            <a:avLst/>
          </a:prstGeom>
          <a:noFill/>
        </p:spPr>
        <p:txBody>
          <a:bodyPr wrap="none" rtlCol="0">
            <a:spAutoFit/>
          </a:bodyPr>
          <a:lstStyle/>
          <a:p>
            <a:r>
              <a:rPr lang="zh-CN" altLang="en-US" sz="3200" b="1" dirty="0"/>
              <a:t>行业研究现状</a:t>
            </a:r>
            <a:endParaRPr lang="zh-CN" altLang="en-US" sz="3200" b="1" dirty="0"/>
          </a:p>
        </p:txBody>
      </p:sp>
      <p:pic>
        <p:nvPicPr>
          <p:cNvPr id="11" name="图片 10"/>
          <p:cNvPicPr>
            <a:picLocks noChangeAspect="1"/>
          </p:cNvPicPr>
          <p:nvPr/>
        </p:nvPicPr>
        <p:blipFill>
          <a:blip r:embed="rId4"/>
          <a:stretch>
            <a:fillRect/>
          </a:stretch>
        </p:blipFill>
        <p:spPr>
          <a:xfrm>
            <a:off x="426085" y="1864360"/>
            <a:ext cx="7750810" cy="4637405"/>
          </a:xfrm>
          <a:prstGeom prst="rect">
            <a:avLst/>
          </a:prstGeom>
        </p:spPr>
      </p:pic>
      <p:sp>
        <p:nvSpPr>
          <p:cNvPr id="15" name="矩形: 圆角 14"/>
          <p:cNvSpPr/>
          <p:nvPr/>
        </p:nvSpPr>
        <p:spPr>
          <a:xfrm>
            <a:off x="8399145" y="2044065"/>
            <a:ext cx="3582670" cy="684530"/>
          </a:xfrm>
          <a:prstGeom prst="roundRect">
            <a:avLst>
              <a:gd name="adj" fmla="val 235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初步具备转写诗歌风格可控性</a:t>
            </a:r>
            <a:endParaRPr lang="zh-CN" altLang="en-US" sz="2000" dirty="0"/>
          </a:p>
        </p:txBody>
      </p:sp>
      <p:sp>
        <p:nvSpPr>
          <p:cNvPr id="18" name="矩形: 圆角 17"/>
          <p:cNvSpPr/>
          <p:nvPr/>
        </p:nvSpPr>
        <p:spPr>
          <a:xfrm>
            <a:off x="8399780" y="3409950"/>
            <a:ext cx="3582670" cy="756285"/>
          </a:xfrm>
          <a:prstGeom prst="roundRect">
            <a:avLst>
              <a:gd name="adj" fmla="val 235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在文化和语境理解方面</a:t>
            </a:r>
            <a:endParaRPr lang="zh-CN" altLang="en-US" sz="2000" dirty="0"/>
          </a:p>
          <a:p>
            <a:pPr algn="ctr"/>
            <a:r>
              <a:rPr lang="zh-CN" altLang="en-US" sz="2000" dirty="0"/>
              <a:t>尚待提升</a:t>
            </a:r>
            <a:endParaRPr lang="zh-CN" altLang="en-US" sz="2000" dirty="0"/>
          </a:p>
        </p:txBody>
      </p:sp>
      <p:sp>
        <p:nvSpPr>
          <p:cNvPr id="19" name="矩形: 圆角 18"/>
          <p:cNvSpPr/>
          <p:nvPr/>
        </p:nvSpPr>
        <p:spPr>
          <a:xfrm>
            <a:off x="8400415" y="4919345"/>
            <a:ext cx="3582035" cy="765810"/>
          </a:xfrm>
          <a:prstGeom prst="roundRect">
            <a:avLst>
              <a:gd name="adj" fmla="val 235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并未改变依赖指令（</a:t>
            </a:r>
            <a:r>
              <a:rPr lang="en-US" altLang="zh-CN" sz="2000" dirty="0"/>
              <a:t>Prompt</a:t>
            </a:r>
            <a:r>
              <a:rPr lang="zh-CN" altLang="en-US" sz="2000" dirty="0"/>
              <a:t>）生成文本的现有机制</a:t>
            </a:r>
            <a:endParaRPr lang="zh-CN" altLang="en-US" sz="2000" dirty="0"/>
          </a:p>
        </p:txBody>
      </p:sp>
      <p:sp>
        <p:nvSpPr>
          <p:cNvPr id="22" name="文本框 21"/>
          <p:cNvSpPr txBox="1"/>
          <p:nvPr/>
        </p:nvSpPr>
        <p:spPr>
          <a:xfrm>
            <a:off x="3600450" y="1117648"/>
            <a:ext cx="6094948" cy="400110"/>
          </a:xfrm>
          <a:prstGeom prst="rect">
            <a:avLst/>
          </a:prstGeom>
          <a:noFill/>
        </p:spPr>
        <p:txBody>
          <a:bodyPr wrap="square">
            <a:spAutoFit/>
          </a:bodyPr>
          <a:lstStyle/>
          <a:p>
            <a:r>
              <a:rPr lang="en-US" altLang="zh-CN" sz="2000" b="1" dirty="0">
                <a:latin typeface="+mn-ea"/>
              </a:rPr>
              <a:t>https://linnk.ai/zh/tools/poetry-translator/</a:t>
            </a:r>
            <a:endParaRPr lang="zh-CN" altLang="en-US" sz="2000" b="1"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2560955" y="-1905"/>
            <a:ext cx="2078990"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12" name="等腰三角形 11"/>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734814" y="979527"/>
            <a:ext cx="4288353" cy="584775"/>
          </a:xfrm>
          <a:prstGeom prst="rect">
            <a:avLst/>
          </a:prstGeom>
          <a:noFill/>
        </p:spPr>
        <p:txBody>
          <a:bodyPr wrap="none" rtlCol="0">
            <a:spAutoFit/>
          </a:bodyPr>
          <a:lstStyle/>
          <a:p>
            <a:r>
              <a:rPr lang="zh-CN" altLang="en-US" sz="3200" b="1" dirty="0"/>
              <a:t>现有研究中暴露的问题</a:t>
            </a:r>
            <a:endParaRPr lang="zh-CN" altLang="en-US" sz="3200" b="1" dirty="0"/>
          </a:p>
        </p:txBody>
      </p:sp>
      <p:sp>
        <p:nvSpPr>
          <p:cNvPr id="2" name="矩形: 单圆角 1"/>
          <p:cNvSpPr/>
          <p:nvPr/>
        </p:nvSpPr>
        <p:spPr>
          <a:xfrm>
            <a:off x="878249" y="2155965"/>
            <a:ext cx="9952470" cy="608968"/>
          </a:xfrm>
          <a:prstGeom prst="round1Rect">
            <a:avLst>
              <a:gd name="adj" fmla="val 50000"/>
            </a:avLst>
          </a:prstGeom>
          <a:noFill/>
          <a:ln w="28575">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893250" y="2261029"/>
            <a:ext cx="8020685" cy="398780"/>
          </a:xfrm>
          <a:prstGeom prst="rect">
            <a:avLst/>
          </a:prstGeom>
          <a:noFill/>
        </p:spPr>
        <p:txBody>
          <a:bodyPr wrap="none" rtlCol="0">
            <a:spAutoFit/>
          </a:bodyPr>
          <a:lstStyle/>
          <a:p>
            <a:pPr algn="ctr"/>
            <a:r>
              <a:rPr lang="zh-CN" altLang="en-US" sz="2000" dirty="0">
                <a:latin typeface="+mn-ea"/>
              </a:rPr>
              <a:t>缺少文化风格的显式建模，依赖</a:t>
            </a:r>
            <a:r>
              <a:rPr lang="en-US" altLang="zh-CN" sz="2000" dirty="0">
                <a:latin typeface="+mn-ea"/>
              </a:rPr>
              <a:t>Prompt </a:t>
            </a:r>
            <a:r>
              <a:rPr lang="zh-CN" altLang="en-US" sz="2000" dirty="0">
                <a:latin typeface="+mn-ea"/>
              </a:rPr>
              <a:t>生成具备概率性生成的随机性</a:t>
            </a:r>
            <a:endParaRPr lang="zh-CN" altLang="en-US" sz="2000" dirty="0">
              <a:latin typeface="+mn-ea"/>
            </a:endParaRPr>
          </a:p>
        </p:txBody>
      </p:sp>
      <p:sp>
        <p:nvSpPr>
          <p:cNvPr id="10" name="矩形: 单圆角 9"/>
          <p:cNvSpPr/>
          <p:nvPr/>
        </p:nvSpPr>
        <p:spPr>
          <a:xfrm>
            <a:off x="878249" y="3705158"/>
            <a:ext cx="9952470" cy="608968"/>
          </a:xfrm>
          <a:prstGeom prst="round1Rect">
            <a:avLst>
              <a:gd name="adj" fmla="val 50000"/>
            </a:avLst>
          </a:prstGeom>
          <a:noFill/>
          <a:ln w="28575">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2926712" y="3680430"/>
            <a:ext cx="5556885" cy="553085"/>
          </a:xfrm>
          <a:prstGeom prst="rect">
            <a:avLst/>
          </a:prstGeom>
          <a:noFill/>
        </p:spPr>
        <p:txBody>
          <a:bodyPr wrap="none" rtlCol="0">
            <a:spAutoFit/>
          </a:bodyPr>
          <a:lstStyle/>
          <a:p>
            <a:pPr indent="0" algn="l" fontAlgn="auto">
              <a:lnSpc>
                <a:spcPct val="150000"/>
              </a:lnSpc>
            </a:pPr>
            <a:r>
              <a:rPr lang="zh-CN" altLang="en-US" sz="2000">
                <a:sym typeface="+mn-ea"/>
              </a:rPr>
              <a:t>传统</a:t>
            </a:r>
            <a:r>
              <a:rPr lang="en-US" altLang="zh-CN" sz="2000">
                <a:sym typeface="+mn-ea"/>
              </a:rPr>
              <a:t>“</a:t>
            </a:r>
            <a:r>
              <a:rPr lang="zh-CN" altLang="en-US" sz="2000">
                <a:sym typeface="+mn-ea"/>
              </a:rPr>
              <a:t>先翻译再生成</a:t>
            </a:r>
            <a:r>
              <a:rPr lang="en-US" altLang="zh-CN" sz="2000">
                <a:sym typeface="+mn-ea"/>
              </a:rPr>
              <a:t>”</a:t>
            </a:r>
            <a:r>
              <a:rPr lang="zh-CN" altLang="en-US" sz="2000">
                <a:sym typeface="+mn-ea"/>
              </a:rPr>
              <a:t>导致的语义损耗与形式断裂</a:t>
            </a:r>
            <a:endParaRPr sz="2000" dirty="0">
              <a:latin typeface="+mn-ea"/>
            </a:endParaRPr>
          </a:p>
        </p:txBody>
      </p:sp>
      <p:sp>
        <p:nvSpPr>
          <p:cNvPr id="16" name="矩形: 单圆角 15"/>
          <p:cNvSpPr/>
          <p:nvPr/>
        </p:nvSpPr>
        <p:spPr>
          <a:xfrm>
            <a:off x="878329" y="5253716"/>
            <a:ext cx="9952470" cy="608968"/>
          </a:xfrm>
          <a:prstGeom prst="round1Rect">
            <a:avLst>
              <a:gd name="adj" fmla="val 50000"/>
            </a:avLst>
          </a:prstGeom>
          <a:noFill/>
          <a:ln w="28575">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747517" y="5359415"/>
            <a:ext cx="8310880" cy="398780"/>
          </a:xfrm>
          <a:prstGeom prst="rect">
            <a:avLst/>
          </a:prstGeom>
          <a:noFill/>
        </p:spPr>
        <p:txBody>
          <a:bodyPr wrap="none" rtlCol="0">
            <a:spAutoFit/>
          </a:bodyPr>
          <a:lstStyle/>
          <a:p>
            <a:pPr algn="l"/>
            <a:r>
              <a:rPr lang="zh-CN" altLang="en-US" sz="2000" dirty="0">
                <a:latin typeface="+mn-ea"/>
              </a:rPr>
              <a:t>跨文化传播中“文化霸权”现象渗透严重，</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现有主流语种方面的研究更多</a:t>
            </a:r>
            <a:endParaRPr lang="zh-CN" altLang="en-US" sz="20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96" name="矩形 20"/>
          <p:cNvSpPr>
            <a:spLocks noChangeArrowheads="1"/>
          </p:cNvSpPr>
          <p:nvPr/>
        </p:nvSpPr>
        <p:spPr bwMode="auto">
          <a:xfrm>
            <a:off x="4786630" y="-1905"/>
            <a:ext cx="2078990"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97" name="组合 7"/>
          <p:cNvGrpSpPr/>
          <p:nvPr/>
        </p:nvGrpSpPr>
        <p:grpSpPr bwMode="auto">
          <a:xfrm>
            <a:off x="1826685" y="141817"/>
            <a:ext cx="1773767" cy="601895"/>
            <a:chOff x="0" y="0"/>
            <a:chExt cx="1329556" cy="451276"/>
          </a:xfrm>
        </p:grpSpPr>
        <p:sp>
          <p:nvSpPr>
            <p:cNvPr id="98"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99"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0" name="TextBox 16">
            <a:hlinkHover r:id="rId1" action="ppaction://hlinksldjump"/>
          </p:cNvPr>
          <p:cNvSpPr>
            <a:spLocks noChangeArrowheads="1"/>
          </p:cNvSpPr>
          <p:nvPr/>
        </p:nvSpPr>
        <p:spPr bwMode="auto">
          <a:xfrm>
            <a:off x="2838240" y="24172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1"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2" name="TextBox 18">
            <a:hlinkHover r:id="rId1" action="ppaction://hlinksldjump"/>
          </p:cNvPr>
          <p:cNvSpPr>
            <a:spLocks noChangeArrowheads="1"/>
          </p:cNvSpPr>
          <p:nvPr/>
        </p:nvSpPr>
        <p:spPr bwMode="auto">
          <a:xfrm>
            <a:off x="724852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3"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4" name="直接连接符 24"/>
          <p:cNvSpPr>
            <a:spLocks noChangeShapeType="1"/>
          </p:cNvSpPr>
          <p:nvPr/>
        </p:nvSpPr>
        <p:spPr bwMode="auto">
          <a:xfrm>
            <a:off x="2521797" y="-2286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05"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06"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107" name="图片 106"/>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20" name="文本框 19"/>
          <p:cNvSpPr txBox="1"/>
          <p:nvPr/>
        </p:nvSpPr>
        <p:spPr>
          <a:xfrm>
            <a:off x="706284" y="1053144"/>
            <a:ext cx="2660478" cy="58356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研究内容</a:t>
            </a:r>
            <a:endParaRPr lang="zh-CN" altLang="en-US" sz="3200" b="1" dirty="0">
              <a:latin typeface="微软雅黑" panose="020B0503020204020204" pitchFamily="34" charset="-122"/>
              <a:ea typeface="微软雅黑" panose="020B0503020204020204" pitchFamily="34" charset="-122"/>
            </a:endParaRPr>
          </a:p>
        </p:txBody>
      </p:sp>
      <p:sp>
        <p:nvSpPr>
          <p:cNvPr id="21" name="等腰三角形 20"/>
          <p:cNvSpPr/>
          <p:nvPr/>
        </p:nvSpPr>
        <p:spPr>
          <a:xfrm rot="5400000">
            <a:off x="-57097" y="991740"/>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lumMod val="20000"/>
                  <a:lumOff val="80000"/>
                </a:schemeClr>
              </a:solidFill>
            </a:endParaRPr>
          </a:p>
        </p:txBody>
      </p:sp>
      <p:pic>
        <p:nvPicPr>
          <p:cNvPr id="2" name="图片 1" descr="b06c8beb83b601dfca65b9ab88f0fac2"/>
          <p:cNvPicPr>
            <a:picLocks noChangeAspect="1"/>
          </p:cNvPicPr>
          <p:nvPr/>
        </p:nvPicPr>
        <p:blipFill>
          <a:blip r:embed="rId4"/>
          <a:stretch>
            <a:fillRect/>
          </a:stretch>
        </p:blipFill>
        <p:spPr>
          <a:xfrm>
            <a:off x="1076325" y="1631315"/>
            <a:ext cx="10039350" cy="52101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96" name="矩形 20"/>
          <p:cNvSpPr>
            <a:spLocks noChangeArrowheads="1"/>
          </p:cNvSpPr>
          <p:nvPr/>
        </p:nvSpPr>
        <p:spPr bwMode="auto">
          <a:xfrm>
            <a:off x="4786630" y="-1905"/>
            <a:ext cx="2078990"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97" name="组合 7"/>
          <p:cNvGrpSpPr/>
          <p:nvPr/>
        </p:nvGrpSpPr>
        <p:grpSpPr bwMode="auto">
          <a:xfrm>
            <a:off x="1826685" y="141817"/>
            <a:ext cx="1773767" cy="601895"/>
            <a:chOff x="0" y="0"/>
            <a:chExt cx="1329556" cy="451276"/>
          </a:xfrm>
        </p:grpSpPr>
        <p:sp>
          <p:nvSpPr>
            <p:cNvPr id="98"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99"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0" name="TextBox 16">
            <a:hlinkHover r:id="rId1" action="ppaction://hlinksldjump"/>
          </p:cNvPr>
          <p:cNvSpPr>
            <a:spLocks noChangeArrowheads="1"/>
          </p:cNvSpPr>
          <p:nvPr/>
        </p:nvSpPr>
        <p:spPr bwMode="auto">
          <a:xfrm>
            <a:off x="2838240" y="24172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1"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2" name="TextBox 18">
            <a:hlinkHover r:id="rId1" action="ppaction://hlinksldjump"/>
          </p:cNvPr>
          <p:cNvSpPr>
            <a:spLocks noChangeArrowheads="1"/>
          </p:cNvSpPr>
          <p:nvPr/>
        </p:nvSpPr>
        <p:spPr bwMode="auto">
          <a:xfrm>
            <a:off x="724852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3"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4" name="直接连接符 24"/>
          <p:cNvSpPr>
            <a:spLocks noChangeShapeType="1"/>
          </p:cNvSpPr>
          <p:nvPr/>
        </p:nvSpPr>
        <p:spPr bwMode="auto">
          <a:xfrm>
            <a:off x="2521797" y="-2286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05"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06"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107" name="图片 106"/>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20" name="文本框 19"/>
          <p:cNvSpPr txBox="1"/>
          <p:nvPr/>
        </p:nvSpPr>
        <p:spPr>
          <a:xfrm>
            <a:off x="706284" y="1052509"/>
            <a:ext cx="2660478" cy="58356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技术路线</a:t>
            </a:r>
            <a:endParaRPr lang="zh-CN" altLang="en-US" sz="3200" b="1" dirty="0">
              <a:latin typeface="微软雅黑" panose="020B0503020204020204" pitchFamily="34" charset="-122"/>
              <a:ea typeface="微软雅黑" panose="020B0503020204020204" pitchFamily="34" charset="-122"/>
            </a:endParaRPr>
          </a:p>
        </p:txBody>
      </p:sp>
      <p:sp>
        <p:nvSpPr>
          <p:cNvPr id="21" name="等腰三角形 20"/>
          <p:cNvSpPr/>
          <p:nvPr/>
        </p:nvSpPr>
        <p:spPr>
          <a:xfrm rot="5400000">
            <a:off x="-57097" y="991740"/>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lumMod val="20000"/>
                  <a:lumOff val="80000"/>
                </a:schemeClr>
              </a:solidFill>
            </a:endParaRPr>
          </a:p>
        </p:txBody>
      </p:sp>
      <p:pic>
        <p:nvPicPr>
          <p:cNvPr id="3" name="ECB019B1-382A-4266-B25C-5B523AA43C14-2" descr="wpp"/>
          <p:cNvPicPr>
            <a:picLocks noChangeAspect="1"/>
          </p:cNvPicPr>
          <p:nvPr/>
        </p:nvPicPr>
        <p:blipFill>
          <a:blip r:embed="rId4"/>
          <a:stretch>
            <a:fillRect/>
          </a:stretch>
        </p:blipFill>
        <p:spPr>
          <a:xfrm>
            <a:off x="217170" y="934720"/>
            <a:ext cx="11532870" cy="58540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44780" y="1903730"/>
            <a:ext cx="6368415" cy="4596130"/>
            <a:chOff x="1257" y="2282"/>
            <a:chExt cx="5489" cy="6196"/>
          </a:xfrm>
        </p:grpSpPr>
        <p:sp>
          <p:nvSpPr>
            <p:cNvPr id="69" name="矩形 68"/>
            <p:cNvSpPr/>
            <p:nvPr/>
          </p:nvSpPr>
          <p:spPr>
            <a:xfrm>
              <a:off x="1422" y="3665"/>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0" name="矩形 69"/>
            <p:cNvSpPr/>
            <p:nvPr/>
          </p:nvSpPr>
          <p:spPr>
            <a:xfrm>
              <a:off x="1422" y="4347"/>
              <a:ext cx="5324" cy="701"/>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1" name="矩形 70"/>
            <p:cNvSpPr/>
            <p:nvPr/>
          </p:nvSpPr>
          <p:spPr>
            <a:xfrm>
              <a:off x="1422" y="5048"/>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2" name="矩形 71"/>
            <p:cNvSpPr/>
            <p:nvPr/>
          </p:nvSpPr>
          <p:spPr>
            <a:xfrm>
              <a:off x="1422" y="5730"/>
              <a:ext cx="5324" cy="6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3" name="矩形 72"/>
            <p:cNvSpPr/>
            <p:nvPr/>
          </p:nvSpPr>
          <p:spPr>
            <a:xfrm>
              <a:off x="1422" y="6412"/>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4" name="矩形 73"/>
            <p:cNvSpPr/>
            <p:nvPr/>
          </p:nvSpPr>
          <p:spPr>
            <a:xfrm>
              <a:off x="1422" y="7114"/>
              <a:ext cx="5324" cy="6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5" name="矩形 74"/>
            <p:cNvSpPr/>
            <p:nvPr/>
          </p:nvSpPr>
          <p:spPr>
            <a:xfrm>
              <a:off x="1422" y="7796"/>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90" name="组合 89"/>
            <p:cNvGrpSpPr/>
            <p:nvPr/>
          </p:nvGrpSpPr>
          <p:grpSpPr>
            <a:xfrm>
              <a:off x="1257" y="2282"/>
              <a:ext cx="5489" cy="1383"/>
              <a:chOff x="798411" y="1345818"/>
              <a:chExt cx="3485634" cy="878306"/>
            </a:xfrm>
          </p:grpSpPr>
          <p:sp>
            <p:nvSpPr>
              <p:cNvPr id="91" name="矩形 90"/>
              <p:cNvSpPr/>
              <p:nvPr/>
            </p:nvSpPr>
            <p:spPr>
              <a:xfrm>
                <a:off x="903171" y="1345818"/>
                <a:ext cx="3380874" cy="87830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92" name="组合 91"/>
              <p:cNvGrpSpPr/>
              <p:nvPr/>
            </p:nvGrpSpPr>
            <p:grpSpPr>
              <a:xfrm>
                <a:off x="798411" y="1489895"/>
                <a:ext cx="1022682" cy="556091"/>
                <a:chOff x="721409" y="1359267"/>
                <a:chExt cx="1022682" cy="556091"/>
              </a:xfrm>
              <a:solidFill>
                <a:srgbClr val="E74C2E"/>
              </a:solidFill>
            </p:grpSpPr>
            <p:sp>
              <p:nvSpPr>
                <p:cNvPr id="94" name="任意多边形 93"/>
                <p:cNvSpPr/>
                <p:nvPr/>
              </p:nvSpPr>
              <p:spPr>
                <a:xfrm flipV="1">
                  <a:off x="721410" y="1404984"/>
                  <a:ext cx="1022681" cy="510374"/>
                </a:xfrm>
                <a:custGeom>
                  <a:avLst/>
                  <a:gdLst>
                    <a:gd name="connsiteX0" fmla="*/ 0 w 1022681"/>
                    <a:gd name="connsiteY0" fmla="*/ 0 h 342899"/>
                    <a:gd name="connsiteX1" fmla="*/ 1022681 w 1022681"/>
                    <a:gd name="connsiteY1" fmla="*/ 0 h 342899"/>
                    <a:gd name="connsiteX2" fmla="*/ 1022681 w 1022681"/>
                    <a:gd name="connsiteY2" fmla="*/ 8036 h 342899"/>
                    <a:gd name="connsiteX3" fmla="*/ 762826 w 1022681"/>
                    <a:gd name="connsiteY3" fmla="*/ 342899 h 342899"/>
                    <a:gd name="connsiteX4" fmla="*/ 0 w 1022681"/>
                    <a:gd name="connsiteY4" fmla="*/ 342899 h 34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681" h="342899">
                      <a:moveTo>
                        <a:pt x="0" y="0"/>
                      </a:moveTo>
                      <a:lnTo>
                        <a:pt x="1022681" y="0"/>
                      </a:lnTo>
                      <a:lnTo>
                        <a:pt x="1022681" y="8036"/>
                      </a:lnTo>
                      <a:lnTo>
                        <a:pt x="762826" y="342899"/>
                      </a:lnTo>
                      <a:lnTo>
                        <a:pt x="0" y="342899"/>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95" name="直角三角形 94"/>
                <p:cNvSpPr/>
                <p:nvPr/>
              </p:nvSpPr>
              <p:spPr>
                <a:xfrm flipH="1">
                  <a:off x="721409" y="1359267"/>
                  <a:ext cx="120797" cy="45719"/>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sp>
            <p:nvSpPr>
              <p:cNvPr id="93" name="文本框 2"/>
              <p:cNvSpPr txBox="1"/>
              <p:nvPr/>
            </p:nvSpPr>
            <p:spPr>
              <a:xfrm>
                <a:off x="1976217" y="1553545"/>
                <a:ext cx="2258018" cy="499611"/>
              </a:xfrm>
              <a:prstGeom prst="rect">
                <a:avLst/>
              </a:prstGeom>
              <a:noFill/>
            </p:spPr>
            <p:txBody>
              <a:bodyPr wrap="square" rtlCol="0">
                <a:spAutoFit/>
              </a:bodyPr>
              <a:lstStyle/>
              <a:p>
                <a:pPr defTabSz="914400"/>
                <a:r>
                  <a:rPr lang="zh-CN" altLang="en-US" sz="3200" dirty="0">
                    <a:solidFill>
                      <a:prstClr val="white"/>
                    </a:solidFill>
                    <a:latin typeface="微软雅黑" panose="020B0503020204020204" pitchFamily="34" charset="-122"/>
                    <a:ea typeface="微软雅黑" panose="020B0503020204020204" pitchFamily="34" charset="-122"/>
                  </a:rPr>
                  <a:t>技术创新</a:t>
                </a:r>
                <a:endParaRPr lang="zh-CN" altLang="en-US" sz="3200" dirty="0">
                  <a:solidFill>
                    <a:prstClr val="white"/>
                  </a:solidFill>
                  <a:latin typeface="微软雅黑" panose="020B0503020204020204" pitchFamily="34" charset="-122"/>
                  <a:ea typeface="微软雅黑" panose="020B0503020204020204" pitchFamily="34" charset="-122"/>
                </a:endParaRPr>
              </a:p>
            </p:txBody>
          </p:sp>
        </p:grpSp>
      </p:grpSp>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7015480" y="-1905"/>
            <a:ext cx="2372995"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grpSp>
        <p:nvGrpSpPr>
          <p:cNvPr id="149" name="组合 148"/>
          <p:cNvGrpSpPr/>
          <p:nvPr/>
        </p:nvGrpSpPr>
        <p:grpSpPr>
          <a:xfrm>
            <a:off x="6764020" y="1903730"/>
            <a:ext cx="5095875" cy="4596130"/>
            <a:chOff x="1257" y="2282"/>
            <a:chExt cx="5489" cy="6196"/>
          </a:xfrm>
        </p:grpSpPr>
        <p:sp>
          <p:nvSpPr>
            <p:cNvPr id="150" name="矩形 149"/>
            <p:cNvSpPr/>
            <p:nvPr/>
          </p:nvSpPr>
          <p:spPr>
            <a:xfrm>
              <a:off x="1422" y="3665"/>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1" name="矩形 150"/>
            <p:cNvSpPr/>
            <p:nvPr/>
          </p:nvSpPr>
          <p:spPr>
            <a:xfrm>
              <a:off x="1422" y="4347"/>
              <a:ext cx="5324" cy="701"/>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2" name="矩形 151"/>
            <p:cNvSpPr/>
            <p:nvPr/>
          </p:nvSpPr>
          <p:spPr>
            <a:xfrm>
              <a:off x="1422" y="5048"/>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3" name="矩形 152"/>
            <p:cNvSpPr/>
            <p:nvPr/>
          </p:nvSpPr>
          <p:spPr>
            <a:xfrm>
              <a:off x="1422" y="5730"/>
              <a:ext cx="5324" cy="6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4" name="矩形 153"/>
            <p:cNvSpPr/>
            <p:nvPr/>
          </p:nvSpPr>
          <p:spPr>
            <a:xfrm>
              <a:off x="1422" y="6412"/>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5" name="矩形 154"/>
            <p:cNvSpPr/>
            <p:nvPr/>
          </p:nvSpPr>
          <p:spPr>
            <a:xfrm>
              <a:off x="1422" y="7114"/>
              <a:ext cx="5324" cy="6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6" name="矩形 155"/>
            <p:cNvSpPr/>
            <p:nvPr/>
          </p:nvSpPr>
          <p:spPr>
            <a:xfrm>
              <a:off x="1422" y="7796"/>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157" name="组合 156"/>
            <p:cNvGrpSpPr/>
            <p:nvPr/>
          </p:nvGrpSpPr>
          <p:grpSpPr>
            <a:xfrm>
              <a:off x="1257" y="2282"/>
              <a:ext cx="5489" cy="1383"/>
              <a:chOff x="798411" y="1345818"/>
              <a:chExt cx="3485634" cy="878306"/>
            </a:xfrm>
          </p:grpSpPr>
          <p:sp>
            <p:nvSpPr>
              <p:cNvPr id="158" name="矩形 157"/>
              <p:cNvSpPr/>
              <p:nvPr/>
            </p:nvSpPr>
            <p:spPr>
              <a:xfrm>
                <a:off x="903171" y="1345818"/>
                <a:ext cx="3380874" cy="87830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159" name="组合 158"/>
              <p:cNvGrpSpPr/>
              <p:nvPr/>
            </p:nvGrpSpPr>
            <p:grpSpPr>
              <a:xfrm>
                <a:off x="798411" y="1489895"/>
                <a:ext cx="1022682" cy="556091"/>
                <a:chOff x="721409" y="1359267"/>
                <a:chExt cx="1022682" cy="556091"/>
              </a:xfrm>
              <a:solidFill>
                <a:srgbClr val="E74C2E"/>
              </a:solidFill>
            </p:grpSpPr>
            <p:sp>
              <p:nvSpPr>
                <p:cNvPr id="160" name="任意多边形 159"/>
                <p:cNvSpPr/>
                <p:nvPr/>
              </p:nvSpPr>
              <p:spPr>
                <a:xfrm flipV="1">
                  <a:off x="721410" y="1404984"/>
                  <a:ext cx="1022681" cy="510374"/>
                </a:xfrm>
                <a:custGeom>
                  <a:avLst/>
                  <a:gdLst>
                    <a:gd name="connsiteX0" fmla="*/ 0 w 1022681"/>
                    <a:gd name="connsiteY0" fmla="*/ 0 h 342899"/>
                    <a:gd name="connsiteX1" fmla="*/ 1022681 w 1022681"/>
                    <a:gd name="connsiteY1" fmla="*/ 0 h 342899"/>
                    <a:gd name="connsiteX2" fmla="*/ 1022681 w 1022681"/>
                    <a:gd name="connsiteY2" fmla="*/ 8036 h 342899"/>
                    <a:gd name="connsiteX3" fmla="*/ 762826 w 1022681"/>
                    <a:gd name="connsiteY3" fmla="*/ 342899 h 342899"/>
                    <a:gd name="connsiteX4" fmla="*/ 0 w 1022681"/>
                    <a:gd name="connsiteY4" fmla="*/ 342899 h 34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681" h="342899">
                      <a:moveTo>
                        <a:pt x="0" y="0"/>
                      </a:moveTo>
                      <a:lnTo>
                        <a:pt x="1022681" y="0"/>
                      </a:lnTo>
                      <a:lnTo>
                        <a:pt x="1022681" y="8036"/>
                      </a:lnTo>
                      <a:lnTo>
                        <a:pt x="762826" y="342899"/>
                      </a:lnTo>
                      <a:lnTo>
                        <a:pt x="0" y="342899"/>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61" name="直角三角形 160"/>
                <p:cNvSpPr/>
                <p:nvPr/>
              </p:nvSpPr>
              <p:spPr>
                <a:xfrm flipH="1">
                  <a:off x="721409" y="1359267"/>
                  <a:ext cx="120797" cy="45719"/>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sp>
            <p:nvSpPr>
              <p:cNvPr id="162" name="文本框 2"/>
              <p:cNvSpPr txBox="1"/>
              <p:nvPr/>
            </p:nvSpPr>
            <p:spPr>
              <a:xfrm>
                <a:off x="1759023" y="1553545"/>
                <a:ext cx="2258018" cy="499611"/>
              </a:xfrm>
              <a:prstGeom prst="rect">
                <a:avLst/>
              </a:prstGeom>
              <a:noFill/>
            </p:spPr>
            <p:txBody>
              <a:bodyPr wrap="square" rtlCol="0">
                <a:spAutoFit/>
              </a:bodyPr>
              <a:lstStyle/>
              <a:p>
                <a:pPr defTabSz="914400"/>
                <a:r>
                  <a:rPr lang="zh-CN" altLang="en-US" sz="3200" dirty="0">
                    <a:solidFill>
                      <a:prstClr val="white"/>
                    </a:solidFill>
                    <a:latin typeface="微软雅黑" panose="020B0503020204020204" pitchFamily="34" charset="-122"/>
                    <a:ea typeface="微软雅黑" panose="020B0503020204020204" pitchFamily="34" charset="-122"/>
                  </a:rPr>
                  <a:t>风格控制创新</a:t>
                </a:r>
                <a:endParaRPr lang="zh-CN" altLang="en-US" sz="3200" dirty="0">
                  <a:solidFill>
                    <a:prstClr val="white"/>
                  </a:solidFill>
                  <a:latin typeface="微软雅黑" panose="020B0503020204020204" pitchFamily="34" charset="-122"/>
                  <a:ea typeface="微软雅黑" panose="020B0503020204020204" pitchFamily="34" charset="-122"/>
                </a:endParaRPr>
              </a:p>
            </p:txBody>
          </p:sp>
        </p:grpSp>
      </p:grpSp>
      <p:sp>
        <p:nvSpPr>
          <p:cNvPr id="166" name="直接连接符 27"/>
          <p:cNvSpPr>
            <a:spLocks noChangeShapeType="1"/>
          </p:cNvSpPr>
          <p:nvPr/>
        </p:nvSpPr>
        <p:spPr bwMode="auto">
          <a:xfrm>
            <a:off x="4605655"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79" name="等腰三角形 178"/>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0" name="文本框 169"/>
          <p:cNvSpPr txBox="1"/>
          <p:nvPr/>
        </p:nvSpPr>
        <p:spPr>
          <a:xfrm>
            <a:off x="861572" y="1070582"/>
            <a:ext cx="2660478" cy="58356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创新点</a:t>
            </a:r>
            <a:endParaRPr lang="zh-CN" altLang="en-US" sz="3200" b="1" dirty="0">
              <a:latin typeface="微软雅黑" panose="020B0503020204020204" pitchFamily="34" charset="-122"/>
              <a:ea typeface="微软雅黑" panose="020B0503020204020204" pitchFamily="34" charset="-122"/>
            </a:endParaRPr>
          </a:p>
        </p:txBody>
      </p:sp>
      <p:sp>
        <p:nvSpPr>
          <p:cNvPr id="167" name="文本框 166"/>
          <p:cNvSpPr txBox="1"/>
          <p:nvPr/>
        </p:nvSpPr>
        <p:spPr>
          <a:xfrm>
            <a:off x="387350" y="2786380"/>
            <a:ext cx="5721350" cy="3589655"/>
          </a:xfrm>
          <a:prstGeom prst="rect">
            <a:avLst/>
          </a:prstGeom>
          <a:noFill/>
        </p:spPr>
        <p:txBody>
          <a:bodyPr wrap="square" rtlCol="0">
            <a:noAutofit/>
          </a:bodyPr>
          <a:lstStyle/>
          <a:p>
            <a:pPr indent="0" fontAlgn="auto">
              <a:lnSpc>
                <a:spcPct val="170000"/>
              </a:lnSpc>
              <a:spcBef>
                <a:spcPts val="0"/>
              </a:spcBef>
              <a:spcAft>
                <a:spcPts val="0"/>
              </a:spcAft>
            </a:pPr>
            <a:r>
              <a:rPr lang="zh-CN" altLang="en-US" sz="2000" b="1"/>
              <a:t>创新方式：</a:t>
            </a:r>
            <a:endParaRPr lang="zh-CN" altLang="en-US" sz="2000" b="1"/>
          </a:p>
          <a:p>
            <a:pPr indent="0" fontAlgn="auto">
              <a:lnSpc>
                <a:spcPct val="170000"/>
              </a:lnSpc>
              <a:spcBef>
                <a:spcPts val="0"/>
              </a:spcBef>
              <a:spcAft>
                <a:spcPts val="0"/>
              </a:spcAft>
            </a:pPr>
            <a:r>
              <a:rPr lang="zh-CN" altLang="en-US" sz="2000"/>
              <a:t>构建</a:t>
            </a:r>
            <a:r>
              <a:rPr lang="en-US" altLang="zh-CN" sz="2000"/>
              <a:t>“</a:t>
            </a:r>
            <a:r>
              <a:rPr lang="zh-CN" altLang="en-US" sz="2000"/>
              <a:t>语义</a:t>
            </a:r>
            <a:r>
              <a:rPr lang="en-US" altLang="zh-CN" sz="2000"/>
              <a:t>-</a:t>
            </a:r>
            <a:r>
              <a:rPr lang="zh-CN" altLang="en-US" sz="2000"/>
              <a:t>风格</a:t>
            </a:r>
            <a:r>
              <a:rPr lang="en-US" altLang="zh-CN" sz="2000"/>
              <a:t>-</a:t>
            </a:r>
            <a:r>
              <a:rPr lang="zh-CN" altLang="en-US" sz="2000"/>
              <a:t>文化</a:t>
            </a:r>
            <a:r>
              <a:rPr lang="en-US" altLang="zh-CN" sz="2000"/>
              <a:t>”</a:t>
            </a:r>
            <a:r>
              <a:rPr lang="zh-CN" altLang="en-US" sz="2000"/>
              <a:t>三位一体的转写模型</a:t>
            </a:r>
            <a:endParaRPr lang="zh-CN" altLang="en-US" sz="2000"/>
          </a:p>
          <a:p>
            <a:pPr indent="0" fontAlgn="auto">
              <a:lnSpc>
                <a:spcPct val="170000"/>
              </a:lnSpc>
              <a:spcBef>
                <a:spcPts val="0"/>
              </a:spcBef>
              <a:spcAft>
                <a:spcPts val="0"/>
              </a:spcAft>
            </a:pPr>
            <a:r>
              <a:rPr lang="zh-CN" altLang="en-US" sz="2000" b="1"/>
              <a:t>实现途径：</a:t>
            </a:r>
            <a:endParaRPr lang="zh-CN" altLang="en-US" sz="2000" b="1"/>
          </a:p>
          <a:p>
            <a:pPr indent="0" fontAlgn="auto">
              <a:lnSpc>
                <a:spcPct val="170000"/>
              </a:lnSpc>
              <a:spcBef>
                <a:spcPts val="0"/>
              </a:spcBef>
              <a:spcAft>
                <a:spcPts val="0"/>
              </a:spcAft>
            </a:pPr>
            <a:r>
              <a:rPr lang="zh-CN" altLang="en-US" sz="2000"/>
              <a:t>原文</a:t>
            </a:r>
            <a:r>
              <a:rPr lang="en-US" altLang="zh-CN" sz="2000"/>
              <a:t>→</a:t>
            </a:r>
            <a:r>
              <a:rPr lang="zh-CN" altLang="en-US" sz="2000"/>
              <a:t>通过语义编码器形成文化中立的语义向量</a:t>
            </a:r>
            <a:endParaRPr lang="zh-CN" altLang="en-US" sz="2000"/>
          </a:p>
          <a:p>
            <a:pPr indent="0" fontAlgn="auto">
              <a:lnSpc>
                <a:spcPct val="170000"/>
              </a:lnSpc>
              <a:spcBef>
                <a:spcPts val="0"/>
              </a:spcBef>
              <a:spcAft>
                <a:spcPts val="0"/>
              </a:spcAft>
            </a:pPr>
            <a:r>
              <a:rPr lang="en-US" altLang="zh-CN" sz="2000"/>
              <a:t>→</a:t>
            </a:r>
            <a:r>
              <a:rPr lang="zh-CN" altLang="en-US" sz="2000"/>
              <a:t>融合目标文化风格向量</a:t>
            </a:r>
            <a:r>
              <a:rPr lang="en-US" altLang="zh-CN" sz="2000"/>
              <a:t>→</a:t>
            </a:r>
            <a:r>
              <a:rPr lang="zh-CN" altLang="en-US" sz="2000"/>
              <a:t>实现可控生成</a:t>
            </a:r>
            <a:endParaRPr lang="zh-CN" altLang="en-US" sz="2000"/>
          </a:p>
          <a:p>
            <a:pPr indent="0" fontAlgn="auto">
              <a:lnSpc>
                <a:spcPct val="170000"/>
              </a:lnSpc>
              <a:spcBef>
                <a:spcPts val="0"/>
              </a:spcBef>
              <a:spcAft>
                <a:spcPts val="0"/>
              </a:spcAft>
            </a:pPr>
            <a:r>
              <a:rPr lang="zh-CN" altLang="en-US" sz="2000" b="1"/>
              <a:t>解决问题：</a:t>
            </a:r>
            <a:endParaRPr lang="zh-CN" altLang="en-US" sz="2000" b="1"/>
          </a:p>
          <a:p>
            <a:pPr indent="0" fontAlgn="auto">
              <a:lnSpc>
                <a:spcPct val="170000"/>
              </a:lnSpc>
              <a:spcBef>
                <a:spcPts val="0"/>
              </a:spcBef>
              <a:spcAft>
                <a:spcPts val="0"/>
              </a:spcAft>
            </a:pPr>
            <a:r>
              <a:rPr lang="zh-CN" altLang="en-US" sz="2000"/>
              <a:t>传统</a:t>
            </a:r>
            <a:r>
              <a:rPr lang="en-US" altLang="zh-CN" sz="2000"/>
              <a:t>“</a:t>
            </a:r>
            <a:r>
              <a:rPr lang="zh-CN" altLang="en-US" sz="2000"/>
              <a:t>先翻译再生成</a:t>
            </a:r>
            <a:r>
              <a:rPr lang="en-US" altLang="zh-CN" sz="2000"/>
              <a:t>”</a:t>
            </a:r>
            <a:r>
              <a:rPr lang="zh-CN" altLang="en-US" sz="2000"/>
              <a:t>导致的语义损耗与形式断裂</a:t>
            </a:r>
            <a:endParaRPr lang="zh-CN" altLang="en-US" sz="2000"/>
          </a:p>
          <a:p>
            <a:pPr indent="0" fontAlgn="auto">
              <a:lnSpc>
                <a:spcPct val="170000"/>
              </a:lnSpc>
              <a:spcBef>
                <a:spcPts val="0"/>
              </a:spcBef>
              <a:spcAft>
                <a:spcPts val="0"/>
              </a:spcAft>
            </a:pPr>
            <a:endParaRPr lang="zh-CN" altLang="en-US" sz="2000"/>
          </a:p>
        </p:txBody>
      </p:sp>
      <p:sp>
        <p:nvSpPr>
          <p:cNvPr id="168" name="文本框 167"/>
          <p:cNvSpPr txBox="1"/>
          <p:nvPr/>
        </p:nvSpPr>
        <p:spPr>
          <a:xfrm>
            <a:off x="6978015" y="2786380"/>
            <a:ext cx="4820285" cy="3692525"/>
          </a:xfrm>
          <a:prstGeom prst="rect">
            <a:avLst/>
          </a:prstGeom>
          <a:noFill/>
        </p:spPr>
        <p:txBody>
          <a:bodyPr wrap="square" rtlCol="0">
            <a:noAutofit/>
          </a:bodyPr>
          <a:lstStyle/>
          <a:p>
            <a:pPr algn="l" fontAlgn="auto">
              <a:lnSpc>
                <a:spcPct val="170000"/>
              </a:lnSpc>
              <a:spcBef>
                <a:spcPts val="0"/>
              </a:spcBef>
              <a:spcAft>
                <a:spcPts val="0"/>
              </a:spcAft>
              <a:buClrTx/>
              <a:buSzTx/>
              <a:buNone/>
            </a:pPr>
            <a:r>
              <a:rPr lang="zh-CN" altLang="en-US" sz="2000" b="1"/>
              <a:t>创新方式：</a:t>
            </a:r>
            <a:endParaRPr lang="zh-CN" altLang="en-US" sz="2000" b="1"/>
          </a:p>
          <a:p>
            <a:pPr algn="l" fontAlgn="auto">
              <a:lnSpc>
                <a:spcPct val="170000"/>
              </a:lnSpc>
              <a:spcBef>
                <a:spcPts val="0"/>
              </a:spcBef>
              <a:spcAft>
                <a:spcPts val="0"/>
              </a:spcAft>
              <a:buClrTx/>
              <a:buSzTx/>
              <a:buFontTx/>
              <a:buNone/>
            </a:pPr>
            <a:r>
              <a:rPr lang="zh-CN" altLang="en-US" sz="2000">
                <a:sym typeface="+mn-ea"/>
              </a:rPr>
              <a:t>针对不同文化训练独立风格向量</a:t>
            </a:r>
            <a:endParaRPr lang="zh-CN" altLang="en-US" sz="2000">
              <a:sym typeface="+mn-ea"/>
            </a:endParaRPr>
          </a:p>
          <a:p>
            <a:pPr algn="l" fontAlgn="auto">
              <a:lnSpc>
                <a:spcPct val="170000"/>
              </a:lnSpc>
              <a:spcBef>
                <a:spcPts val="0"/>
              </a:spcBef>
              <a:spcAft>
                <a:spcPts val="0"/>
              </a:spcAft>
              <a:buClrTx/>
              <a:buSzTx/>
              <a:buNone/>
            </a:pPr>
            <a:r>
              <a:rPr lang="zh-CN" altLang="en-US" sz="2000" b="1"/>
              <a:t>实现途径：</a:t>
            </a:r>
            <a:endParaRPr lang="zh-CN" altLang="en-US" sz="2000" b="1"/>
          </a:p>
          <a:p>
            <a:pPr algn="l" fontAlgn="auto">
              <a:lnSpc>
                <a:spcPct val="170000"/>
              </a:lnSpc>
              <a:spcBef>
                <a:spcPts val="0"/>
              </a:spcBef>
              <a:spcAft>
                <a:spcPts val="0"/>
              </a:spcAft>
              <a:buClrTx/>
              <a:buSzTx/>
              <a:buFontTx/>
              <a:buNone/>
            </a:pPr>
            <a:r>
              <a:rPr lang="zh-CN" altLang="en-US" sz="2000"/>
              <a:t>将风格转化为量化模型，实现语义保真、形式合规与文化适配</a:t>
            </a:r>
            <a:endParaRPr lang="zh-CN" altLang="en-US" sz="2000"/>
          </a:p>
          <a:p>
            <a:pPr algn="l" fontAlgn="auto">
              <a:lnSpc>
                <a:spcPct val="170000"/>
              </a:lnSpc>
              <a:spcBef>
                <a:spcPts val="0"/>
              </a:spcBef>
              <a:spcAft>
                <a:spcPts val="0"/>
              </a:spcAft>
              <a:buClrTx/>
              <a:buSzTx/>
              <a:buNone/>
            </a:pPr>
            <a:r>
              <a:rPr lang="zh-CN" altLang="en-US" sz="2000" b="1"/>
              <a:t>解决问题：</a:t>
            </a:r>
            <a:endParaRPr lang="zh-CN" altLang="en-US" sz="2000" b="1"/>
          </a:p>
          <a:p>
            <a:pPr algn="l" fontAlgn="auto">
              <a:lnSpc>
                <a:spcPct val="170000"/>
              </a:lnSpc>
              <a:spcBef>
                <a:spcPts val="0"/>
              </a:spcBef>
              <a:spcAft>
                <a:spcPts val="0"/>
              </a:spcAft>
              <a:buClrTx/>
              <a:buSzTx/>
              <a:buFontTx/>
              <a:buNone/>
            </a:pPr>
            <a:r>
              <a:rPr lang="zh-CN" altLang="en-US" sz="2000"/>
              <a:t>现有依赖</a:t>
            </a:r>
            <a:r>
              <a:rPr lang="zh-CN" altLang="en-US" sz="2000">
                <a:latin typeface="微软雅黑" panose="020B0503020204020204" pitchFamily="34" charset="-122"/>
                <a:ea typeface="微软雅黑" panose="020B0503020204020204" pitchFamily="34" charset="-122"/>
              </a:rPr>
              <a:t>Prompt</a:t>
            </a:r>
            <a:r>
              <a:rPr lang="zh-CN" altLang="en-US" sz="2000"/>
              <a:t>的概率性风格控制</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8265" y="1903730"/>
            <a:ext cx="6978650" cy="4709795"/>
            <a:chOff x="1257" y="2282"/>
            <a:chExt cx="5489" cy="6196"/>
          </a:xfrm>
        </p:grpSpPr>
        <p:sp>
          <p:nvSpPr>
            <p:cNvPr id="69" name="矩形 68"/>
            <p:cNvSpPr/>
            <p:nvPr/>
          </p:nvSpPr>
          <p:spPr>
            <a:xfrm>
              <a:off x="1422" y="3665"/>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0" name="矩形 69"/>
            <p:cNvSpPr/>
            <p:nvPr/>
          </p:nvSpPr>
          <p:spPr>
            <a:xfrm>
              <a:off x="1422" y="4347"/>
              <a:ext cx="5324" cy="701"/>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1" name="矩形 70"/>
            <p:cNvSpPr/>
            <p:nvPr/>
          </p:nvSpPr>
          <p:spPr>
            <a:xfrm>
              <a:off x="1422" y="5048"/>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2" name="矩形 71"/>
            <p:cNvSpPr/>
            <p:nvPr/>
          </p:nvSpPr>
          <p:spPr>
            <a:xfrm>
              <a:off x="1422" y="5730"/>
              <a:ext cx="5324" cy="6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3" name="矩形 72"/>
            <p:cNvSpPr/>
            <p:nvPr/>
          </p:nvSpPr>
          <p:spPr>
            <a:xfrm>
              <a:off x="1422" y="6412"/>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4" name="矩形 73"/>
            <p:cNvSpPr/>
            <p:nvPr/>
          </p:nvSpPr>
          <p:spPr>
            <a:xfrm>
              <a:off x="1422" y="7114"/>
              <a:ext cx="5324" cy="6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75" name="矩形 74"/>
            <p:cNvSpPr/>
            <p:nvPr/>
          </p:nvSpPr>
          <p:spPr>
            <a:xfrm>
              <a:off x="1422" y="7796"/>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90" name="组合 89"/>
            <p:cNvGrpSpPr/>
            <p:nvPr/>
          </p:nvGrpSpPr>
          <p:grpSpPr>
            <a:xfrm>
              <a:off x="1257" y="2282"/>
              <a:ext cx="5489" cy="1383"/>
              <a:chOff x="798411" y="1345818"/>
              <a:chExt cx="3485634" cy="878306"/>
            </a:xfrm>
          </p:grpSpPr>
          <p:sp>
            <p:nvSpPr>
              <p:cNvPr id="91" name="矩形 90"/>
              <p:cNvSpPr/>
              <p:nvPr/>
            </p:nvSpPr>
            <p:spPr>
              <a:xfrm>
                <a:off x="903171" y="1345818"/>
                <a:ext cx="3380874" cy="87830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92" name="组合 91"/>
              <p:cNvGrpSpPr/>
              <p:nvPr/>
            </p:nvGrpSpPr>
            <p:grpSpPr>
              <a:xfrm>
                <a:off x="798411" y="1489895"/>
                <a:ext cx="1022682" cy="556091"/>
                <a:chOff x="721409" y="1359267"/>
                <a:chExt cx="1022682" cy="556091"/>
              </a:xfrm>
              <a:solidFill>
                <a:srgbClr val="E74C2E"/>
              </a:solidFill>
            </p:grpSpPr>
            <p:sp>
              <p:nvSpPr>
                <p:cNvPr id="94" name="任意多边形 93"/>
                <p:cNvSpPr/>
                <p:nvPr/>
              </p:nvSpPr>
              <p:spPr>
                <a:xfrm flipV="1">
                  <a:off x="721410" y="1404984"/>
                  <a:ext cx="1022681" cy="510374"/>
                </a:xfrm>
                <a:custGeom>
                  <a:avLst/>
                  <a:gdLst>
                    <a:gd name="connsiteX0" fmla="*/ 0 w 1022681"/>
                    <a:gd name="connsiteY0" fmla="*/ 0 h 342899"/>
                    <a:gd name="connsiteX1" fmla="*/ 1022681 w 1022681"/>
                    <a:gd name="connsiteY1" fmla="*/ 0 h 342899"/>
                    <a:gd name="connsiteX2" fmla="*/ 1022681 w 1022681"/>
                    <a:gd name="connsiteY2" fmla="*/ 8036 h 342899"/>
                    <a:gd name="connsiteX3" fmla="*/ 762826 w 1022681"/>
                    <a:gd name="connsiteY3" fmla="*/ 342899 h 342899"/>
                    <a:gd name="connsiteX4" fmla="*/ 0 w 1022681"/>
                    <a:gd name="connsiteY4" fmla="*/ 342899 h 34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681" h="342899">
                      <a:moveTo>
                        <a:pt x="0" y="0"/>
                      </a:moveTo>
                      <a:lnTo>
                        <a:pt x="1022681" y="0"/>
                      </a:lnTo>
                      <a:lnTo>
                        <a:pt x="1022681" y="8036"/>
                      </a:lnTo>
                      <a:lnTo>
                        <a:pt x="762826" y="342899"/>
                      </a:lnTo>
                      <a:lnTo>
                        <a:pt x="0" y="342899"/>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95" name="直角三角形 94"/>
                <p:cNvSpPr/>
                <p:nvPr/>
              </p:nvSpPr>
              <p:spPr>
                <a:xfrm flipH="1">
                  <a:off x="721409" y="1359267"/>
                  <a:ext cx="120797" cy="45719"/>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sp>
            <p:nvSpPr>
              <p:cNvPr id="93" name="文本框 2"/>
              <p:cNvSpPr txBox="1"/>
              <p:nvPr/>
            </p:nvSpPr>
            <p:spPr>
              <a:xfrm>
                <a:off x="1976217" y="1553545"/>
                <a:ext cx="2258018" cy="487554"/>
              </a:xfrm>
              <a:prstGeom prst="rect">
                <a:avLst/>
              </a:prstGeom>
              <a:noFill/>
            </p:spPr>
            <p:txBody>
              <a:bodyPr wrap="square" rtlCol="0">
                <a:spAutoFit/>
              </a:bodyPr>
              <a:lstStyle/>
              <a:p>
                <a:pPr defTabSz="914400"/>
                <a:r>
                  <a:rPr lang="zh-CN" altLang="en-US" sz="3200" dirty="0">
                    <a:solidFill>
                      <a:prstClr val="white"/>
                    </a:solidFill>
                    <a:latin typeface="微软雅黑" panose="020B0503020204020204" pitchFamily="34" charset="-122"/>
                    <a:ea typeface="微软雅黑" panose="020B0503020204020204" pitchFamily="34" charset="-122"/>
                  </a:rPr>
                  <a:t>评估体系创新</a:t>
                </a:r>
                <a:endParaRPr lang="zh-CN" altLang="en-US" sz="3200" dirty="0">
                  <a:solidFill>
                    <a:prstClr val="white"/>
                  </a:solidFill>
                  <a:latin typeface="微软雅黑" panose="020B0503020204020204" pitchFamily="34" charset="-122"/>
                  <a:ea typeface="微软雅黑" panose="020B0503020204020204" pitchFamily="34" charset="-122"/>
                </a:endParaRPr>
              </a:p>
            </p:txBody>
          </p:sp>
        </p:grpSp>
      </p:grpSp>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7015480" y="-1905"/>
            <a:ext cx="2372995"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grpSp>
        <p:nvGrpSpPr>
          <p:cNvPr id="149" name="组合 148"/>
          <p:cNvGrpSpPr/>
          <p:nvPr/>
        </p:nvGrpSpPr>
        <p:grpSpPr>
          <a:xfrm>
            <a:off x="7382510" y="1903730"/>
            <a:ext cx="4599305" cy="4709795"/>
            <a:chOff x="1257" y="2282"/>
            <a:chExt cx="5489" cy="6196"/>
          </a:xfrm>
        </p:grpSpPr>
        <p:sp>
          <p:nvSpPr>
            <p:cNvPr id="150" name="矩形 149"/>
            <p:cNvSpPr/>
            <p:nvPr/>
          </p:nvSpPr>
          <p:spPr>
            <a:xfrm>
              <a:off x="1422" y="3665"/>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1" name="矩形 150"/>
            <p:cNvSpPr/>
            <p:nvPr/>
          </p:nvSpPr>
          <p:spPr>
            <a:xfrm>
              <a:off x="1422" y="4347"/>
              <a:ext cx="5324" cy="701"/>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2" name="矩形 151"/>
            <p:cNvSpPr/>
            <p:nvPr/>
          </p:nvSpPr>
          <p:spPr>
            <a:xfrm>
              <a:off x="1422" y="5048"/>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3" name="矩形 152"/>
            <p:cNvSpPr/>
            <p:nvPr/>
          </p:nvSpPr>
          <p:spPr>
            <a:xfrm>
              <a:off x="1422" y="5730"/>
              <a:ext cx="5324" cy="6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4" name="矩形 153"/>
            <p:cNvSpPr/>
            <p:nvPr/>
          </p:nvSpPr>
          <p:spPr>
            <a:xfrm>
              <a:off x="1422" y="6412"/>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5" name="矩形 154"/>
            <p:cNvSpPr/>
            <p:nvPr/>
          </p:nvSpPr>
          <p:spPr>
            <a:xfrm>
              <a:off x="1422" y="7114"/>
              <a:ext cx="5324" cy="6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56" name="矩形 155"/>
            <p:cNvSpPr/>
            <p:nvPr/>
          </p:nvSpPr>
          <p:spPr>
            <a:xfrm>
              <a:off x="1422" y="7796"/>
              <a:ext cx="5324" cy="682"/>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157" name="组合 156"/>
            <p:cNvGrpSpPr/>
            <p:nvPr/>
          </p:nvGrpSpPr>
          <p:grpSpPr>
            <a:xfrm>
              <a:off x="1257" y="2282"/>
              <a:ext cx="5489" cy="1383"/>
              <a:chOff x="798411" y="1345818"/>
              <a:chExt cx="3485634" cy="878306"/>
            </a:xfrm>
          </p:grpSpPr>
          <p:sp>
            <p:nvSpPr>
              <p:cNvPr id="158" name="矩形 157"/>
              <p:cNvSpPr/>
              <p:nvPr/>
            </p:nvSpPr>
            <p:spPr>
              <a:xfrm>
                <a:off x="903171" y="1345818"/>
                <a:ext cx="3380874" cy="87830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nvGrpSpPr>
              <p:cNvPr id="159" name="组合 158"/>
              <p:cNvGrpSpPr/>
              <p:nvPr/>
            </p:nvGrpSpPr>
            <p:grpSpPr>
              <a:xfrm>
                <a:off x="798411" y="1489895"/>
                <a:ext cx="1022682" cy="556091"/>
                <a:chOff x="721409" y="1359267"/>
                <a:chExt cx="1022682" cy="556091"/>
              </a:xfrm>
              <a:solidFill>
                <a:srgbClr val="E74C2E"/>
              </a:solidFill>
            </p:grpSpPr>
            <p:sp>
              <p:nvSpPr>
                <p:cNvPr id="160" name="任意多边形 159"/>
                <p:cNvSpPr/>
                <p:nvPr/>
              </p:nvSpPr>
              <p:spPr>
                <a:xfrm flipV="1">
                  <a:off x="721410" y="1404984"/>
                  <a:ext cx="1022681" cy="510374"/>
                </a:xfrm>
                <a:custGeom>
                  <a:avLst/>
                  <a:gdLst>
                    <a:gd name="connsiteX0" fmla="*/ 0 w 1022681"/>
                    <a:gd name="connsiteY0" fmla="*/ 0 h 342899"/>
                    <a:gd name="connsiteX1" fmla="*/ 1022681 w 1022681"/>
                    <a:gd name="connsiteY1" fmla="*/ 0 h 342899"/>
                    <a:gd name="connsiteX2" fmla="*/ 1022681 w 1022681"/>
                    <a:gd name="connsiteY2" fmla="*/ 8036 h 342899"/>
                    <a:gd name="connsiteX3" fmla="*/ 762826 w 1022681"/>
                    <a:gd name="connsiteY3" fmla="*/ 342899 h 342899"/>
                    <a:gd name="connsiteX4" fmla="*/ 0 w 1022681"/>
                    <a:gd name="connsiteY4" fmla="*/ 342899 h 34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681" h="342899">
                      <a:moveTo>
                        <a:pt x="0" y="0"/>
                      </a:moveTo>
                      <a:lnTo>
                        <a:pt x="1022681" y="0"/>
                      </a:lnTo>
                      <a:lnTo>
                        <a:pt x="1022681" y="8036"/>
                      </a:lnTo>
                      <a:lnTo>
                        <a:pt x="762826" y="342899"/>
                      </a:lnTo>
                      <a:lnTo>
                        <a:pt x="0" y="342899"/>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sp>
              <p:nvSpPr>
                <p:cNvPr id="161" name="直角三角形 160"/>
                <p:cNvSpPr/>
                <p:nvPr/>
              </p:nvSpPr>
              <p:spPr>
                <a:xfrm flipH="1">
                  <a:off x="721409" y="1359267"/>
                  <a:ext cx="120797" cy="45719"/>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endParaRPr lang="zh-CN" altLang="en-US">
                    <a:solidFill>
                      <a:prstClr val="white"/>
                    </a:solidFill>
                    <a:latin typeface="Nexa Light"/>
                    <a:ea typeface="微软雅黑" panose="020B0503020204020204" pitchFamily="34" charset="-122"/>
                  </a:endParaRPr>
                </a:p>
              </p:txBody>
            </p:sp>
          </p:grpSp>
          <p:sp>
            <p:nvSpPr>
              <p:cNvPr id="162" name="文本框 2"/>
              <p:cNvSpPr txBox="1"/>
              <p:nvPr/>
            </p:nvSpPr>
            <p:spPr>
              <a:xfrm>
                <a:off x="1759023" y="1553545"/>
                <a:ext cx="2258018" cy="487554"/>
              </a:xfrm>
              <a:prstGeom prst="rect">
                <a:avLst/>
              </a:prstGeom>
              <a:noFill/>
            </p:spPr>
            <p:txBody>
              <a:bodyPr wrap="square" rtlCol="0">
                <a:spAutoFit/>
              </a:bodyPr>
              <a:lstStyle/>
              <a:p>
                <a:pPr defTabSz="914400"/>
                <a:r>
                  <a:rPr lang="zh-CN" altLang="en-US" sz="3200" dirty="0">
                    <a:solidFill>
                      <a:prstClr val="white"/>
                    </a:solidFill>
                    <a:latin typeface="微软雅黑" panose="020B0503020204020204" pitchFamily="34" charset="-122"/>
                    <a:ea typeface="微软雅黑" panose="020B0503020204020204" pitchFamily="34" charset="-122"/>
                  </a:rPr>
                  <a:t>研究视角创新</a:t>
                </a:r>
                <a:endParaRPr lang="zh-CN" altLang="en-US" sz="3200" dirty="0">
                  <a:solidFill>
                    <a:prstClr val="white"/>
                  </a:solidFill>
                  <a:latin typeface="微软雅黑" panose="020B0503020204020204" pitchFamily="34" charset="-122"/>
                  <a:ea typeface="微软雅黑" panose="020B0503020204020204" pitchFamily="34" charset="-122"/>
                </a:endParaRPr>
              </a:p>
            </p:txBody>
          </p:sp>
        </p:grpSp>
      </p:grpSp>
      <p:sp>
        <p:nvSpPr>
          <p:cNvPr id="166" name="直接连接符 27"/>
          <p:cNvSpPr>
            <a:spLocks noChangeShapeType="1"/>
          </p:cNvSpPr>
          <p:nvPr/>
        </p:nvSpPr>
        <p:spPr bwMode="auto">
          <a:xfrm>
            <a:off x="4605655"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79" name="等腰三角形 178"/>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0" name="文本框 169"/>
          <p:cNvSpPr txBox="1"/>
          <p:nvPr/>
        </p:nvSpPr>
        <p:spPr>
          <a:xfrm>
            <a:off x="861572" y="1070582"/>
            <a:ext cx="2660478" cy="58356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创新点</a:t>
            </a:r>
            <a:endParaRPr lang="zh-CN" altLang="en-US" sz="3200" b="1" dirty="0">
              <a:latin typeface="微软雅黑" panose="020B0503020204020204" pitchFamily="34" charset="-122"/>
              <a:ea typeface="微软雅黑" panose="020B0503020204020204" pitchFamily="34" charset="-122"/>
            </a:endParaRPr>
          </a:p>
        </p:txBody>
      </p:sp>
      <p:sp>
        <p:nvSpPr>
          <p:cNvPr id="167" name="文本框 166"/>
          <p:cNvSpPr txBox="1"/>
          <p:nvPr/>
        </p:nvSpPr>
        <p:spPr>
          <a:xfrm>
            <a:off x="288290" y="2863850"/>
            <a:ext cx="6777990" cy="3989705"/>
          </a:xfrm>
          <a:prstGeom prst="rect">
            <a:avLst/>
          </a:prstGeom>
          <a:noFill/>
        </p:spPr>
        <p:txBody>
          <a:bodyPr wrap="square" rtlCol="0">
            <a:noAutofit/>
          </a:bodyPr>
          <a:lstStyle/>
          <a:p>
            <a:pPr algn="l" fontAlgn="auto">
              <a:lnSpc>
                <a:spcPct val="170000"/>
              </a:lnSpc>
              <a:spcBef>
                <a:spcPts val="0"/>
              </a:spcBef>
              <a:spcAft>
                <a:spcPts val="0"/>
              </a:spcAft>
              <a:buClrTx/>
              <a:buSzTx/>
              <a:buNone/>
            </a:pPr>
            <a:r>
              <a:rPr lang="zh-CN" altLang="en-US" sz="2000" b="1"/>
              <a:t>创新方式：</a:t>
            </a:r>
            <a:endParaRPr lang="zh-CN" altLang="en-US" sz="2000" b="1"/>
          </a:p>
          <a:p>
            <a:pPr algn="l" fontAlgn="auto">
              <a:lnSpc>
                <a:spcPct val="170000"/>
              </a:lnSpc>
              <a:spcBef>
                <a:spcPts val="0"/>
              </a:spcBef>
              <a:spcAft>
                <a:spcPts val="0"/>
              </a:spcAft>
              <a:buClrTx/>
              <a:buSzTx/>
              <a:buFontTx/>
              <a:buNone/>
            </a:pPr>
            <a:r>
              <a:rPr lang="zh-CN" altLang="en-US" sz="2000"/>
              <a:t>建立“量化+质性”综合评估框架</a:t>
            </a:r>
            <a:endParaRPr lang="zh-CN" altLang="en-US" sz="2000"/>
          </a:p>
          <a:p>
            <a:pPr algn="l" fontAlgn="auto">
              <a:lnSpc>
                <a:spcPct val="170000"/>
              </a:lnSpc>
              <a:spcBef>
                <a:spcPts val="0"/>
              </a:spcBef>
              <a:spcAft>
                <a:spcPts val="0"/>
              </a:spcAft>
              <a:buClrTx/>
              <a:buSzTx/>
              <a:buNone/>
            </a:pPr>
            <a:r>
              <a:rPr lang="zh-CN" altLang="en-US" sz="2000" b="1"/>
              <a:t>具体框架：</a:t>
            </a:r>
            <a:endParaRPr lang="zh-CN" altLang="en-US" sz="2000" b="1"/>
          </a:p>
          <a:p>
            <a:pPr algn="l" fontAlgn="auto">
              <a:lnSpc>
                <a:spcPct val="170000"/>
              </a:lnSpc>
              <a:spcBef>
                <a:spcPts val="0"/>
              </a:spcBef>
              <a:spcAft>
                <a:spcPts val="0"/>
              </a:spcAft>
              <a:buClrTx/>
              <a:buSzTx/>
              <a:buFontTx/>
              <a:buNone/>
            </a:pPr>
            <a:r>
              <a:rPr lang="zh-CN" altLang="en-US" sz="2000"/>
              <a:t>量化指标</a:t>
            </a:r>
            <a:r>
              <a:rPr lang="zh-CN" altLang="en-US" sz="2000">
                <a:sym typeface="+mn-ea"/>
              </a:rPr>
              <a:t>包含语义相似度、风格匹配度、文化内涵保留率</a:t>
            </a:r>
            <a:r>
              <a:rPr lang="zh-CN" altLang="en-US" sz="2000"/>
              <a:t>，</a:t>
            </a:r>
            <a:r>
              <a:rPr lang="zh-CN" altLang="en-US" sz="2000">
                <a:sym typeface="+mn-ea"/>
              </a:rPr>
              <a:t>质性评价</a:t>
            </a:r>
            <a:r>
              <a:rPr lang="zh-CN" altLang="en-US" sz="2000"/>
              <a:t>涵盖</a:t>
            </a:r>
            <a:r>
              <a:rPr lang="zh-CN" altLang="en-US" sz="2000">
                <a:sym typeface="+mn-ea"/>
              </a:rPr>
              <a:t>文学家、翻译家与读者</a:t>
            </a:r>
            <a:endParaRPr lang="zh-CN" altLang="en-US" sz="2000">
              <a:sym typeface="+mn-ea"/>
            </a:endParaRPr>
          </a:p>
          <a:p>
            <a:pPr algn="l" fontAlgn="auto">
              <a:lnSpc>
                <a:spcPct val="170000"/>
              </a:lnSpc>
              <a:spcBef>
                <a:spcPts val="0"/>
              </a:spcBef>
              <a:spcAft>
                <a:spcPts val="0"/>
              </a:spcAft>
              <a:buClrTx/>
              <a:buSzTx/>
              <a:buNone/>
            </a:pPr>
            <a:r>
              <a:rPr lang="zh-CN" altLang="en-US" sz="2000" b="1"/>
              <a:t>解决问题：</a:t>
            </a:r>
            <a:endParaRPr lang="zh-CN" altLang="en-US" sz="2000" b="1"/>
          </a:p>
          <a:p>
            <a:pPr indent="0" fontAlgn="auto">
              <a:lnSpc>
                <a:spcPct val="150000"/>
              </a:lnSpc>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当前</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转写缺乏客观度量标准的难题</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8" name="文本框 167"/>
          <p:cNvSpPr txBox="1"/>
          <p:nvPr/>
        </p:nvSpPr>
        <p:spPr>
          <a:xfrm>
            <a:off x="7500620" y="2842260"/>
            <a:ext cx="4501515" cy="3882390"/>
          </a:xfrm>
          <a:prstGeom prst="rect">
            <a:avLst/>
          </a:prstGeom>
          <a:noFill/>
        </p:spPr>
        <p:txBody>
          <a:bodyPr wrap="square" rtlCol="0">
            <a:noAutofit/>
          </a:bodyPr>
          <a:lstStyle/>
          <a:p>
            <a:pPr algn="l" fontAlgn="auto">
              <a:lnSpc>
                <a:spcPct val="170000"/>
              </a:lnSpc>
              <a:spcBef>
                <a:spcPts val="0"/>
              </a:spcBef>
              <a:spcAft>
                <a:spcPts val="0"/>
              </a:spcAft>
              <a:buClrTx/>
              <a:buSzTx/>
              <a:buNone/>
            </a:pPr>
            <a:r>
              <a:rPr lang="zh-CN" altLang="en-US" sz="2000" b="1"/>
              <a:t>创新方式：</a:t>
            </a:r>
            <a:endParaRPr lang="zh-CN" altLang="en-US" sz="2000" b="1"/>
          </a:p>
          <a:p>
            <a:pPr algn="l" fontAlgn="auto">
              <a:lnSpc>
                <a:spcPct val="170000"/>
              </a:lnSpc>
              <a:spcBef>
                <a:spcPts val="0"/>
              </a:spcBef>
              <a:spcAft>
                <a:spcPts val="0"/>
              </a:spcAft>
              <a:buClrTx/>
              <a:buSzTx/>
              <a:buFontTx/>
              <a:buNone/>
            </a:pPr>
            <a:r>
              <a:rPr lang="zh-CN" altLang="en-US" sz="2000"/>
              <a:t>探索领域拓宽至小语种诗歌</a:t>
            </a:r>
            <a:endParaRPr lang="zh-CN" altLang="en-US" sz="2000"/>
          </a:p>
          <a:p>
            <a:pPr algn="l" fontAlgn="auto">
              <a:lnSpc>
                <a:spcPct val="170000"/>
              </a:lnSpc>
              <a:spcBef>
                <a:spcPts val="0"/>
              </a:spcBef>
              <a:spcAft>
                <a:spcPts val="0"/>
              </a:spcAft>
              <a:buClrTx/>
              <a:buSzTx/>
              <a:buNone/>
            </a:pPr>
            <a:r>
              <a:rPr lang="zh-CN" altLang="en-US" sz="2000" b="1"/>
              <a:t>实现途径：</a:t>
            </a:r>
            <a:endParaRPr lang="zh-CN" altLang="en-US" sz="2000" b="1"/>
          </a:p>
          <a:p>
            <a:pPr algn="l" fontAlgn="auto">
              <a:lnSpc>
                <a:spcPct val="170000"/>
              </a:lnSpc>
              <a:spcBef>
                <a:spcPts val="0"/>
              </a:spcBef>
              <a:spcAft>
                <a:spcPts val="0"/>
              </a:spcAft>
              <a:buClrTx/>
              <a:buSzTx/>
              <a:buFontTx/>
              <a:buNone/>
            </a:pPr>
            <a:r>
              <a:rPr lang="zh-CN" altLang="en-US" sz="2000"/>
              <a:t>结合多语种专业同学的探索研究，实现更多诗歌风格的交互与转写</a:t>
            </a:r>
            <a:endParaRPr lang="zh-CN" altLang="en-US" sz="2000"/>
          </a:p>
          <a:p>
            <a:pPr algn="l" fontAlgn="auto">
              <a:lnSpc>
                <a:spcPct val="170000"/>
              </a:lnSpc>
              <a:spcBef>
                <a:spcPts val="0"/>
              </a:spcBef>
              <a:spcAft>
                <a:spcPts val="0"/>
              </a:spcAft>
              <a:buClrTx/>
              <a:buSzTx/>
              <a:buNone/>
            </a:pPr>
            <a:r>
              <a:rPr lang="zh-CN" altLang="en-US" sz="2000" b="1"/>
              <a:t>解决问题：</a:t>
            </a:r>
            <a:endParaRPr lang="zh-CN" altLang="en-US" sz="2000" b="1"/>
          </a:p>
          <a:p>
            <a:pPr algn="l" fontAlgn="auto">
              <a:lnSpc>
                <a:spcPct val="170000"/>
              </a:lnSpc>
              <a:spcBef>
                <a:spcPts val="0"/>
              </a:spcBef>
              <a:spcAft>
                <a:spcPts val="0"/>
              </a:spcAft>
              <a:buClrTx/>
              <a:buSzTx/>
              <a:buFontTx/>
              <a:buNone/>
            </a:pPr>
            <a:r>
              <a:rPr lang="zh-CN" altLang="en-US" sz="2000"/>
              <a:t>现有主流语种的研究局限</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15"/>
          <p:cNvSpPr/>
          <p:nvPr>
            <p:custDataLst>
              <p:tags r:id="rId1"/>
            </p:custDataLst>
          </p:nvPr>
        </p:nvSpPr>
        <p:spPr>
          <a:xfrm>
            <a:off x="7226935" y="1839595"/>
            <a:ext cx="1478915" cy="269875"/>
          </a:xfrm>
          <a:custGeom>
            <a:avLst/>
            <a:gdLst>
              <a:gd name="connsiteX0" fmla="*/ 0 w 800100"/>
              <a:gd name="connsiteY0" fmla="*/ 152400 h 152400"/>
              <a:gd name="connsiteX1" fmla="*/ 152400 w 800100"/>
              <a:gd name="connsiteY1" fmla="*/ 0 h 152400"/>
              <a:gd name="connsiteX2" fmla="*/ 800100 w 800100"/>
              <a:gd name="connsiteY2" fmla="*/ 0 h 152400"/>
              <a:gd name="connsiteX0-1" fmla="*/ 0 w 776287"/>
              <a:gd name="connsiteY0-2" fmla="*/ 133350 h 133350"/>
              <a:gd name="connsiteX1-3" fmla="*/ 128587 w 776287"/>
              <a:gd name="connsiteY1-4" fmla="*/ 0 h 133350"/>
              <a:gd name="connsiteX2-5" fmla="*/ 776287 w 776287"/>
              <a:gd name="connsiteY2-6" fmla="*/ 0 h 133350"/>
            </a:gdLst>
            <a:ahLst/>
            <a:cxnLst>
              <a:cxn ang="0">
                <a:pos x="connsiteX0-1" y="connsiteY0-2"/>
              </a:cxn>
              <a:cxn ang="0">
                <a:pos x="connsiteX1-3" y="connsiteY1-4"/>
              </a:cxn>
              <a:cxn ang="0">
                <a:pos x="connsiteX2-5" y="connsiteY2-6"/>
              </a:cxn>
            </a:cxnLst>
            <a:rect l="l" t="t" r="r" b="b"/>
            <a:pathLst>
              <a:path w="776287" h="133350">
                <a:moveTo>
                  <a:pt x="0" y="133350"/>
                </a:moveTo>
                <a:lnTo>
                  <a:pt x="128587" y="0"/>
                </a:lnTo>
                <a:lnTo>
                  <a:pt x="776287" y="0"/>
                </a:lnTo>
              </a:path>
            </a:pathLst>
          </a:custGeom>
          <a:gradFill rotWithShape="0">
            <a:gsLst>
              <a:gs pos="0">
                <a:schemeClr val="accent1">
                  <a:lumMod val="5000"/>
                  <a:lumOff val="95000"/>
                </a:schemeClr>
              </a:gs>
              <a:gs pos="63000">
                <a:schemeClr val="bg1">
                  <a:lumMod val="95000"/>
                </a:schemeClr>
              </a:gs>
              <a:gs pos="100000">
                <a:schemeClr val="bg1">
                  <a:lumMod val="85000"/>
                </a:schemeClr>
              </a:gs>
            </a:gsLst>
            <a:path path="circle">
              <a:fillToRect l="50000" t="50000" r="50000" b="50000"/>
            </a:path>
            <a:tileRect l="-116602" t="-43714" r="-116602" b="-43714"/>
          </a:gradFill>
          <a:ln w="15875" cap="rnd">
            <a:solidFill>
              <a:srgbClr val="0070C0"/>
            </a:solidFill>
            <a:prstDash val="sys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a:solidFill>
                <a:prstClr val="white"/>
              </a:solidFill>
              <a:latin typeface="微软雅黑" panose="020B0503020204020204" pitchFamily="34" charset="-122"/>
              <a:ea typeface="微软雅黑" panose="020B0503020204020204" pitchFamily="34" charset="-122"/>
            </a:endParaRPr>
          </a:p>
        </p:txBody>
      </p:sp>
      <p:sp>
        <p:nvSpPr>
          <p:cNvPr id="18" name="任意多边形 17"/>
          <p:cNvSpPr/>
          <p:nvPr>
            <p:custDataLst>
              <p:tags r:id="rId2"/>
            </p:custDataLst>
          </p:nvPr>
        </p:nvSpPr>
        <p:spPr>
          <a:xfrm flipH="1">
            <a:off x="6841490" y="5292090"/>
            <a:ext cx="3458210" cy="834390"/>
          </a:xfrm>
          <a:custGeom>
            <a:avLst/>
            <a:gdLst>
              <a:gd name="connsiteX0" fmla="*/ 1752600 w 1752600"/>
              <a:gd name="connsiteY0" fmla="*/ 0 h 495300"/>
              <a:gd name="connsiteX1" fmla="*/ 1314450 w 1752600"/>
              <a:gd name="connsiteY1" fmla="*/ 438150 h 495300"/>
              <a:gd name="connsiteX2" fmla="*/ 0 w 1752600"/>
              <a:gd name="connsiteY2" fmla="*/ 438150 h 495300"/>
              <a:gd name="connsiteX3" fmla="*/ 0 w 1752600"/>
              <a:gd name="connsiteY3" fmla="*/ 495300 h 495300"/>
              <a:gd name="connsiteX0-1" fmla="*/ 1752600 w 1752600"/>
              <a:gd name="connsiteY0-2" fmla="*/ 0 h 438150"/>
              <a:gd name="connsiteX1-3" fmla="*/ 1314450 w 1752600"/>
              <a:gd name="connsiteY1-4" fmla="*/ 438150 h 438150"/>
              <a:gd name="connsiteX2-5" fmla="*/ 0 w 1752600"/>
              <a:gd name="connsiteY2-6" fmla="*/ 438150 h 438150"/>
              <a:gd name="connsiteX0-7" fmla="*/ 1981200 w 1981200"/>
              <a:gd name="connsiteY0-8" fmla="*/ 0 h 438150"/>
              <a:gd name="connsiteX1-9" fmla="*/ 1543050 w 1981200"/>
              <a:gd name="connsiteY1-10" fmla="*/ 438150 h 438150"/>
              <a:gd name="connsiteX2-11" fmla="*/ 0 w 1981200"/>
              <a:gd name="connsiteY2-12" fmla="*/ 438150 h 438150"/>
              <a:gd name="connsiteX0-13" fmla="*/ 1935480 w 1935480"/>
              <a:gd name="connsiteY0-14" fmla="*/ 0 h 392430"/>
              <a:gd name="connsiteX1-15" fmla="*/ 1543050 w 1935480"/>
              <a:gd name="connsiteY1-16" fmla="*/ 392430 h 392430"/>
              <a:gd name="connsiteX2-17" fmla="*/ 0 w 1935480"/>
              <a:gd name="connsiteY2-18" fmla="*/ 392430 h 392430"/>
            </a:gdLst>
            <a:ahLst/>
            <a:cxnLst>
              <a:cxn ang="0">
                <a:pos x="connsiteX0-1" y="connsiteY0-2"/>
              </a:cxn>
              <a:cxn ang="0">
                <a:pos x="connsiteX1-3" y="connsiteY1-4"/>
              </a:cxn>
              <a:cxn ang="0">
                <a:pos x="connsiteX2-5" y="connsiteY2-6"/>
              </a:cxn>
            </a:cxnLst>
            <a:rect l="l" t="t" r="r" b="b"/>
            <a:pathLst>
              <a:path w="1935480" h="392430">
                <a:moveTo>
                  <a:pt x="1935480" y="0"/>
                </a:moveTo>
                <a:lnTo>
                  <a:pt x="1543050" y="392430"/>
                </a:lnTo>
                <a:lnTo>
                  <a:pt x="0" y="392430"/>
                </a:lnTo>
              </a:path>
            </a:pathLst>
          </a:custGeom>
          <a:gradFill rotWithShape="0">
            <a:gsLst>
              <a:gs pos="0">
                <a:schemeClr val="accent1">
                  <a:lumMod val="5000"/>
                  <a:lumOff val="95000"/>
                </a:schemeClr>
              </a:gs>
              <a:gs pos="63000">
                <a:schemeClr val="bg1">
                  <a:lumMod val="95000"/>
                </a:schemeClr>
              </a:gs>
              <a:gs pos="100000">
                <a:schemeClr val="bg1">
                  <a:lumMod val="85000"/>
                </a:schemeClr>
              </a:gs>
            </a:gsLst>
            <a:path path="circle">
              <a:fillToRect l="50000" t="50000" r="50000" b="50000"/>
            </a:path>
            <a:tileRect l="-116602" t="-43714" r="-116602" b="-43714"/>
          </a:gradFill>
          <a:ln w="15875" cap="rnd">
            <a:solidFill>
              <a:srgbClr val="0070C0"/>
            </a:solidFill>
            <a:prstDash val="sys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a:solidFill>
                <a:prstClr val="white"/>
              </a:solidFill>
              <a:latin typeface="微软雅黑" panose="020B0503020204020204" pitchFamily="34" charset="-122"/>
              <a:ea typeface="微软雅黑" panose="020B0503020204020204" pitchFamily="34" charset="-122"/>
            </a:endParaRPr>
          </a:p>
        </p:txBody>
      </p:sp>
      <p:sp>
        <p:nvSpPr>
          <p:cNvPr id="19" name="任意多边形 18"/>
          <p:cNvSpPr/>
          <p:nvPr>
            <p:custDataLst>
              <p:tags r:id="rId3"/>
            </p:custDataLst>
          </p:nvPr>
        </p:nvSpPr>
        <p:spPr>
          <a:xfrm>
            <a:off x="2063750" y="3285490"/>
            <a:ext cx="1844675" cy="317500"/>
          </a:xfrm>
          <a:custGeom>
            <a:avLst/>
            <a:gdLst>
              <a:gd name="connsiteX0" fmla="*/ 1625600 w 1625600"/>
              <a:gd name="connsiteY0" fmla="*/ 0 h 254000"/>
              <a:gd name="connsiteX1" fmla="*/ 1384300 w 1625600"/>
              <a:gd name="connsiteY1" fmla="*/ 254000 h 254000"/>
              <a:gd name="connsiteX2" fmla="*/ 0 w 1625600"/>
              <a:gd name="connsiteY2" fmla="*/ 254000 h 254000"/>
            </a:gdLst>
            <a:ahLst/>
            <a:cxnLst>
              <a:cxn ang="0">
                <a:pos x="connsiteX0" y="connsiteY0"/>
              </a:cxn>
              <a:cxn ang="0">
                <a:pos x="connsiteX1" y="connsiteY1"/>
              </a:cxn>
              <a:cxn ang="0">
                <a:pos x="connsiteX2" y="connsiteY2"/>
              </a:cxn>
            </a:cxnLst>
            <a:rect l="l" t="t" r="r" b="b"/>
            <a:pathLst>
              <a:path w="1625600" h="254000">
                <a:moveTo>
                  <a:pt x="1625600" y="0"/>
                </a:moveTo>
                <a:lnTo>
                  <a:pt x="1384300" y="254000"/>
                </a:lnTo>
                <a:lnTo>
                  <a:pt x="0" y="254000"/>
                </a:lnTo>
              </a:path>
            </a:pathLst>
          </a:custGeom>
          <a:gradFill rotWithShape="0">
            <a:gsLst>
              <a:gs pos="0">
                <a:schemeClr val="accent1">
                  <a:lumMod val="5000"/>
                  <a:lumOff val="95000"/>
                </a:schemeClr>
              </a:gs>
              <a:gs pos="63000">
                <a:schemeClr val="bg1">
                  <a:lumMod val="95000"/>
                </a:schemeClr>
              </a:gs>
              <a:gs pos="100000">
                <a:schemeClr val="bg1">
                  <a:lumMod val="85000"/>
                </a:schemeClr>
              </a:gs>
            </a:gsLst>
            <a:path path="circle">
              <a:fillToRect l="50000" t="50000" r="50000" b="50000"/>
            </a:path>
            <a:tileRect l="-116602" t="-43714" r="-116602" b="-43714"/>
          </a:gradFill>
          <a:ln w="15875" cap="rnd">
            <a:solidFill>
              <a:srgbClr val="0070C0"/>
            </a:solidFill>
            <a:prstDash val="sys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a:solidFill>
                <a:prstClr val="white"/>
              </a:solidFill>
              <a:latin typeface="微软雅黑" panose="020B0503020204020204" pitchFamily="34" charset="-122"/>
              <a:ea typeface="微软雅黑" panose="020B0503020204020204" pitchFamily="34" charset="-122"/>
            </a:endParaRPr>
          </a:p>
        </p:txBody>
      </p:sp>
      <p:sp>
        <p:nvSpPr>
          <p:cNvPr id="20" name="Freeform 24"/>
          <p:cNvSpPr>
            <a:spLocks noEditPoints="1"/>
          </p:cNvSpPr>
          <p:nvPr>
            <p:custDataLst>
              <p:tags r:id="rId4"/>
            </p:custDataLst>
          </p:nvPr>
        </p:nvSpPr>
        <p:spPr bwMode="auto">
          <a:xfrm flipH="1">
            <a:off x="1348740" y="4587240"/>
            <a:ext cx="575310" cy="539750"/>
          </a:xfrm>
          <a:custGeom>
            <a:avLst/>
            <a:gdLst>
              <a:gd name="T0" fmla="*/ 127 w 358"/>
              <a:gd name="T1" fmla="*/ 292 h 382"/>
              <a:gd name="T2" fmla="*/ 322 w 358"/>
              <a:gd name="T3" fmla="*/ 63 h 382"/>
              <a:gd name="T4" fmla="*/ 333 w 358"/>
              <a:gd name="T5" fmla="*/ 113 h 382"/>
              <a:gd name="T6" fmla="*/ 336 w 358"/>
              <a:gd name="T7" fmla="*/ 178 h 382"/>
              <a:gd name="T8" fmla="*/ 338 w 358"/>
              <a:gd name="T9" fmla="*/ 245 h 382"/>
              <a:gd name="T10" fmla="*/ 321 w 358"/>
              <a:gd name="T11" fmla="*/ 314 h 382"/>
              <a:gd name="T12" fmla="*/ 271 w 358"/>
              <a:gd name="T13" fmla="*/ 382 h 382"/>
              <a:gd name="T14" fmla="*/ 172 w 358"/>
              <a:gd name="T15" fmla="*/ 226 h 382"/>
              <a:gd name="T16" fmla="*/ 123 w 358"/>
              <a:gd name="T17" fmla="*/ 197 h 382"/>
              <a:gd name="T18" fmla="*/ 125 w 358"/>
              <a:gd name="T19" fmla="*/ 208 h 382"/>
              <a:gd name="T20" fmla="*/ 174 w 358"/>
              <a:gd name="T21" fmla="*/ 236 h 382"/>
              <a:gd name="T22" fmla="*/ 172 w 358"/>
              <a:gd name="T23" fmla="*/ 226 h 382"/>
              <a:gd name="T24" fmla="*/ 288 w 358"/>
              <a:gd name="T25" fmla="*/ 136 h 382"/>
              <a:gd name="T26" fmla="*/ 263 w 358"/>
              <a:gd name="T27" fmla="*/ 125 h 382"/>
              <a:gd name="T28" fmla="*/ 171 w 358"/>
              <a:gd name="T29" fmla="*/ 70 h 382"/>
              <a:gd name="T30" fmla="*/ 148 w 358"/>
              <a:gd name="T31" fmla="*/ 54 h 382"/>
              <a:gd name="T32" fmla="*/ 171 w 358"/>
              <a:gd name="T33" fmla="*/ 70 h 382"/>
              <a:gd name="T34" fmla="*/ 204 w 358"/>
              <a:gd name="T35" fmla="*/ 39 h 382"/>
              <a:gd name="T36" fmla="*/ 193 w 358"/>
              <a:gd name="T37" fmla="*/ 64 h 382"/>
              <a:gd name="T38" fmla="*/ 258 w 358"/>
              <a:gd name="T39" fmla="*/ 103 h 382"/>
              <a:gd name="T40" fmla="*/ 274 w 358"/>
              <a:gd name="T41" fmla="*/ 80 h 382"/>
              <a:gd name="T42" fmla="*/ 258 w 358"/>
              <a:gd name="T43" fmla="*/ 103 h 382"/>
              <a:gd name="T44" fmla="*/ 249 w 358"/>
              <a:gd name="T45" fmla="*/ 55 h 382"/>
              <a:gd name="T46" fmla="*/ 226 w 358"/>
              <a:gd name="T47" fmla="*/ 71 h 382"/>
              <a:gd name="T48" fmla="*/ 182 w 358"/>
              <a:gd name="T49" fmla="*/ 209 h 382"/>
              <a:gd name="T50" fmla="*/ 133 w 358"/>
              <a:gd name="T51" fmla="*/ 180 h 382"/>
              <a:gd name="T52" fmla="*/ 135 w 358"/>
              <a:gd name="T53" fmla="*/ 190 h 382"/>
              <a:gd name="T54" fmla="*/ 184 w 358"/>
              <a:gd name="T55" fmla="*/ 219 h 382"/>
              <a:gd name="T56" fmla="*/ 182 w 358"/>
              <a:gd name="T57" fmla="*/ 209 h 382"/>
              <a:gd name="T58" fmla="*/ 157 w 358"/>
              <a:gd name="T59" fmla="*/ 104 h 382"/>
              <a:gd name="T60" fmla="*/ 186 w 358"/>
              <a:gd name="T61" fmla="*/ 195 h 382"/>
              <a:gd name="T62" fmla="*/ 222 w 358"/>
              <a:gd name="T63" fmla="*/ 90 h 382"/>
              <a:gd name="T64" fmla="*/ 136 w 358"/>
              <a:gd name="T65" fmla="*/ 238 h 382"/>
              <a:gd name="T66" fmla="*/ 129 w 358"/>
              <a:gd name="T67" fmla="*/ 2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8" h="382">
                <a:moveTo>
                  <a:pt x="131" y="382"/>
                </a:moveTo>
                <a:cubicBezTo>
                  <a:pt x="135" y="352"/>
                  <a:pt x="135" y="320"/>
                  <a:pt x="127" y="292"/>
                </a:cubicBezTo>
                <a:cubicBezTo>
                  <a:pt x="0" y="220"/>
                  <a:pt x="34" y="56"/>
                  <a:pt x="140" y="23"/>
                </a:cubicBezTo>
                <a:cubicBezTo>
                  <a:pt x="196" y="0"/>
                  <a:pt x="272" y="14"/>
                  <a:pt x="322" y="63"/>
                </a:cubicBezTo>
                <a:cubicBezTo>
                  <a:pt x="358" y="99"/>
                  <a:pt x="340" y="109"/>
                  <a:pt x="340" y="109"/>
                </a:cubicBezTo>
                <a:cubicBezTo>
                  <a:pt x="333" y="113"/>
                  <a:pt x="333" y="113"/>
                  <a:pt x="333" y="113"/>
                </a:cubicBezTo>
                <a:cubicBezTo>
                  <a:pt x="337" y="130"/>
                  <a:pt x="345" y="162"/>
                  <a:pt x="344" y="166"/>
                </a:cubicBezTo>
                <a:cubicBezTo>
                  <a:pt x="342" y="172"/>
                  <a:pt x="336" y="178"/>
                  <a:pt x="336" y="178"/>
                </a:cubicBezTo>
                <a:cubicBezTo>
                  <a:pt x="354" y="239"/>
                  <a:pt x="354" y="239"/>
                  <a:pt x="354" y="239"/>
                </a:cubicBezTo>
                <a:cubicBezTo>
                  <a:pt x="338" y="245"/>
                  <a:pt x="338" y="245"/>
                  <a:pt x="338" y="245"/>
                </a:cubicBezTo>
                <a:cubicBezTo>
                  <a:pt x="341" y="265"/>
                  <a:pt x="343" y="281"/>
                  <a:pt x="341" y="300"/>
                </a:cubicBezTo>
                <a:cubicBezTo>
                  <a:pt x="341" y="304"/>
                  <a:pt x="330" y="313"/>
                  <a:pt x="321" y="314"/>
                </a:cubicBezTo>
                <a:cubicBezTo>
                  <a:pt x="267" y="317"/>
                  <a:pt x="267" y="317"/>
                  <a:pt x="267" y="317"/>
                </a:cubicBezTo>
                <a:cubicBezTo>
                  <a:pt x="271" y="382"/>
                  <a:pt x="271" y="382"/>
                  <a:pt x="271" y="382"/>
                </a:cubicBezTo>
                <a:cubicBezTo>
                  <a:pt x="131" y="382"/>
                  <a:pt x="131" y="382"/>
                  <a:pt x="131" y="382"/>
                </a:cubicBezTo>
                <a:close/>
                <a:moveTo>
                  <a:pt x="172" y="226"/>
                </a:moveTo>
                <a:cubicBezTo>
                  <a:pt x="132" y="196"/>
                  <a:pt x="132" y="196"/>
                  <a:pt x="132" y="196"/>
                </a:cubicBezTo>
                <a:cubicBezTo>
                  <a:pt x="129" y="193"/>
                  <a:pt x="125" y="194"/>
                  <a:pt x="123" y="197"/>
                </a:cubicBezTo>
                <a:cubicBezTo>
                  <a:pt x="123" y="197"/>
                  <a:pt x="123" y="197"/>
                  <a:pt x="123" y="197"/>
                </a:cubicBezTo>
                <a:cubicBezTo>
                  <a:pt x="121" y="201"/>
                  <a:pt x="122" y="205"/>
                  <a:pt x="125" y="208"/>
                </a:cubicBezTo>
                <a:cubicBezTo>
                  <a:pt x="165" y="238"/>
                  <a:pt x="165" y="238"/>
                  <a:pt x="165" y="238"/>
                </a:cubicBezTo>
                <a:cubicBezTo>
                  <a:pt x="168" y="240"/>
                  <a:pt x="172" y="239"/>
                  <a:pt x="174" y="236"/>
                </a:cubicBezTo>
                <a:cubicBezTo>
                  <a:pt x="174" y="236"/>
                  <a:pt x="174" y="236"/>
                  <a:pt x="174" y="236"/>
                </a:cubicBezTo>
                <a:cubicBezTo>
                  <a:pt x="176" y="233"/>
                  <a:pt x="175" y="228"/>
                  <a:pt x="172" y="226"/>
                </a:cubicBezTo>
                <a:close/>
                <a:moveTo>
                  <a:pt x="263" y="136"/>
                </a:moveTo>
                <a:cubicBezTo>
                  <a:pt x="288" y="136"/>
                  <a:pt x="288" y="136"/>
                  <a:pt x="288" y="136"/>
                </a:cubicBezTo>
                <a:cubicBezTo>
                  <a:pt x="288" y="125"/>
                  <a:pt x="288" y="125"/>
                  <a:pt x="288" y="125"/>
                </a:cubicBezTo>
                <a:cubicBezTo>
                  <a:pt x="263" y="125"/>
                  <a:pt x="263" y="125"/>
                  <a:pt x="263" y="125"/>
                </a:cubicBezTo>
                <a:cubicBezTo>
                  <a:pt x="263" y="136"/>
                  <a:pt x="263" y="136"/>
                  <a:pt x="263" y="136"/>
                </a:cubicBezTo>
                <a:close/>
                <a:moveTo>
                  <a:pt x="171" y="70"/>
                </a:moveTo>
                <a:cubicBezTo>
                  <a:pt x="158" y="48"/>
                  <a:pt x="158" y="48"/>
                  <a:pt x="158" y="48"/>
                </a:cubicBezTo>
                <a:cubicBezTo>
                  <a:pt x="148" y="54"/>
                  <a:pt x="148" y="54"/>
                  <a:pt x="148" y="54"/>
                </a:cubicBezTo>
                <a:cubicBezTo>
                  <a:pt x="161" y="76"/>
                  <a:pt x="161" y="76"/>
                  <a:pt x="161" y="76"/>
                </a:cubicBezTo>
                <a:cubicBezTo>
                  <a:pt x="171" y="70"/>
                  <a:pt x="171" y="70"/>
                  <a:pt x="171" y="70"/>
                </a:cubicBezTo>
                <a:close/>
                <a:moveTo>
                  <a:pt x="204" y="64"/>
                </a:moveTo>
                <a:cubicBezTo>
                  <a:pt x="204" y="39"/>
                  <a:pt x="204" y="39"/>
                  <a:pt x="204" y="39"/>
                </a:cubicBezTo>
                <a:cubicBezTo>
                  <a:pt x="193" y="39"/>
                  <a:pt x="193" y="39"/>
                  <a:pt x="193" y="39"/>
                </a:cubicBezTo>
                <a:cubicBezTo>
                  <a:pt x="193" y="64"/>
                  <a:pt x="193" y="64"/>
                  <a:pt x="193" y="64"/>
                </a:cubicBezTo>
                <a:cubicBezTo>
                  <a:pt x="204" y="64"/>
                  <a:pt x="204" y="64"/>
                  <a:pt x="204" y="64"/>
                </a:cubicBezTo>
                <a:close/>
                <a:moveTo>
                  <a:pt x="258" y="103"/>
                </a:moveTo>
                <a:cubicBezTo>
                  <a:pt x="279" y="90"/>
                  <a:pt x="279" y="90"/>
                  <a:pt x="279" y="90"/>
                </a:cubicBezTo>
                <a:cubicBezTo>
                  <a:pt x="274" y="80"/>
                  <a:pt x="274" y="80"/>
                  <a:pt x="274" y="80"/>
                </a:cubicBezTo>
                <a:cubicBezTo>
                  <a:pt x="252" y="93"/>
                  <a:pt x="252" y="93"/>
                  <a:pt x="252" y="93"/>
                </a:cubicBezTo>
                <a:cubicBezTo>
                  <a:pt x="258" y="103"/>
                  <a:pt x="258" y="103"/>
                  <a:pt x="258" y="103"/>
                </a:cubicBezTo>
                <a:close/>
                <a:moveTo>
                  <a:pt x="236" y="76"/>
                </a:moveTo>
                <a:cubicBezTo>
                  <a:pt x="249" y="55"/>
                  <a:pt x="249" y="55"/>
                  <a:pt x="249" y="55"/>
                </a:cubicBezTo>
                <a:cubicBezTo>
                  <a:pt x="239" y="49"/>
                  <a:pt x="239" y="49"/>
                  <a:pt x="239" y="49"/>
                </a:cubicBezTo>
                <a:cubicBezTo>
                  <a:pt x="226" y="71"/>
                  <a:pt x="226" y="71"/>
                  <a:pt x="226" y="71"/>
                </a:cubicBezTo>
                <a:cubicBezTo>
                  <a:pt x="236" y="76"/>
                  <a:pt x="236" y="76"/>
                  <a:pt x="236" y="76"/>
                </a:cubicBezTo>
                <a:close/>
                <a:moveTo>
                  <a:pt x="182" y="209"/>
                </a:moveTo>
                <a:cubicBezTo>
                  <a:pt x="142" y="178"/>
                  <a:pt x="142" y="178"/>
                  <a:pt x="142" y="178"/>
                </a:cubicBezTo>
                <a:cubicBezTo>
                  <a:pt x="139" y="176"/>
                  <a:pt x="135" y="177"/>
                  <a:pt x="133" y="180"/>
                </a:cubicBezTo>
                <a:cubicBezTo>
                  <a:pt x="133" y="180"/>
                  <a:pt x="133" y="180"/>
                  <a:pt x="133" y="180"/>
                </a:cubicBezTo>
                <a:cubicBezTo>
                  <a:pt x="131" y="183"/>
                  <a:pt x="132" y="188"/>
                  <a:pt x="135" y="190"/>
                </a:cubicBezTo>
                <a:cubicBezTo>
                  <a:pt x="175" y="221"/>
                  <a:pt x="175" y="221"/>
                  <a:pt x="175" y="221"/>
                </a:cubicBezTo>
                <a:cubicBezTo>
                  <a:pt x="178" y="223"/>
                  <a:pt x="182" y="222"/>
                  <a:pt x="184" y="219"/>
                </a:cubicBezTo>
                <a:cubicBezTo>
                  <a:pt x="184" y="219"/>
                  <a:pt x="184" y="219"/>
                  <a:pt x="184" y="219"/>
                </a:cubicBezTo>
                <a:cubicBezTo>
                  <a:pt x="186" y="216"/>
                  <a:pt x="185" y="211"/>
                  <a:pt x="182" y="209"/>
                </a:cubicBezTo>
                <a:close/>
                <a:moveTo>
                  <a:pt x="222" y="90"/>
                </a:moveTo>
                <a:cubicBezTo>
                  <a:pt x="198" y="76"/>
                  <a:pt x="169" y="83"/>
                  <a:pt x="157" y="104"/>
                </a:cubicBezTo>
                <a:cubicBezTo>
                  <a:pt x="144" y="126"/>
                  <a:pt x="160" y="151"/>
                  <a:pt x="149" y="174"/>
                </a:cubicBezTo>
                <a:cubicBezTo>
                  <a:pt x="186" y="195"/>
                  <a:pt x="186" y="195"/>
                  <a:pt x="186" y="195"/>
                </a:cubicBezTo>
                <a:cubicBezTo>
                  <a:pt x="200" y="174"/>
                  <a:pt x="229" y="176"/>
                  <a:pt x="242" y="154"/>
                </a:cubicBezTo>
                <a:cubicBezTo>
                  <a:pt x="255" y="132"/>
                  <a:pt x="245" y="104"/>
                  <a:pt x="222" y="90"/>
                </a:cubicBezTo>
                <a:close/>
                <a:moveTo>
                  <a:pt x="129" y="216"/>
                </a:moveTo>
                <a:cubicBezTo>
                  <a:pt x="125" y="224"/>
                  <a:pt x="128" y="233"/>
                  <a:pt x="136" y="238"/>
                </a:cubicBezTo>
                <a:cubicBezTo>
                  <a:pt x="142" y="241"/>
                  <a:pt x="150" y="240"/>
                  <a:pt x="155" y="236"/>
                </a:cubicBezTo>
                <a:lnTo>
                  <a:pt x="129" y="216"/>
                </a:lnTo>
                <a:close/>
              </a:path>
            </a:pathLst>
          </a:custGeom>
          <a:solidFill>
            <a:srgbClr val="0070C0"/>
          </a:solidFill>
          <a:ln w="9525">
            <a:noFill/>
            <a:round/>
          </a:ln>
          <a:effectLst>
            <a:reflection blurRad="6350" stA="52000" endA="300" endPos="35000" dir="5400000" sy="-100000" algn="bl" rotWithShape="0"/>
          </a:effectLst>
        </p:spPr>
        <p:txBody>
          <a:bodyPr vert="horz" wrap="square" lIns="121920" tIns="60960" rIns="121920" bIns="60960" numCol="1" anchor="t" anchorCtr="0" compatLnSpc="1"/>
          <a:lstStyle/>
          <a:p>
            <a:pPr defTabSz="914400"/>
            <a:endParaRPr lang="zh-CN" altLang="en-US" sz="2400">
              <a:solidFill>
                <a:prstClr val="black"/>
              </a:solidFill>
              <a:latin typeface="微软雅黑" panose="020B0503020204020204" pitchFamily="34" charset="-122"/>
              <a:ea typeface="微软雅黑" panose="020B0503020204020204" pitchFamily="34" charset="-122"/>
            </a:endParaRPr>
          </a:p>
        </p:txBody>
      </p:sp>
      <p:sp>
        <p:nvSpPr>
          <p:cNvPr id="21" name="Freeform 25"/>
          <p:cNvSpPr>
            <a:spLocks noEditPoints="1"/>
          </p:cNvSpPr>
          <p:nvPr>
            <p:custDataLst>
              <p:tags r:id="rId5"/>
            </p:custDataLst>
          </p:nvPr>
        </p:nvSpPr>
        <p:spPr bwMode="auto">
          <a:xfrm flipH="1">
            <a:off x="1329690" y="1513205"/>
            <a:ext cx="645795" cy="669290"/>
          </a:xfrm>
          <a:custGeom>
            <a:avLst/>
            <a:gdLst>
              <a:gd name="T0" fmla="*/ 90 w 376"/>
              <a:gd name="T1" fmla="*/ 52 h 355"/>
              <a:gd name="T2" fmla="*/ 37 w 376"/>
              <a:gd name="T3" fmla="*/ 264 h 355"/>
              <a:gd name="T4" fmla="*/ 118 w 376"/>
              <a:gd name="T5" fmla="*/ 310 h 355"/>
              <a:gd name="T6" fmla="*/ 134 w 376"/>
              <a:gd name="T7" fmla="*/ 310 h 355"/>
              <a:gd name="T8" fmla="*/ 215 w 376"/>
              <a:gd name="T9" fmla="*/ 264 h 355"/>
              <a:gd name="T10" fmla="*/ 241 w 376"/>
              <a:gd name="T11" fmla="*/ 310 h 355"/>
              <a:gd name="T12" fmla="*/ 255 w 376"/>
              <a:gd name="T13" fmla="*/ 287 h 355"/>
              <a:gd name="T14" fmla="*/ 358 w 376"/>
              <a:gd name="T15" fmla="*/ 287 h 355"/>
              <a:gd name="T16" fmla="*/ 371 w 376"/>
              <a:gd name="T17" fmla="*/ 310 h 355"/>
              <a:gd name="T18" fmla="*/ 371 w 376"/>
              <a:gd name="T19" fmla="*/ 323 h 355"/>
              <a:gd name="T20" fmla="*/ 358 w 376"/>
              <a:gd name="T21" fmla="*/ 355 h 355"/>
              <a:gd name="T22" fmla="*/ 250 w 376"/>
              <a:gd name="T23" fmla="*/ 323 h 355"/>
              <a:gd name="T24" fmla="*/ 237 w 376"/>
              <a:gd name="T25" fmla="*/ 355 h 355"/>
              <a:gd name="T26" fmla="*/ 131 w 376"/>
              <a:gd name="T27" fmla="*/ 323 h 355"/>
              <a:gd name="T28" fmla="*/ 118 w 376"/>
              <a:gd name="T29" fmla="*/ 355 h 355"/>
              <a:gd name="T30" fmla="*/ 0 w 376"/>
              <a:gd name="T31" fmla="*/ 323 h 355"/>
              <a:gd name="T32" fmla="*/ 14 w 376"/>
              <a:gd name="T33" fmla="*/ 287 h 355"/>
              <a:gd name="T34" fmla="*/ 336 w 376"/>
              <a:gd name="T35" fmla="*/ 248 h 355"/>
              <a:gd name="T36" fmla="*/ 279 w 376"/>
              <a:gd name="T37" fmla="*/ 248 h 355"/>
              <a:gd name="T38" fmla="*/ 215 w 376"/>
              <a:gd name="T39" fmla="*/ 248 h 355"/>
              <a:gd name="T40" fmla="*/ 158 w 376"/>
              <a:gd name="T41" fmla="*/ 248 h 355"/>
              <a:gd name="T42" fmla="*/ 95 w 376"/>
              <a:gd name="T43" fmla="*/ 248 h 355"/>
              <a:gd name="T44" fmla="*/ 38 w 376"/>
              <a:gd name="T45" fmla="*/ 248 h 355"/>
              <a:gd name="T46" fmla="*/ 307 w 376"/>
              <a:gd name="T47" fmla="*/ 147 h 355"/>
              <a:gd name="T48" fmla="*/ 289 w 376"/>
              <a:gd name="T49" fmla="*/ 201 h 355"/>
              <a:gd name="T50" fmla="*/ 201 w 376"/>
              <a:gd name="T51" fmla="*/ 201 h 355"/>
              <a:gd name="T52" fmla="*/ 181 w 376"/>
              <a:gd name="T53" fmla="*/ 147 h 355"/>
              <a:gd name="T54" fmla="*/ 180 w 376"/>
              <a:gd name="T55" fmla="*/ 16 h 355"/>
              <a:gd name="T56" fmla="*/ 161 w 376"/>
              <a:gd name="T57" fmla="*/ 35 h 355"/>
              <a:gd name="T58" fmla="*/ 155 w 376"/>
              <a:gd name="T59" fmla="*/ 67 h 355"/>
              <a:gd name="T60" fmla="*/ 66 w 376"/>
              <a:gd name="T61" fmla="*/ 55 h 355"/>
              <a:gd name="T62" fmla="*/ 66 w 376"/>
              <a:gd name="T63" fmla="*/ 122 h 355"/>
              <a:gd name="T64" fmla="*/ 69 w 376"/>
              <a:gd name="T65" fmla="*/ 122 h 355"/>
              <a:gd name="T66" fmla="*/ 87 w 376"/>
              <a:gd name="T67" fmla="*/ 199 h 355"/>
              <a:gd name="T68" fmla="*/ 91 w 376"/>
              <a:gd name="T69" fmla="*/ 199 h 355"/>
              <a:gd name="T70" fmla="*/ 109 w 376"/>
              <a:gd name="T71" fmla="*/ 132 h 355"/>
              <a:gd name="T72" fmla="*/ 109 w 376"/>
              <a:gd name="T73" fmla="*/ 75 h 355"/>
              <a:gd name="T74" fmla="*/ 155 w 376"/>
              <a:gd name="T75" fmla="*/ 80 h 355"/>
              <a:gd name="T76" fmla="*/ 166 w 376"/>
              <a:gd name="T77" fmla="*/ 120 h 355"/>
              <a:gd name="T78" fmla="*/ 180 w 376"/>
              <a:gd name="T79" fmla="*/ 126 h 355"/>
              <a:gd name="T80" fmla="*/ 317 w 376"/>
              <a:gd name="T81" fmla="*/ 120 h 355"/>
              <a:gd name="T82" fmla="*/ 317 w 376"/>
              <a:gd name="T83" fmla="*/ 21 h 355"/>
              <a:gd name="T84" fmla="*/ 304 w 376"/>
              <a:gd name="T85" fmla="*/ 31 h 355"/>
              <a:gd name="T86" fmla="*/ 308 w 376"/>
              <a:gd name="T87" fmla="*/ 107 h 355"/>
              <a:gd name="T88" fmla="*/ 304 w 376"/>
              <a:gd name="T89" fmla="*/ 111 h 355"/>
              <a:gd name="T90" fmla="*/ 177 w 376"/>
              <a:gd name="T91" fmla="*/ 109 h 355"/>
              <a:gd name="T92" fmla="*/ 238 w 376"/>
              <a:gd name="T93" fmla="*/ 63 h 355"/>
              <a:gd name="T94" fmla="*/ 176 w 376"/>
              <a:gd name="T95" fmla="*/ 35 h 355"/>
              <a:gd name="T96" fmla="*/ 180 w 376"/>
              <a:gd name="T97" fmla="*/ 3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6" h="355">
                <a:moveTo>
                  <a:pt x="90" y="0"/>
                </a:moveTo>
                <a:cubicBezTo>
                  <a:pt x="104" y="0"/>
                  <a:pt x="115" y="12"/>
                  <a:pt x="115" y="26"/>
                </a:cubicBezTo>
                <a:cubicBezTo>
                  <a:pt x="115" y="40"/>
                  <a:pt x="104" y="52"/>
                  <a:pt x="90" y="52"/>
                </a:cubicBezTo>
                <a:cubicBezTo>
                  <a:pt x="75" y="52"/>
                  <a:pt x="64" y="40"/>
                  <a:pt x="64" y="26"/>
                </a:cubicBezTo>
                <a:cubicBezTo>
                  <a:pt x="64" y="12"/>
                  <a:pt x="75" y="0"/>
                  <a:pt x="90" y="0"/>
                </a:cubicBezTo>
                <a:close/>
                <a:moveTo>
                  <a:pt x="37" y="264"/>
                </a:moveTo>
                <a:cubicBezTo>
                  <a:pt x="95" y="264"/>
                  <a:pt x="95" y="264"/>
                  <a:pt x="95" y="264"/>
                </a:cubicBezTo>
                <a:cubicBezTo>
                  <a:pt x="108" y="264"/>
                  <a:pt x="118" y="274"/>
                  <a:pt x="118" y="287"/>
                </a:cubicBezTo>
                <a:cubicBezTo>
                  <a:pt x="118" y="310"/>
                  <a:pt x="118" y="310"/>
                  <a:pt x="118" y="310"/>
                </a:cubicBezTo>
                <a:cubicBezTo>
                  <a:pt x="120" y="310"/>
                  <a:pt x="120" y="310"/>
                  <a:pt x="120" y="310"/>
                </a:cubicBezTo>
                <a:cubicBezTo>
                  <a:pt x="131" y="310"/>
                  <a:pt x="131" y="310"/>
                  <a:pt x="131" y="310"/>
                </a:cubicBezTo>
                <a:cubicBezTo>
                  <a:pt x="134" y="310"/>
                  <a:pt x="134" y="310"/>
                  <a:pt x="134" y="310"/>
                </a:cubicBezTo>
                <a:cubicBezTo>
                  <a:pt x="134" y="287"/>
                  <a:pt x="134" y="287"/>
                  <a:pt x="134" y="287"/>
                </a:cubicBezTo>
                <a:cubicBezTo>
                  <a:pt x="134" y="274"/>
                  <a:pt x="144" y="264"/>
                  <a:pt x="156" y="264"/>
                </a:cubicBezTo>
                <a:cubicBezTo>
                  <a:pt x="215" y="264"/>
                  <a:pt x="215" y="264"/>
                  <a:pt x="215" y="264"/>
                </a:cubicBezTo>
                <a:cubicBezTo>
                  <a:pt x="227" y="264"/>
                  <a:pt x="237" y="274"/>
                  <a:pt x="237" y="287"/>
                </a:cubicBezTo>
                <a:cubicBezTo>
                  <a:pt x="237" y="310"/>
                  <a:pt x="237" y="310"/>
                  <a:pt x="237" y="310"/>
                </a:cubicBezTo>
                <a:cubicBezTo>
                  <a:pt x="241" y="310"/>
                  <a:pt x="241" y="310"/>
                  <a:pt x="241" y="310"/>
                </a:cubicBezTo>
                <a:cubicBezTo>
                  <a:pt x="250" y="310"/>
                  <a:pt x="250" y="310"/>
                  <a:pt x="250" y="310"/>
                </a:cubicBezTo>
                <a:cubicBezTo>
                  <a:pt x="255" y="310"/>
                  <a:pt x="255" y="310"/>
                  <a:pt x="255" y="310"/>
                </a:cubicBezTo>
                <a:cubicBezTo>
                  <a:pt x="255" y="287"/>
                  <a:pt x="255" y="287"/>
                  <a:pt x="255" y="287"/>
                </a:cubicBezTo>
                <a:cubicBezTo>
                  <a:pt x="255" y="274"/>
                  <a:pt x="265" y="264"/>
                  <a:pt x="278" y="264"/>
                </a:cubicBezTo>
                <a:cubicBezTo>
                  <a:pt x="336" y="264"/>
                  <a:pt x="336" y="264"/>
                  <a:pt x="336" y="264"/>
                </a:cubicBezTo>
                <a:cubicBezTo>
                  <a:pt x="348" y="264"/>
                  <a:pt x="358" y="274"/>
                  <a:pt x="358" y="287"/>
                </a:cubicBezTo>
                <a:cubicBezTo>
                  <a:pt x="358" y="310"/>
                  <a:pt x="358" y="310"/>
                  <a:pt x="358" y="310"/>
                </a:cubicBezTo>
                <a:cubicBezTo>
                  <a:pt x="362" y="310"/>
                  <a:pt x="362" y="310"/>
                  <a:pt x="362" y="310"/>
                </a:cubicBezTo>
                <a:cubicBezTo>
                  <a:pt x="371" y="310"/>
                  <a:pt x="371" y="310"/>
                  <a:pt x="371" y="310"/>
                </a:cubicBezTo>
                <a:cubicBezTo>
                  <a:pt x="376" y="310"/>
                  <a:pt x="376" y="310"/>
                  <a:pt x="376" y="310"/>
                </a:cubicBezTo>
                <a:cubicBezTo>
                  <a:pt x="376" y="323"/>
                  <a:pt x="376" y="323"/>
                  <a:pt x="376" y="323"/>
                </a:cubicBezTo>
                <a:cubicBezTo>
                  <a:pt x="371" y="323"/>
                  <a:pt x="371" y="323"/>
                  <a:pt x="371" y="323"/>
                </a:cubicBezTo>
                <a:cubicBezTo>
                  <a:pt x="362" y="323"/>
                  <a:pt x="362" y="323"/>
                  <a:pt x="362" y="323"/>
                </a:cubicBezTo>
                <a:cubicBezTo>
                  <a:pt x="358" y="323"/>
                  <a:pt x="358" y="323"/>
                  <a:pt x="358" y="323"/>
                </a:cubicBezTo>
                <a:cubicBezTo>
                  <a:pt x="358" y="355"/>
                  <a:pt x="358" y="355"/>
                  <a:pt x="358" y="355"/>
                </a:cubicBezTo>
                <a:cubicBezTo>
                  <a:pt x="255" y="355"/>
                  <a:pt x="255" y="355"/>
                  <a:pt x="255" y="355"/>
                </a:cubicBezTo>
                <a:cubicBezTo>
                  <a:pt x="255" y="323"/>
                  <a:pt x="255" y="323"/>
                  <a:pt x="255" y="323"/>
                </a:cubicBezTo>
                <a:cubicBezTo>
                  <a:pt x="250" y="323"/>
                  <a:pt x="250" y="323"/>
                  <a:pt x="250" y="323"/>
                </a:cubicBezTo>
                <a:cubicBezTo>
                  <a:pt x="241" y="323"/>
                  <a:pt x="241" y="323"/>
                  <a:pt x="241" y="323"/>
                </a:cubicBezTo>
                <a:cubicBezTo>
                  <a:pt x="237" y="323"/>
                  <a:pt x="237" y="323"/>
                  <a:pt x="237" y="323"/>
                </a:cubicBezTo>
                <a:cubicBezTo>
                  <a:pt x="237" y="355"/>
                  <a:pt x="237" y="355"/>
                  <a:pt x="237" y="355"/>
                </a:cubicBezTo>
                <a:cubicBezTo>
                  <a:pt x="134" y="355"/>
                  <a:pt x="134" y="355"/>
                  <a:pt x="134" y="355"/>
                </a:cubicBezTo>
                <a:cubicBezTo>
                  <a:pt x="134" y="323"/>
                  <a:pt x="134" y="323"/>
                  <a:pt x="134" y="323"/>
                </a:cubicBezTo>
                <a:cubicBezTo>
                  <a:pt x="131" y="323"/>
                  <a:pt x="131" y="323"/>
                  <a:pt x="131" y="323"/>
                </a:cubicBezTo>
                <a:cubicBezTo>
                  <a:pt x="120" y="323"/>
                  <a:pt x="120" y="323"/>
                  <a:pt x="120" y="323"/>
                </a:cubicBezTo>
                <a:cubicBezTo>
                  <a:pt x="118" y="323"/>
                  <a:pt x="118" y="323"/>
                  <a:pt x="118" y="323"/>
                </a:cubicBezTo>
                <a:cubicBezTo>
                  <a:pt x="118" y="355"/>
                  <a:pt x="118" y="355"/>
                  <a:pt x="118" y="355"/>
                </a:cubicBezTo>
                <a:cubicBezTo>
                  <a:pt x="14" y="355"/>
                  <a:pt x="14" y="355"/>
                  <a:pt x="14" y="355"/>
                </a:cubicBezTo>
                <a:cubicBezTo>
                  <a:pt x="14" y="323"/>
                  <a:pt x="14" y="323"/>
                  <a:pt x="14" y="323"/>
                </a:cubicBezTo>
                <a:cubicBezTo>
                  <a:pt x="0" y="323"/>
                  <a:pt x="0" y="323"/>
                  <a:pt x="0" y="323"/>
                </a:cubicBezTo>
                <a:cubicBezTo>
                  <a:pt x="0" y="310"/>
                  <a:pt x="0" y="310"/>
                  <a:pt x="0" y="310"/>
                </a:cubicBezTo>
                <a:cubicBezTo>
                  <a:pt x="14" y="310"/>
                  <a:pt x="14" y="310"/>
                  <a:pt x="14" y="310"/>
                </a:cubicBezTo>
                <a:cubicBezTo>
                  <a:pt x="14" y="287"/>
                  <a:pt x="14" y="287"/>
                  <a:pt x="14" y="287"/>
                </a:cubicBezTo>
                <a:cubicBezTo>
                  <a:pt x="14" y="274"/>
                  <a:pt x="24" y="264"/>
                  <a:pt x="37" y="264"/>
                </a:cubicBezTo>
                <a:close/>
                <a:moveTo>
                  <a:pt x="307" y="220"/>
                </a:moveTo>
                <a:cubicBezTo>
                  <a:pt x="323" y="220"/>
                  <a:pt x="336" y="232"/>
                  <a:pt x="336" y="248"/>
                </a:cubicBezTo>
                <a:cubicBezTo>
                  <a:pt x="336" y="251"/>
                  <a:pt x="335" y="255"/>
                  <a:pt x="334" y="258"/>
                </a:cubicBezTo>
                <a:cubicBezTo>
                  <a:pt x="281" y="258"/>
                  <a:pt x="281" y="258"/>
                  <a:pt x="281" y="258"/>
                </a:cubicBezTo>
                <a:cubicBezTo>
                  <a:pt x="280" y="255"/>
                  <a:pt x="279" y="251"/>
                  <a:pt x="279" y="248"/>
                </a:cubicBezTo>
                <a:cubicBezTo>
                  <a:pt x="279" y="232"/>
                  <a:pt x="292" y="220"/>
                  <a:pt x="307" y="220"/>
                </a:cubicBezTo>
                <a:close/>
                <a:moveTo>
                  <a:pt x="186" y="220"/>
                </a:moveTo>
                <a:cubicBezTo>
                  <a:pt x="202" y="220"/>
                  <a:pt x="215" y="232"/>
                  <a:pt x="215" y="248"/>
                </a:cubicBezTo>
                <a:cubicBezTo>
                  <a:pt x="215" y="251"/>
                  <a:pt x="214" y="255"/>
                  <a:pt x="213" y="258"/>
                </a:cubicBezTo>
                <a:cubicBezTo>
                  <a:pt x="160" y="258"/>
                  <a:pt x="160" y="258"/>
                  <a:pt x="160" y="258"/>
                </a:cubicBezTo>
                <a:cubicBezTo>
                  <a:pt x="159" y="255"/>
                  <a:pt x="158" y="251"/>
                  <a:pt x="158" y="248"/>
                </a:cubicBezTo>
                <a:cubicBezTo>
                  <a:pt x="158" y="232"/>
                  <a:pt x="171" y="220"/>
                  <a:pt x="186" y="220"/>
                </a:cubicBezTo>
                <a:close/>
                <a:moveTo>
                  <a:pt x="67" y="220"/>
                </a:moveTo>
                <a:cubicBezTo>
                  <a:pt x="82" y="220"/>
                  <a:pt x="95" y="232"/>
                  <a:pt x="95" y="248"/>
                </a:cubicBezTo>
                <a:cubicBezTo>
                  <a:pt x="95" y="251"/>
                  <a:pt x="94" y="255"/>
                  <a:pt x="93" y="258"/>
                </a:cubicBezTo>
                <a:cubicBezTo>
                  <a:pt x="40" y="258"/>
                  <a:pt x="40" y="258"/>
                  <a:pt x="40" y="258"/>
                </a:cubicBezTo>
                <a:cubicBezTo>
                  <a:pt x="39" y="255"/>
                  <a:pt x="38" y="251"/>
                  <a:pt x="38" y="248"/>
                </a:cubicBezTo>
                <a:cubicBezTo>
                  <a:pt x="38" y="232"/>
                  <a:pt x="51" y="220"/>
                  <a:pt x="67" y="220"/>
                </a:cubicBezTo>
                <a:close/>
                <a:moveTo>
                  <a:pt x="307" y="130"/>
                </a:moveTo>
                <a:cubicBezTo>
                  <a:pt x="307" y="147"/>
                  <a:pt x="307" y="147"/>
                  <a:pt x="307" y="147"/>
                </a:cubicBezTo>
                <a:cubicBezTo>
                  <a:pt x="293" y="147"/>
                  <a:pt x="293" y="147"/>
                  <a:pt x="293" y="147"/>
                </a:cubicBezTo>
                <a:cubicBezTo>
                  <a:pt x="308" y="201"/>
                  <a:pt x="308" y="201"/>
                  <a:pt x="308" y="201"/>
                </a:cubicBezTo>
                <a:cubicBezTo>
                  <a:pt x="289" y="201"/>
                  <a:pt x="289" y="201"/>
                  <a:pt x="289" y="201"/>
                </a:cubicBezTo>
                <a:cubicBezTo>
                  <a:pt x="273" y="147"/>
                  <a:pt x="273" y="147"/>
                  <a:pt x="273" y="147"/>
                </a:cubicBezTo>
                <a:cubicBezTo>
                  <a:pt x="216" y="147"/>
                  <a:pt x="216" y="147"/>
                  <a:pt x="216" y="147"/>
                </a:cubicBezTo>
                <a:cubicBezTo>
                  <a:pt x="201" y="201"/>
                  <a:pt x="201" y="201"/>
                  <a:pt x="201" y="201"/>
                </a:cubicBezTo>
                <a:cubicBezTo>
                  <a:pt x="181" y="201"/>
                  <a:pt x="181" y="201"/>
                  <a:pt x="181" y="201"/>
                </a:cubicBezTo>
                <a:cubicBezTo>
                  <a:pt x="197" y="147"/>
                  <a:pt x="197" y="147"/>
                  <a:pt x="197" y="147"/>
                </a:cubicBezTo>
                <a:cubicBezTo>
                  <a:pt x="181" y="147"/>
                  <a:pt x="181" y="147"/>
                  <a:pt x="181" y="147"/>
                </a:cubicBezTo>
                <a:cubicBezTo>
                  <a:pt x="181" y="130"/>
                  <a:pt x="181" y="130"/>
                  <a:pt x="181" y="130"/>
                </a:cubicBezTo>
                <a:cubicBezTo>
                  <a:pt x="307" y="130"/>
                  <a:pt x="307" y="130"/>
                  <a:pt x="307" y="130"/>
                </a:cubicBezTo>
                <a:close/>
                <a:moveTo>
                  <a:pt x="180" y="16"/>
                </a:moveTo>
                <a:cubicBezTo>
                  <a:pt x="175" y="16"/>
                  <a:pt x="170" y="18"/>
                  <a:pt x="166" y="21"/>
                </a:cubicBezTo>
                <a:cubicBezTo>
                  <a:pt x="166" y="21"/>
                  <a:pt x="166" y="21"/>
                  <a:pt x="166" y="21"/>
                </a:cubicBezTo>
                <a:cubicBezTo>
                  <a:pt x="163" y="25"/>
                  <a:pt x="161" y="30"/>
                  <a:pt x="161" y="35"/>
                </a:cubicBezTo>
                <a:cubicBezTo>
                  <a:pt x="161" y="72"/>
                  <a:pt x="161" y="72"/>
                  <a:pt x="161" y="72"/>
                </a:cubicBezTo>
                <a:cubicBezTo>
                  <a:pt x="155" y="73"/>
                  <a:pt x="155" y="73"/>
                  <a:pt x="155" y="73"/>
                </a:cubicBezTo>
                <a:cubicBezTo>
                  <a:pt x="155" y="67"/>
                  <a:pt x="155" y="67"/>
                  <a:pt x="155" y="67"/>
                </a:cubicBezTo>
                <a:cubicBezTo>
                  <a:pt x="128" y="67"/>
                  <a:pt x="128" y="67"/>
                  <a:pt x="128" y="67"/>
                </a:cubicBezTo>
                <a:cubicBezTo>
                  <a:pt x="109" y="55"/>
                  <a:pt x="109" y="55"/>
                  <a:pt x="109" y="55"/>
                </a:cubicBezTo>
                <a:cubicBezTo>
                  <a:pt x="63" y="55"/>
                  <a:pt x="117" y="55"/>
                  <a:pt x="66" y="55"/>
                </a:cubicBezTo>
                <a:cubicBezTo>
                  <a:pt x="57" y="55"/>
                  <a:pt x="50" y="63"/>
                  <a:pt x="50" y="71"/>
                </a:cubicBezTo>
                <a:cubicBezTo>
                  <a:pt x="50" y="122"/>
                  <a:pt x="50" y="122"/>
                  <a:pt x="50" y="122"/>
                </a:cubicBezTo>
                <a:cubicBezTo>
                  <a:pt x="66" y="122"/>
                  <a:pt x="66" y="122"/>
                  <a:pt x="66" y="122"/>
                </a:cubicBezTo>
                <a:cubicBezTo>
                  <a:pt x="66" y="85"/>
                  <a:pt x="66" y="85"/>
                  <a:pt x="66" y="85"/>
                </a:cubicBezTo>
                <a:cubicBezTo>
                  <a:pt x="69" y="85"/>
                  <a:pt x="69" y="85"/>
                  <a:pt x="69" y="85"/>
                </a:cubicBezTo>
                <a:cubicBezTo>
                  <a:pt x="69" y="122"/>
                  <a:pt x="69" y="122"/>
                  <a:pt x="69" y="122"/>
                </a:cubicBezTo>
                <a:cubicBezTo>
                  <a:pt x="69" y="132"/>
                  <a:pt x="69" y="132"/>
                  <a:pt x="69" y="132"/>
                </a:cubicBezTo>
                <a:cubicBezTo>
                  <a:pt x="69" y="199"/>
                  <a:pt x="69" y="199"/>
                  <a:pt x="69" y="199"/>
                </a:cubicBezTo>
                <a:cubicBezTo>
                  <a:pt x="87" y="199"/>
                  <a:pt x="87" y="199"/>
                  <a:pt x="87" y="199"/>
                </a:cubicBezTo>
                <a:cubicBezTo>
                  <a:pt x="87" y="143"/>
                  <a:pt x="87" y="143"/>
                  <a:pt x="87" y="143"/>
                </a:cubicBezTo>
                <a:cubicBezTo>
                  <a:pt x="91" y="143"/>
                  <a:pt x="91" y="143"/>
                  <a:pt x="91" y="143"/>
                </a:cubicBezTo>
                <a:cubicBezTo>
                  <a:pt x="91" y="199"/>
                  <a:pt x="91" y="199"/>
                  <a:pt x="91" y="199"/>
                </a:cubicBezTo>
                <a:cubicBezTo>
                  <a:pt x="109" y="199"/>
                  <a:pt x="109" y="199"/>
                  <a:pt x="109" y="199"/>
                </a:cubicBezTo>
                <a:cubicBezTo>
                  <a:pt x="109" y="189"/>
                  <a:pt x="109" y="189"/>
                  <a:pt x="109" y="189"/>
                </a:cubicBezTo>
                <a:cubicBezTo>
                  <a:pt x="109" y="132"/>
                  <a:pt x="109" y="132"/>
                  <a:pt x="109" y="132"/>
                </a:cubicBezTo>
                <a:cubicBezTo>
                  <a:pt x="109" y="122"/>
                  <a:pt x="109" y="122"/>
                  <a:pt x="109" y="122"/>
                </a:cubicBezTo>
                <a:cubicBezTo>
                  <a:pt x="109" y="85"/>
                  <a:pt x="109" y="85"/>
                  <a:pt x="109" y="85"/>
                </a:cubicBezTo>
                <a:cubicBezTo>
                  <a:pt x="109" y="75"/>
                  <a:pt x="109" y="75"/>
                  <a:pt x="109" y="75"/>
                </a:cubicBezTo>
                <a:cubicBezTo>
                  <a:pt x="128" y="85"/>
                  <a:pt x="128" y="85"/>
                  <a:pt x="128" y="85"/>
                </a:cubicBezTo>
                <a:cubicBezTo>
                  <a:pt x="155" y="85"/>
                  <a:pt x="155" y="85"/>
                  <a:pt x="155" y="85"/>
                </a:cubicBezTo>
                <a:cubicBezTo>
                  <a:pt x="155" y="80"/>
                  <a:pt x="155" y="80"/>
                  <a:pt x="155" y="80"/>
                </a:cubicBezTo>
                <a:cubicBezTo>
                  <a:pt x="161" y="79"/>
                  <a:pt x="161" y="79"/>
                  <a:pt x="161" y="79"/>
                </a:cubicBezTo>
                <a:cubicBezTo>
                  <a:pt x="161" y="107"/>
                  <a:pt x="161" y="107"/>
                  <a:pt x="161" y="107"/>
                </a:cubicBezTo>
                <a:cubicBezTo>
                  <a:pt x="161" y="112"/>
                  <a:pt x="163" y="117"/>
                  <a:pt x="166" y="120"/>
                </a:cubicBezTo>
                <a:cubicBezTo>
                  <a:pt x="166" y="120"/>
                  <a:pt x="166" y="120"/>
                  <a:pt x="166" y="120"/>
                </a:cubicBezTo>
                <a:cubicBezTo>
                  <a:pt x="166" y="120"/>
                  <a:pt x="166" y="120"/>
                  <a:pt x="166" y="120"/>
                </a:cubicBezTo>
                <a:cubicBezTo>
                  <a:pt x="170" y="124"/>
                  <a:pt x="175" y="126"/>
                  <a:pt x="180" y="126"/>
                </a:cubicBezTo>
                <a:cubicBezTo>
                  <a:pt x="304" y="126"/>
                  <a:pt x="304" y="126"/>
                  <a:pt x="304" y="126"/>
                </a:cubicBezTo>
                <a:cubicBezTo>
                  <a:pt x="309" y="126"/>
                  <a:pt x="314" y="124"/>
                  <a:pt x="317" y="120"/>
                </a:cubicBezTo>
                <a:cubicBezTo>
                  <a:pt x="317" y="120"/>
                  <a:pt x="317" y="120"/>
                  <a:pt x="317" y="120"/>
                </a:cubicBezTo>
                <a:cubicBezTo>
                  <a:pt x="321" y="117"/>
                  <a:pt x="323" y="112"/>
                  <a:pt x="323" y="107"/>
                </a:cubicBezTo>
                <a:cubicBezTo>
                  <a:pt x="323" y="35"/>
                  <a:pt x="323" y="35"/>
                  <a:pt x="323" y="35"/>
                </a:cubicBezTo>
                <a:cubicBezTo>
                  <a:pt x="323" y="30"/>
                  <a:pt x="321" y="25"/>
                  <a:pt x="317" y="21"/>
                </a:cubicBezTo>
                <a:cubicBezTo>
                  <a:pt x="314" y="18"/>
                  <a:pt x="309" y="16"/>
                  <a:pt x="304" y="16"/>
                </a:cubicBezTo>
                <a:cubicBezTo>
                  <a:pt x="180" y="16"/>
                  <a:pt x="180" y="16"/>
                  <a:pt x="180" y="16"/>
                </a:cubicBezTo>
                <a:close/>
                <a:moveTo>
                  <a:pt x="304" y="31"/>
                </a:moveTo>
                <a:cubicBezTo>
                  <a:pt x="305" y="31"/>
                  <a:pt x="306" y="31"/>
                  <a:pt x="307" y="32"/>
                </a:cubicBezTo>
                <a:cubicBezTo>
                  <a:pt x="307" y="33"/>
                  <a:pt x="308" y="34"/>
                  <a:pt x="308" y="35"/>
                </a:cubicBezTo>
                <a:cubicBezTo>
                  <a:pt x="308" y="107"/>
                  <a:pt x="308" y="107"/>
                  <a:pt x="308" y="107"/>
                </a:cubicBezTo>
                <a:cubicBezTo>
                  <a:pt x="308" y="108"/>
                  <a:pt x="307" y="109"/>
                  <a:pt x="307" y="109"/>
                </a:cubicBezTo>
                <a:cubicBezTo>
                  <a:pt x="307" y="110"/>
                  <a:pt x="307" y="110"/>
                  <a:pt x="307" y="110"/>
                </a:cubicBezTo>
                <a:cubicBezTo>
                  <a:pt x="306" y="110"/>
                  <a:pt x="305" y="111"/>
                  <a:pt x="304" y="111"/>
                </a:cubicBezTo>
                <a:cubicBezTo>
                  <a:pt x="180" y="111"/>
                  <a:pt x="180" y="111"/>
                  <a:pt x="180" y="111"/>
                </a:cubicBezTo>
                <a:cubicBezTo>
                  <a:pt x="179" y="111"/>
                  <a:pt x="178" y="110"/>
                  <a:pt x="177" y="110"/>
                </a:cubicBezTo>
                <a:cubicBezTo>
                  <a:pt x="177" y="109"/>
                  <a:pt x="177" y="109"/>
                  <a:pt x="177" y="109"/>
                </a:cubicBezTo>
                <a:cubicBezTo>
                  <a:pt x="176" y="109"/>
                  <a:pt x="176" y="108"/>
                  <a:pt x="176" y="107"/>
                </a:cubicBezTo>
                <a:cubicBezTo>
                  <a:pt x="176" y="76"/>
                  <a:pt x="176" y="76"/>
                  <a:pt x="176" y="76"/>
                </a:cubicBezTo>
                <a:cubicBezTo>
                  <a:pt x="238" y="63"/>
                  <a:pt x="238" y="63"/>
                  <a:pt x="238" y="63"/>
                </a:cubicBezTo>
                <a:cubicBezTo>
                  <a:pt x="237" y="62"/>
                  <a:pt x="237" y="62"/>
                  <a:pt x="237" y="62"/>
                </a:cubicBezTo>
                <a:cubicBezTo>
                  <a:pt x="176" y="70"/>
                  <a:pt x="176" y="70"/>
                  <a:pt x="176" y="70"/>
                </a:cubicBezTo>
                <a:cubicBezTo>
                  <a:pt x="176" y="35"/>
                  <a:pt x="176" y="35"/>
                  <a:pt x="176" y="35"/>
                </a:cubicBezTo>
                <a:cubicBezTo>
                  <a:pt x="176" y="34"/>
                  <a:pt x="176" y="33"/>
                  <a:pt x="177" y="32"/>
                </a:cubicBezTo>
                <a:cubicBezTo>
                  <a:pt x="177" y="32"/>
                  <a:pt x="177" y="32"/>
                  <a:pt x="177" y="32"/>
                </a:cubicBezTo>
                <a:cubicBezTo>
                  <a:pt x="178" y="31"/>
                  <a:pt x="179" y="31"/>
                  <a:pt x="180" y="31"/>
                </a:cubicBezTo>
                <a:lnTo>
                  <a:pt x="304" y="31"/>
                </a:lnTo>
                <a:close/>
              </a:path>
            </a:pathLst>
          </a:custGeom>
          <a:solidFill>
            <a:schemeClr val="accent1"/>
          </a:solidFill>
          <a:ln w="9525">
            <a:noFill/>
            <a:round/>
          </a:ln>
          <a:effectLst>
            <a:reflection blurRad="6350" stA="52000" endA="300" endPos="35000" dir="5400000" sy="-100000" algn="bl" rotWithShape="0"/>
          </a:effectLst>
        </p:spPr>
        <p:txBody>
          <a:bodyPr vert="horz" wrap="square" lIns="121920" tIns="60960" rIns="121920" bIns="60960" numCol="1" anchor="t" anchorCtr="0" compatLnSpc="1"/>
          <a:lstStyle/>
          <a:p>
            <a:pPr defTabSz="914400"/>
            <a:endParaRPr lang="zh-CN" altLang="en-US" sz="2400">
              <a:solidFill>
                <a:prstClr val="black"/>
              </a:solidFill>
              <a:latin typeface="微软雅黑" panose="020B0503020204020204" pitchFamily="34" charset="-122"/>
              <a:ea typeface="微软雅黑" panose="020B0503020204020204" pitchFamily="34" charset="-122"/>
            </a:endParaRPr>
          </a:p>
        </p:txBody>
      </p:sp>
      <p:sp>
        <p:nvSpPr>
          <p:cNvPr id="22" name="Freeform 73"/>
          <p:cNvSpPr>
            <a:spLocks noEditPoints="1"/>
          </p:cNvSpPr>
          <p:nvPr>
            <p:custDataLst>
              <p:tags r:id="rId6"/>
            </p:custDataLst>
          </p:nvPr>
        </p:nvSpPr>
        <p:spPr bwMode="auto">
          <a:xfrm>
            <a:off x="7933690" y="4460240"/>
            <a:ext cx="714375" cy="583565"/>
          </a:xfrm>
          <a:custGeom>
            <a:avLst/>
            <a:gdLst>
              <a:gd name="T0" fmla="*/ 11 w 126"/>
              <a:gd name="T1" fmla="*/ 0 h 103"/>
              <a:gd name="T2" fmla="*/ 118 w 126"/>
              <a:gd name="T3" fmla="*/ 6 h 103"/>
              <a:gd name="T4" fmla="*/ 22 w 126"/>
              <a:gd name="T5" fmla="*/ 64 h 103"/>
              <a:gd name="T6" fmla="*/ 91 w 126"/>
              <a:gd name="T7" fmla="*/ 29 h 103"/>
              <a:gd name="T8" fmla="*/ 95 w 126"/>
              <a:gd name="T9" fmla="*/ 37 h 103"/>
              <a:gd name="T10" fmla="*/ 90 w 126"/>
              <a:gd name="T11" fmla="*/ 27 h 103"/>
              <a:gd name="T12" fmla="*/ 89 w 126"/>
              <a:gd name="T13" fmla="*/ 38 h 103"/>
              <a:gd name="T14" fmla="*/ 86 w 126"/>
              <a:gd name="T15" fmla="*/ 40 h 103"/>
              <a:gd name="T16" fmla="*/ 86 w 126"/>
              <a:gd name="T17" fmla="*/ 31 h 103"/>
              <a:gd name="T18" fmla="*/ 81 w 126"/>
              <a:gd name="T19" fmla="*/ 25 h 103"/>
              <a:gd name="T20" fmla="*/ 78 w 126"/>
              <a:gd name="T21" fmla="*/ 29 h 103"/>
              <a:gd name="T22" fmla="*/ 92 w 126"/>
              <a:gd name="T23" fmla="*/ 45 h 103"/>
              <a:gd name="T24" fmla="*/ 89 w 126"/>
              <a:gd name="T25" fmla="*/ 36 h 103"/>
              <a:gd name="T26" fmla="*/ 91 w 126"/>
              <a:gd name="T27" fmla="*/ 25 h 103"/>
              <a:gd name="T28" fmla="*/ 97 w 126"/>
              <a:gd name="T29" fmla="*/ 37 h 103"/>
              <a:gd name="T30" fmla="*/ 93 w 126"/>
              <a:gd name="T31" fmla="*/ 23 h 103"/>
              <a:gd name="T32" fmla="*/ 46 w 126"/>
              <a:gd name="T33" fmla="*/ 19 h 103"/>
              <a:gd name="T34" fmla="*/ 49 w 126"/>
              <a:gd name="T35" fmla="*/ 18 h 103"/>
              <a:gd name="T36" fmla="*/ 70 w 126"/>
              <a:gd name="T37" fmla="*/ 19 h 103"/>
              <a:gd name="T38" fmla="*/ 65 w 126"/>
              <a:gd name="T39" fmla="*/ 32 h 103"/>
              <a:gd name="T40" fmla="*/ 63 w 126"/>
              <a:gd name="T41" fmla="*/ 34 h 103"/>
              <a:gd name="T42" fmla="*/ 53 w 126"/>
              <a:gd name="T43" fmla="*/ 34 h 103"/>
              <a:gd name="T44" fmla="*/ 59 w 126"/>
              <a:gd name="T45" fmla="*/ 38 h 103"/>
              <a:gd name="T46" fmla="*/ 62 w 126"/>
              <a:gd name="T47" fmla="*/ 39 h 103"/>
              <a:gd name="T48" fmla="*/ 73 w 126"/>
              <a:gd name="T49" fmla="*/ 30 h 103"/>
              <a:gd name="T50" fmla="*/ 51 w 126"/>
              <a:gd name="T51" fmla="*/ 14 h 103"/>
              <a:gd name="T52" fmla="*/ 68 w 126"/>
              <a:gd name="T53" fmla="*/ 27 h 103"/>
              <a:gd name="T54" fmla="*/ 68 w 126"/>
              <a:gd name="T55" fmla="*/ 25 h 103"/>
              <a:gd name="T56" fmla="*/ 54 w 126"/>
              <a:gd name="T57" fmla="*/ 21 h 103"/>
              <a:gd name="T58" fmla="*/ 35 w 126"/>
              <a:gd name="T59" fmla="*/ 40 h 103"/>
              <a:gd name="T60" fmla="*/ 52 w 126"/>
              <a:gd name="T61" fmla="*/ 39 h 103"/>
              <a:gd name="T62" fmla="*/ 51 w 126"/>
              <a:gd name="T63" fmla="*/ 33 h 103"/>
              <a:gd name="T64" fmla="*/ 51 w 126"/>
              <a:gd name="T65" fmla="*/ 30 h 103"/>
              <a:gd name="T66" fmla="*/ 38 w 126"/>
              <a:gd name="T67" fmla="*/ 30 h 103"/>
              <a:gd name="T68" fmla="*/ 39 w 126"/>
              <a:gd name="T69" fmla="*/ 34 h 103"/>
              <a:gd name="T70" fmla="*/ 35 w 126"/>
              <a:gd name="T71" fmla="*/ 40 h 103"/>
              <a:gd name="T72" fmla="*/ 22 w 126"/>
              <a:gd name="T73" fmla="*/ 56 h 103"/>
              <a:gd name="T74" fmla="*/ 126 w 126"/>
              <a:gd name="T75" fmla="*/ 99 h 103"/>
              <a:gd name="T76" fmla="*/ 0 w 126"/>
              <a:gd name="T77" fmla="*/ 87 h 103"/>
              <a:gd name="T78" fmla="*/ 118 w 126"/>
              <a:gd name="T79" fmla="*/ 67 h 103"/>
              <a:gd name="T80" fmla="*/ 54 w 126"/>
              <a:gd name="T81" fmla="*/ 72 h 103"/>
              <a:gd name="T82" fmla="*/ 52 w 126"/>
              <a:gd name="T83" fmla="*/ 85 h 103"/>
              <a:gd name="T84" fmla="*/ 24 w 126"/>
              <a:gd name="T85" fmla="*/ 85 h 103"/>
              <a:gd name="T86" fmla="*/ 58 w 126"/>
              <a:gd name="T87" fmla="*/ 82 h 103"/>
              <a:gd name="T88" fmla="*/ 58 w 126"/>
              <a:gd name="T89" fmla="*/ 82 h 103"/>
              <a:gd name="T90" fmla="*/ 85 w 126"/>
              <a:gd name="T91" fmla="*/ 82 h 103"/>
              <a:gd name="T92" fmla="*/ 102 w 126"/>
              <a:gd name="T93" fmla="*/ 85 h 103"/>
              <a:gd name="T94" fmla="*/ 38 w 126"/>
              <a:gd name="T95" fmla="*/ 79 h 103"/>
              <a:gd name="T96" fmla="*/ 28 w 126"/>
              <a:gd name="T97" fmla="*/ 76 h 103"/>
              <a:gd name="T98" fmla="*/ 28 w 126"/>
              <a:gd name="T99" fmla="*/ 76 h 103"/>
              <a:gd name="T100" fmla="*/ 65 w 126"/>
              <a:gd name="T101" fmla="*/ 76 h 103"/>
              <a:gd name="T102" fmla="*/ 81 w 126"/>
              <a:gd name="T103" fmla="*/ 79 h 103"/>
              <a:gd name="T104" fmla="*/ 87 w 126"/>
              <a:gd name="T105" fmla="*/ 79 h 103"/>
              <a:gd name="T106" fmla="*/ 30 w 126"/>
              <a:gd name="T107" fmla="*/ 72 h 103"/>
              <a:gd name="T108" fmla="*/ 30 w 126"/>
              <a:gd name="T109" fmla="*/ 72 h 103"/>
              <a:gd name="T110" fmla="*/ 69 w 126"/>
              <a:gd name="T111" fmla="*/ 72 h 103"/>
              <a:gd name="T112" fmla="*/ 85 w 126"/>
              <a:gd name="T113" fmla="*/ 74 h 103"/>
              <a:gd name="T114" fmla="*/ 90 w 126"/>
              <a:gd name="T115" fmla="*/ 74 h 103"/>
              <a:gd name="T116" fmla="*/ 10 w 126"/>
              <a:gd name="T117" fmla="*/ 91 h 103"/>
              <a:gd name="T118" fmla="*/ 10 w 126"/>
              <a:gd name="T119" fmla="*/ 91 h 103"/>
              <a:gd name="T120" fmla="*/ 116 w 126"/>
              <a:gd name="T121" fmla="*/ 91 h 103"/>
              <a:gd name="T122" fmla="*/ 49 w 126"/>
              <a:gd name="T123" fmla="*/ 96 h 103"/>
              <a:gd name="T124" fmla="*/ 25 w 126"/>
              <a:gd name="T125" fmla="*/ 9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6" h="103">
                <a:moveTo>
                  <a:pt x="11" y="64"/>
                </a:moveTo>
                <a:cubicBezTo>
                  <a:pt x="11" y="56"/>
                  <a:pt x="11" y="56"/>
                  <a:pt x="11" y="56"/>
                </a:cubicBezTo>
                <a:cubicBezTo>
                  <a:pt x="11" y="6"/>
                  <a:pt x="11" y="6"/>
                  <a:pt x="11" y="6"/>
                </a:cubicBezTo>
                <a:cubicBezTo>
                  <a:pt x="11" y="0"/>
                  <a:pt x="11" y="0"/>
                  <a:pt x="11" y="0"/>
                </a:cubicBezTo>
                <a:cubicBezTo>
                  <a:pt x="16" y="0"/>
                  <a:pt x="16" y="0"/>
                  <a:pt x="16" y="0"/>
                </a:cubicBezTo>
                <a:cubicBezTo>
                  <a:pt x="112" y="0"/>
                  <a:pt x="112" y="0"/>
                  <a:pt x="112" y="0"/>
                </a:cubicBezTo>
                <a:cubicBezTo>
                  <a:pt x="118" y="0"/>
                  <a:pt x="118" y="0"/>
                  <a:pt x="118" y="0"/>
                </a:cubicBezTo>
                <a:cubicBezTo>
                  <a:pt x="118" y="6"/>
                  <a:pt x="118" y="6"/>
                  <a:pt x="118" y="6"/>
                </a:cubicBezTo>
                <a:cubicBezTo>
                  <a:pt x="118" y="56"/>
                  <a:pt x="118" y="56"/>
                  <a:pt x="118" y="56"/>
                </a:cubicBezTo>
                <a:cubicBezTo>
                  <a:pt x="118" y="64"/>
                  <a:pt x="118" y="64"/>
                  <a:pt x="118" y="64"/>
                </a:cubicBezTo>
                <a:cubicBezTo>
                  <a:pt x="106" y="64"/>
                  <a:pt x="106" y="64"/>
                  <a:pt x="106" y="64"/>
                </a:cubicBezTo>
                <a:cubicBezTo>
                  <a:pt x="22" y="64"/>
                  <a:pt x="22" y="64"/>
                  <a:pt x="22" y="64"/>
                </a:cubicBezTo>
                <a:cubicBezTo>
                  <a:pt x="11" y="64"/>
                  <a:pt x="11" y="64"/>
                  <a:pt x="11" y="64"/>
                </a:cubicBezTo>
                <a:close/>
                <a:moveTo>
                  <a:pt x="90" y="27"/>
                </a:moveTo>
                <a:cubicBezTo>
                  <a:pt x="90" y="29"/>
                  <a:pt x="90" y="29"/>
                  <a:pt x="90" y="29"/>
                </a:cubicBezTo>
                <a:cubicBezTo>
                  <a:pt x="90" y="29"/>
                  <a:pt x="90" y="29"/>
                  <a:pt x="91" y="29"/>
                </a:cubicBezTo>
                <a:cubicBezTo>
                  <a:pt x="92" y="30"/>
                  <a:pt x="93" y="31"/>
                  <a:pt x="93" y="32"/>
                </a:cubicBezTo>
                <a:cubicBezTo>
                  <a:pt x="94" y="33"/>
                  <a:pt x="94" y="34"/>
                  <a:pt x="93" y="35"/>
                </a:cubicBezTo>
                <a:cubicBezTo>
                  <a:pt x="93" y="36"/>
                  <a:pt x="93" y="36"/>
                  <a:pt x="93" y="36"/>
                </a:cubicBezTo>
                <a:cubicBezTo>
                  <a:pt x="95" y="37"/>
                  <a:pt x="95" y="37"/>
                  <a:pt x="95" y="37"/>
                </a:cubicBezTo>
                <a:cubicBezTo>
                  <a:pt x="95" y="36"/>
                  <a:pt x="95" y="36"/>
                  <a:pt x="95" y="36"/>
                </a:cubicBezTo>
                <a:cubicBezTo>
                  <a:pt x="96" y="34"/>
                  <a:pt x="96" y="32"/>
                  <a:pt x="95" y="31"/>
                </a:cubicBezTo>
                <a:cubicBezTo>
                  <a:pt x="95" y="30"/>
                  <a:pt x="93" y="28"/>
                  <a:pt x="91" y="27"/>
                </a:cubicBezTo>
                <a:cubicBezTo>
                  <a:pt x="91" y="27"/>
                  <a:pt x="91" y="27"/>
                  <a:pt x="90" y="27"/>
                </a:cubicBezTo>
                <a:close/>
                <a:moveTo>
                  <a:pt x="92" y="45"/>
                </a:moveTo>
                <a:cubicBezTo>
                  <a:pt x="94" y="45"/>
                  <a:pt x="94" y="45"/>
                  <a:pt x="94" y="45"/>
                </a:cubicBezTo>
                <a:cubicBezTo>
                  <a:pt x="93" y="42"/>
                  <a:pt x="90" y="38"/>
                  <a:pt x="90" y="38"/>
                </a:cubicBezTo>
                <a:cubicBezTo>
                  <a:pt x="89" y="38"/>
                  <a:pt x="89" y="38"/>
                  <a:pt x="89" y="38"/>
                </a:cubicBezTo>
                <a:cubicBezTo>
                  <a:pt x="88" y="39"/>
                  <a:pt x="88" y="39"/>
                  <a:pt x="88" y="39"/>
                </a:cubicBezTo>
                <a:cubicBezTo>
                  <a:pt x="88" y="39"/>
                  <a:pt x="88" y="39"/>
                  <a:pt x="88" y="39"/>
                </a:cubicBezTo>
                <a:cubicBezTo>
                  <a:pt x="87" y="39"/>
                  <a:pt x="87" y="39"/>
                  <a:pt x="87" y="39"/>
                </a:cubicBezTo>
                <a:cubicBezTo>
                  <a:pt x="86" y="40"/>
                  <a:pt x="86" y="40"/>
                  <a:pt x="86" y="40"/>
                </a:cubicBezTo>
                <a:cubicBezTo>
                  <a:pt x="84" y="37"/>
                  <a:pt x="84" y="36"/>
                  <a:pt x="82" y="33"/>
                </a:cubicBezTo>
                <a:cubicBezTo>
                  <a:pt x="84" y="32"/>
                  <a:pt x="84" y="32"/>
                  <a:pt x="84" y="32"/>
                </a:cubicBezTo>
                <a:cubicBezTo>
                  <a:pt x="85" y="31"/>
                  <a:pt x="85" y="31"/>
                  <a:pt x="85" y="31"/>
                </a:cubicBezTo>
                <a:cubicBezTo>
                  <a:pt x="86" y="31"/>
                  <a:pt x="86" y="31"/>
                  <a:pt x="86" y="31"/>
                </a:cubicBezTo>
                <a:cubicBezTo>
                  <a:pt x="86" y="30"/>
                  <a:pt x="84" y="25"/>
                  <a:pt x="83" y="24"/>
                </a:cubicBezTo>
                <a:cubicBezTo>
                  <a:pt x="82" y="24"/>
                  <a:pt x="82" y="24"/>
                  <a:pt x="82" y="24"/>
                </a:cubicBezTo>
                <a:cubicBezTo>
                  <a:pt x="81" y="25"/>
                  <a:pt x="81" y="25"/>
                  <a:pt x="81" y="25"/>
                </a:cubicBezTo>
                <a:cubicBezTo>
                  <a:pt x="81" y="25"/>
                  <a:pt x="81" y="25"/>
                  <a:pt x="81" y="25"/>
                </a:cubicBezTo>
                <a:cubicBezTo>
                  <a:pt x="80" y="25"/>
                  <a:pt x="80" y="25"/>
                  <a:pt x="80" y="25"/>
                </a:cubicBezTo>
                <a:cubicBezTo>
                  <a:pt x="78" y="26"/>
                  <a:pt x="78" y="27"/>
                  <a:pt x="78" y="29"/>
                </a:cubicBezTo>
                <a:cubicBezTo>
                  <a:pt x="78" y="29"/>
                  <a:pt x="78" y="29"/>
                  <a:pt x="78" y="29"/>
                </a:cubicBezTo>
                <a:cubicBezTo>
                  <a:pt x="78" y="29"/>
                  <a:pt x="78" y="29"/>
                  <a:pt x="78" y="29"/>
                </a:cubicBezTo>
                <a:cubicBezTo>
                  <a:pt x="79" y="36"/>
                  <a:pt x="82" y="41"/>
                  <a:pt x="86" y="46"/>
                </a:cubicBezTo>
                <a:cubicBezTo>
                  <a:pt x="87" y="47"/>
                  <a:pt x="89" y="47"/>
                  <a:pt x="91" y="46"/>
                </a:cubicBezTo>
                <a:cubicBezTo>
                  <a:pt x="91" y="46"/>
                  <a:pt x="91" y="46"/>
                  <a:pt x="91" y="46"/>
                </a:cubicBezTo>
                <a:cubicBezTo>
                  <a:pt x="92" y="45"/>
                  <a:pt x="92" y="45"/>
                  <a:pt x="92" y="45"/>
                </a:cubicBezTo>
                <a:cubicBezTo>
                  <a:pt x="92" y="45"/>
                  <a:pt x="92" y="45"/>
                  <a:pt x="92" y="45"/>
                </a:cubicBezTo>
                <a:close/>
                <a:moveTo>
                  <a:pt x="90" y="32"/>
                </a:moveTo>
                <a:cubicBezTo>
                  <a:pt x="89" y="32"/>
                  <a:pt x="88" y="32"/>
                  <a:pt x="88" y="33"/>
                </a:cubicBezTo>
                <a:cubicBezTo>
                  <a:pt x="87" y="34"/>
                  <a:pt x="88" y="35"/>
                  <a:pt x="89" y="36"/>
                </a:cubicBezTo>
                <a:cubicBezTo>
                  <a:pt x="90" y="36"/>
                  <a:pt x="91" y="35"/>
                  <a:pt x="91" y="34"/>
                </a:cubicBezTo>
                <a:cubicBezTo>
                  <a:pt x="91" y="33"/>
                  <a:pt x="91" y="32"/>
                  <a:pt x="90" y="32"/>
                </a:cubicBezTo>
                <a:close/>
                <a:moveTo>
                  <a:pt x="92" y="23"/>
                </a:moveTo>
                <a:cubicBezTo>
                  <a:pt x="91" y="25"/>
                  <a:pt x="91" y="25"/>
                  <a:pt x="91" y="25"/>
                </a:cubicBezTo>
                <a:cubicBezTo>
                  <a:pt x="91" y="25"/>
                  <a:pt x="92" y="25"/>
                  <a:pt x="92" y="25"/>
                </a:cubicBezTo>
                <a:cubicBezTo>
                  <a:pt x="94" y="26"/>
                  <a:pt x="96" y="27"/>
                  <a:pt x="97" y="29"/>
                </a:cubicBezTo>
                <a:cubicBezTo>
                  <a:pt x="98" y="31"/>
                  <a:pt x="98" y="33"/>
                  <a:pt x="98" y="36"/>
                </a:cubicBezTo>
                <a:cubicBezTo>
                  <a:pt x="98" y="36"/>
                  <a:pt x="97" y="37"/>
                  <a:pt x="97" y="37"/>
                </a:cubicBezTo>
                <a:cubicBezTo>
                  <a:pt x="99" y="38"/>
                  <a:pt x="99" y="38"/>
                  <a:pt x="99" y="38"/>
                </a:cubicBezTo>
                <a:cubicBezTo>
                  <a:pt x="99" y="37"/>
                  <a:pt x="100" y="37"/>
                  <a:pt x="100" y="36"/>
                </a:cubicBezTo>
                <a:cubicBezTo>
                  <a:pt x="100" y="33"/>
                  <a:pt x="100" y="30"/>
                  <a:pt x="99" y="28"/>
                </a:cubicBezTo>
                <a:cubicBezTo>
                  <a:pt x="97" y="26"/>
                  <a:pt x="95" y="24"/>
                  <a:pt x="93" y="23"/>
                </a:cubicBezTo>
                <a:cubicBezTo>
                  <a:pt x="92" y="23"/>
                  <a:pt x="92" y="23"/>
                  <a:pt x="92" y="23"/>
                </a:cubicBezTo>
                <a:close/>
                <a:moveTo>
                  <a:pt x="51" y="14"/>
                </a:moveTo>
                <a:cubicBezTo>
                  <a:pt x="49" y="14"/>
                  <a:pt x="48" y="15"/>
                  <a:pt x="47" y="16"/>
                </a:cubicBezTo>
                <a:cubicBezTo>
                  <a:pt x="46" y="17"/>
                  <a:pt x="46" y="18"/>
                  <a:pt x="46" y="19"/>
                </a:cubicBezTo>
                <a:cubicBezTo>
                  <a:pt x="46" y="20"/>
                  <a:pt x="46" y="20"/>
                  <a:pt x="46" y="20"/>
                </a:cubicBezTo>
                <a:cubicBezTo>
                  <a:pt x="47" y="20"/>
                  <a:pt x="48" y="20"/>
                  <a:pt x="48" y="20"/>
                </a:cubicBezTo>
                <a:cubicBezTo>
                  <a:pt x="48" y="19"/>
                  <a:pt x="48" y="19"/>
                  <a:pt x="48" y="19"/>
                </a:cubicBezTo>
                <a:cubicBezTo>
                  <a:pt x="48" y="19"/>
                  <a:pt x="49" y="18"/>
                  <a:pt x="49" y="18"/>
                </a:cubicBezTo>
                <a:cubicBezTo>
                  <a:pt x="49" y="17"/>
                  <a:pt x="50" y="17"/>
                  <a:pt x="51" y="17"/>
                </a:cubicBezTo>
                <a:cubicBezTo>
                  <a:pt x="68" y="17"/>
                  <a:pt x="68" y="17"/>
                  <a:pt x="68" y="17"/>
                </a:cubicBezTo>
                <a:cubicBezTo>
                  <a:pt x="69" y="17"/>
                  <a:pt x="69" y="17"/>
                  <a:pt x="70" y="18"/>
                </a:cubicBezTo>
                <a:cubicBezTo>
                  <a:pt x="70" y="18"/>
                  <a:pt x="70" y="19"/>
                  <a:pt x="70" y="19"/>
                </a:cubicBezTo>
                <a:cubicBezTo>
                  <a:pt x="70" y="30"/>
                  <a:pt x="70" y="30"/>
                  <a:pt x="70" y="30"/>
                </a:cubicBezTo>
                <a:cubicBezTo>
                  <a:pt x="70" y="31"/>
                  <a:pt x="70" y="31"/>
                  <a:pt x="70" y="32"/>
                </a:cubicBezTo>
                <a:cubicBezTo>
                  <a:pt x="69" y="32"/>
                  <a:pt x="69" y="32"/>
                  <a:pt x="68" y="32"/>
                </a:cubicBezTo>
                <a:cubicBezTo>
                  <a:pt x="65" y="32"/>
                  <a:pt x="65" y="32"/>
                  <a:pt x="65" y="32"/>
                </a:cubicBezTo>
                <a:cubicBezTo>
                  <a:pt x="64" y="32"/>
                  <a:pt x="64" y="32"/>
                  <a:pt x="64" y="32"/>
                </a:cubicBezTo>
                <a:cubicBezTo>
                  <a:pt x="64" y="33"/>
                  <a:pt x="64" y="33"/>
                  <a:pt x="64" y="33"/>
                </a:cubicBezTo>
                <a:cubicBezTo>
                  <a:pt x="62" y="34"/>
                  <a:pt x="62" y="34"/>
                  <a:pt x="62" y="34"/>
                </a:cubicBezTo>
                <a:cubicBezTo>
                  <a:pt x="63" y="34"/>
                  <a:pt x="63" y="34"/>
                  <a:pt x="63" y="34"/>
                </a:cubicBezTo>
                <a:cubicBezTo>
                  <a:pt x="63" y="32"/>
                  <a:pt x="63" y="32"/>
                  <a:pt x="63" y="32"/>
                </a:cubicBezTo>
                <a:cubicBezTo>
                  <a:pt x="61" y="32"/>
                  <a:pt x="61" y="32"/>
                  <a:pt x="61" y="32"/>
                </a:cubicBezTo>
                <a:cubicBezTo>
                  <a:pt x="54" y="32"/>
                  <a:pt x="54" y="32"/>
                  <a:pt x="54" y="32"/>
                </a:cubicBezTo>
                <a:cubicBezTo>
                  <a:pt x="54" y="33"/>
                  <a:pt x="53" y="33"/>
                  <a:pt x="53" y="34"/>
                </a:cubicBezTo>
                <a:cubicBezTo>
                  <a:pt x="53" y="34"/>
                  <a:pt x="53" y="34"/>
                  <a:pt x="52" y="35"/>
                </a:cubicBezTo>
                <a:cubicBezTo>
                  <a:pt x="60" y="35"/>
                  <a:pt x="60" y="35"/>
                  <a:pt x="60" y="35"/>
                </a:cubicBezTo>
                <a:cubicBezTo>
                  <a:pt x="59" y="37"/>
                  <a:pt x="59" y="37"/>
                  <a:pt x="59" y="37"/>
                </a:cubicBezTo>
                <a:cubicBezTo>
                  <a:pt x="59" y="38"/>
                  <a:pt x="59" y="38"/>
                  <a:pt x="59" y="38"/>
                </a:cubicBezTo>
                <a:cubicBezTo>
                  <a:pt x="60" y="38"/>
                  <a:pt x="60" y="38"/>
                  <a:pt x="60" y="38"/>
                </a:cubicBezTo>
                <a:cubicBezTo>
                  <a:pt x="61" y="39"/>
                  <a:pt x="61" y="39"/>
                  <a:pt x="61" y="39"/>
                </a:cubicBezTo>
                <a:cubicBezTo>
                  <a:pt x="62" y="39"/>
                  <a:pt x="62" y="39"/>
                  <a:pt x="62" y="39"/>
                </a:cubicBezTo>
                <a:cubicBezTo>
                  <a:pt x="62" y="39"/>
                  <a:pt x="62" y="39"/>
                  <a:pt x="62" y="39"/>
                </a:cubicBezTo>
                <a:cubicBezTo>
                  <a:pt x="65" y="35"/>
                  <a:pt x="65" y="35"/>
                  <a:pt x="65" y="35"/>
                </a:cubicBezTo>
                <a:cubicBezTo>
                  <a:pt x="68" y="35"/>
                  <a:pt x="68" y="35"/>
                  <a:pt x="68" y="35"/>
                </a:cubicBezTo>
                <a:cubicBezTo>
                  <a:pt x="70" y="35"/>
                  <a:pt x="71" y="34"/>
                  <a:pt x="72" y="33"/>
                </a:cubicBezTo>
                <a:cubicBezTo>
                  <a:pt x="73" y="33"/>
                  <a:pt x="73" y="31"/>
                  <a:pt x="73" y="30"/>
                </a:cubicBezTo>
                <a:cubicBezTo>
                  <a:pt x="73" y="19"/>
                  <a:pt x="73" y="19"/>
                  <a:pt x="73" y="19"/>
                </a:cubicBezTo>
                <a:cubicBezTo>
                  <a:pt x="73" y="18"/>
                  <a:pt x="73" y="17"/>
                  <a:pt x="72" y="16"/>
                </a:cubicBezTo>
                <a:cubicBezTo>
                  <a:pt x="71" y="15"/>
                  <a:pt x="70" y="14"/>
                  <a:pt x="68" y="14"/>
                </a:cubicBezTo>
                <a:cubicBezTo>
                  <a:pt x="51" y="14"/>
                  <a:pt x="51" y="14"/>
                  <a:pt x="51" y="14"/>
                </a:cubicBezTo>
                <a:close/>
                <a:moveTo>
                  <a:pt x="55" y="27"/>
                </a:moveTo>
                <a:cubicBezTo>
                  <a:pt x="55" y="29"/>
                  <a:pt x="55" y="29"/>
                  <a:pt x="55" y="29"/>
                </a:cubicBezTo>
                <a:cubicBezTo>
                  <a:pt x="68" y="29"/>
                  <a:pt x="68" y="29"/>
                  <a:pt x="68" y="29"/>
                </a:cubicBezTo>
                <a:cubicBezTo>
                  <a:pt x="68" y="27"/>
                  <a:pt x="68" y="27"/>
                  <a:pt x="68" y="27"/>
                </a:cubicBezTo>
                <a:cubicBezTo>
                  <a:pt x="55" y="27"/>
                  <a:pt x="55" y="27"/>
                  <a:pt x="55" y="27"/>
                </a:cubicBezTo>
                <a:close/>
                <a:moveTo>
                  <a:pt x="55" y="23"/>
                </a:moveTo>
                <a:cubicBezTo>
                  <a:pt x="55" y="25"/>
                  <a:pt x="55" y="25"/>
                  <a:pt x="55" y="25"/>
                </a:cubicBezTo>
                <a:cubicBezTo>
                  <a:pt x="68" y="25"/>
                  <a:pt x="68" y="25"/>
                  <a:pt x="68" y="25"/>
                </a:cubicBezTo>
                <a:cubicBezTo>
                  <a:pt x="68" y="23"/>
                  <a:pt x="68" y="23"/>
                  <a:pt x="68" y="23"/>
                </a:cubicBezTo>
                <a:cubicBezTo>
                  <a:pt x="55" y="23"/>
                  <a:pt x="55" y="23"/>
                  <a:pt x="55" y="23"/>
                </a:cubicBezTo>
                <a:close/>
                <a:moveTo>
                  <a:pt x="54" y="20"/>
                </a:moveTo>
                <a:cubicBezTo>
                  <a:pt x="54" y="21"/>
                  <a:pt x="54" y="21"/>
                  <a:pt x="54" y="21"/>
                </a:cubicBezTo>
                <a:cubicBezTo>
                  <a:pt x="68" y="21"/>
                  <a:pt x="68" y="21"/>
                  <a:pt x="68" y="21"/>
                </a:cubicBezTo>
                <a:cubicBezTo>
                  <a:pt x="68" y="20"/>
                  <a:pt x="68" y="20"/>
                  <a:pt x="68" y="20"/>
                </a:cubicBezTo>
                <a:cubicBezTo>
                  <a:pt x="54" y="20"/>
                  <a:pt x="54" y="20"/>
                  <a:pt x="54" y="20"/>
                </a:cubicBezTo>
                <a:close/>
                <a:moveTo>
                  <a:pt x="35" y="40"/>
                </a:moveTo>
                <a:cubicBezTo>
                  <a:pt x="32" y="42"/>
                  <a:pt x="31" y="48"/>
                  <a:pt x="31" y="51"/>
                </a:cubicBezTo>
                <a:cubicBezTo>
                  <a:pt x="34" y="54"/>
                  <a:pt x="54" y="54"/>
                  <a:pt x="58" y="51"/>
                </a:cubicBezTo>
                <a:cubicBezTo>
                  <a:pt x="59" y="47"/>
                  <a:pt x="57" y="42"/>
                  <a:pt x="54" y="39"/>
                </a:cubicBezTo>
                <a:cubicBezTo>
                  <a:pt x="53" y="39"/>
                  <a:pt x="53" y="39"/>
                  <a:pt x="52" y="39"/>
                </a:cubicBezTo>
                <a:cubicBezTo>
                  <a:pt x="51" y="39"/>
                  <a:pt x="50" y="39"/>
                  <a:pt x="50" y="39"/>
                </a:cubicBezTo>
                <a:cubicBezTo>
                  <a:pt x="49" y="39"/>
                  <a:pt x="49" y="38"/>
                  <a:pt x="49" y="37"/>
                </a:cubicBezTo>
                <a:cubicBezTo>
                  <a:pt x="49" y="36"/>
                  <a:pt x="50" y="35"/>
                  <a:pt x="50" y="34"/>
                </a:cubicBezTo>
                <a:cubicBezTo>
                  <a:pt x="51" y="34"/>
                  <a:pt x="51" y="33"/>
                  <a:pt x="51" y="33"/>
                </a:cubicBezTo>
                <a:cubicBezTo>
                  <a:pt x="51" y="32"/>
                  <a:pt x="52" y="31"/>
                  <a:pt x="52" y="31"/>
                </a:cubicBezTo>
                <a:cubicBezTo>
                  <a:pt x="52" y="30"/>
                  <a:pt x="52" y="30"/>
                  <a:pt x="52" y="30"/>
                </a:cubicBezTo>
                <a:cubicBezTo>
                  <a:pt x="51" y="30"/>
                  <a:pt x="51" y="30"/>
                  <a:pt x="51" y="30"/>
                </a:cubicBezTo>
                <a:cubicBezTo>
                  <a:pt x="51" y="30"/>
                  <a:pt x="51" y="30"/>
                  <a:pt x="51" y="30"/>
                </a:cubicBezTo>
                <a:cubicBezTo>
                  <a:pt x="51" y="27"/>
                  <a:pt x="51" y="25"/>
                  <a:pt x="49" y="23"/>
                </a:cubicBezTo>
                <a:cubicBezTo>
                  <a:pt x="47" y="21"/>
                  <a:pt x="42" y="22"/>
                  <a:pt x="40" y="24"/>
                </a:cubicBezTo>
                <a:cubicBezTo>
                  <a:pt x="38" y="25"/>
                  <a:pt x="38" y="26"/>
                  <a:pt x="38" y="30"/>
                </a:cubicBezTo>
                <a:cubicBezTo>
                  <a:pt x="38" y="30"/>
                  <a:pt x="38" y="30"/>
                  <a:pt x="38" y="30"/>
                </a:cubicBezTo>
                <a:cubicBezTo>
                  <a:pt x="38" y="30"/>
                  <a:pt x="38" y="30"/>
                  <a:pt x="38" y="30"/>
                </a:cubicBezTo>
                <a:cubicBezTo>
                  <a:pt x="38" y="31"/>
                  <a:pt x="38" y="31"/>
                  <a:pt x="38" y="31"/>
                </a:cubicBezTo>
                <a:cubicBezTo>
                  <a:pt x="38" y="31"/>
                  <a:pt x="38" y="32"/>
                  <a:pt x="38" y="33"/>
                </a:cubicBezTo>
                <a:cubicBezTo>
                  <a:pt x="38" y="33"/>
                  <a:pt x="39" y="34"/>
                  <a:pt x="39" y="34"/>
                </a:cubicBezTo>
                <a:cubicBezTo>
                  <a:pt x="39" y="35"/>
                  <a:pt x="40" y="36"/>
                  <a:pt x="41" y="37"/>
                </a:cubicBezTo>
                <a:cubicBezTo>
                  <a:pt x="41" y="38"/>
                  <a:pt x="40" y="38"/>
                  <a:pt x="40" y="39"/>
                </a:cubicBezTo>
                <a:cubicBezTo>
                  <a:pt x="39" y="39"/>
                  <a:pt x="39" y="40"/>
                  <a:pt x="38" y="40"/>
                </a:cubicBezTo>
                <a:cubicBezTo>
                  <a:pt x="37" y="40"/>
                  <a:pt x="36" y="40"/>
                  <a:pt x="35" y="40"/>
                </a:cubicBezTo>
                <a:close/>
                <a:moveTo>
                  <a:pt x="106" y="56"/>
                </a:moveTo>
                <a:cubicBezTo>
                  <a:pt x="106" y="10"/>
                  <a:pt x="106" y="10"/>
                  <a:pt x="106" y="10"/>
                </a:cubicBezTo>
                <a:cubicBezTo>
                  <a:pt x="22" y="10"/>
                  <a:pt x="22" y="10"/>
                  <a:pt x="22" y="10"/>
                </a:cubicBezTo>
                <a:cubicBezTo>
                  <a:pt x="22" y="56"/>
                  <a:pt x="22" y="56"/>
                  <a:pt x="22" y="56"/>
                </a:cubicBezTo>
                <a:cubicBezTo>
                  <a:pt x="106" y="56"/>
                  <a:pt x="106" y="56"/>
                  <a:pt x="106" y="56"/>
                </a:cubicBezTo>
                <a:close/>
                <a:moveTo>
                  <a:pt x="118" y="67"/>
                </a:moveTo>
                <a:cubicBezTo>
                  <a:pt x="126" y="87"/>
                  <a:pt x="126" y="87"/>
                  <a:pt x="126" y="87"/>
                </a:cubicBezTo>
                <a:cubicBezTo>
                  <a:pt x="126" y="99"/>
                  <a:pt x="126" y="99"/>
                  <a:pt x="126" y="99"/>
                </a:cubicBezTo>
                <a:cubicBezTo>
                  <a:pt x="121" y="103"/>
                  <a:pt x="121" y="103"/>
                  <a:pt x="121" y="103"/>
                </a:cubicBezTo>
                <a:cubicBezTo>
                  <a:pt x="6" y="103"/>
                  <a:pt x="6" y="103"/>
                  <a:pt x="6" y="103"/>
                </a:cubicBezTo>
                <a:cubicBezTo>
                  <a:pt x="0" y="99"/>
                  <a:pt x="0" y="99"/>
                  <a:pt x="0" y="99"/>
                </a:cubicBezTo>
                <a:cubicBezTo>
                  <a:pt x="0" y="87"/>
                  <a:pt x="0" y="87"/>
                  <a:pt x="0" y="87"/>
                </a:cubicBezTo>
                <a:cubicBezTo>
                  <a:pt x="11" y="67"/>
                  <a:pt x="11" y="67"/>
                  <a:pt x="11" y="67"/>
                </a:cubicBezTo>
                <a:cubicBezTo>
                  <a:pt x="22" y="67"/>
                  <a:pt x="22" y="67"/>
                  <a:pt x="22" y="67"/>
                </a:cubicBezTo>
                <a:cubicBezTo>
                  <a:pt x="106" y="67"/>
                  <a:pt x="106" y="67"/>
                  <a:pt x="106" y="67"/>
                </a:cubicBezTo>
                <a:cubicBezTo>
                  <a:pt x="118" y="67"/>
                  <a:pt x="118" y="67"/>
                  <a:pt x="118" y="67"/>
                </a:cubicBezTo>
                <a:close/>
                <a:moveTo>
                  <a:pt x="45" y="72"/>
                </a:moveTo>
                <a:cubicBezTo>
                  <a:pt x="44" y="73"/>
                  <a:pt x="44" y="73"/>
                  <a:pt x="44" y="74"/>
                </a:cubicBezTo>
                <a:cubicBezTo>
                  <a:pt x="47" y="74"/>
                  <a:pt x="50" y="74"/>
                  <a:pt x="54" y="74"/>
                </a:cubicBezTo>
                <a:cubicBezTo>
                  <a:pt x="54" y="73"/>
                  <a:pt x="54" y="73"/>
                  <a:pt x="54" y="72"/>
                </a:cubicBezTo>
                <a:cubicBezTo>
                  <a:pt x="51" y="72"/>
                  <a:pt x="48" y="72"/>
                  <a:pt x="45" y="72"/>
                </a:cubicBezTo>
                <a:close/>
                <a:moveTo>
                  <a:pt x="42" y="82"/>
                </a:moveTo>
                <a:cubicBezTo>
                  <a:pt x="41" y="83"/>
                  <a:pt x="41" y="84"/>
                  <a:pt x="41" y="85"/>
                </a:cubicBezTo>
                <a:cubicBezTo>
                  <a:pt x="45" y="85"/>
                  <a:pt x="48" y="85"/>
                  <a:pt x="52" y="85"/>
                </a:cubicBezTo>
                <a:cubicBezTo>
                  <a:pt x="52" y="84"/>
                  <a:pt x="52" y="83"/>
                  <a:pt x="52" y="82"/>
                </a:cubicBezTo>
                <a:cubicBezTo>
                  <a:pt x="49" y="82"/>
                  <a:pt x="45" y="82"/>
                  <a:pt x="42" y="82"/>
                </a:cubicBezTo>
                <a:close/>
                <a:moveTo>
                  <a:pt x="25" y="82"/>
                </a:moveTo>
                <a:cubicBezTo>
                  <a:pt x="25" y="83"/>
                  <a:pt x="25" y="84"/>
                  <a:pt x="24" y="85"/>
                </a:cubicBezTo>
                <a:cubicBezTo>
                  <a:pt x="28" y="85"/>
                  <a:pt x="31" y="85"/>
                  <a:pt x="35" y="85"/>
                </a:cubicBezTo>
                <a:cubicBezTo>
                  <a:pt x="35" y="84"/>
                  <a:pt x="36" y="83"/>
                  <a:pt x="36" y="82"/>
                </a:cubicBezTo>
                <a:cubicBezTo>
                  <a:pt x="33" y="82"/>
                  <a:pt x="29" y="82"/>
                  <a:pt x="25" y="82"/>
                </a:cubicBezTo>
                <a:close/>
                <a:moveTo>
                  <a:pt x="58" y="82"/>
                </a:moveTo>
                <a:cubicBezTo>
                  <a:pt x="58" y="83"/>
                  <a:pt x="58" y="84"/>
                  <a:pt x="58" y="85"/>
                </a:cubicBezTo>
                <a:cubicBezTo>
                  <a:pt x="61" y="85"/>
                  <a:pt x="65" y="85"/>
                  <a:pt x="69" y="85"/>
                </a:cubicBezTo>
                <a:cubicBezTo>
                  <a:pt x="69" y="84"/>
                  <a:pt x="69" y="83"/>
                  <a:pt x="69" y="82"/>
                </a:cubicBezTo>
                <a:cubicBezTo>
                  <a:pt x="65" y="82"/>
                  <a:pt x="62" y="82"/>
                  <a:pt x="58" y="82"/>
                </a:cubicBezTo>
                <a:close/>
                <a:moveTo>
                  <a:pt x="75" y="82"/>
                </a:moveTo>
                <a:cubicBezTo>
                  <a:pt x="75" y="83"/>
                  <a:pt x="75" y="84"/>
                  <a:pt x="75" y="85"/>
                </a:cubicBezTo>
                <a:cubicBezTo>
                  <a:pt x="78" y="85"/>
                  <a:pt x="82" y="85"/>
                  <a:pt x="86" y="85"/>
                </a:cubicBezTo>
                <a:cubicBezTo>
                  <a:pt x="85" y="84"/>
                  <a:pt x="85" y="83"/>
                  <a:pt x="85" y="82"/>
                </a:cubicBezTo>
                <a:cubicBezTo>
                  <a:pt x="82" y="82"/>
                  <a:pt x="78" y="82"/>
                  <a:pt x="75" y="82"/>
                </a:cubicBezTo>
                <a:close/>
                <a:moveTo>
                  <a:pt x="91" y="82"/>
                </a:moveTo>
                <a:cubicBezTo>
                  <a:pt x="91" y="83"/>
                  <a:pt x="91" y="84"/>
                  <a:pt x="91" y="85"/>
                </a:cubicBezTo>
                <a:cubicBezTo>
                  <a:pt x="95" y="85"/>
                  <a:pt x="99" y="85"/>
                  <a:pt x="102" y="85"/>
                </a:cubicBezTo>
                <a:cubicBezTo>
                  <a:pt x="102" y="84"/>
                  <a:pt x="102" y="83"/>
                  <a:pt x="102" y="82"/>
                </a:cubicBezTo>
                <a:cubicBezTo>
                  <a:pt x="98" y="82"/>
                  <a:pt x="95" y="82"/>
                  <a:pt x="91" y="82"/>
                </a:cubicBezTo>
                <a:close/>
                <a:moveTo>
                  <a:pt x="39" y="76"/>
                </a:moveTo>
                <a:cubicBezTo>
                  <a:pt x="39" y="77"/>
                  <a:pt x="39" y="78"/>
                  <a:pt x="38" y="79"/>
                </a:cubicBezTo>
                <a:cubicBezTo>
                  <a:pt x="42" y="79"/>
                  <a:pt x="45" y="79"/>
                  <a:pt x="49" y="79"/>
                </a:cubicBezTo>
                <a:cubicBezTo>
                  <a:pt x="49" y="78"/>
                  <a:pt x="49" y="77"/>
                  <a:pt x="49" y="76"/>
                </a:cubicBezTo>
                <a:cubicBezTo>
                  <a:pt x="46" y="76"/>
                  <a:pt x="43" y="76"/>
                  <a:pt x="39" y="76"/>
                </a:cubicBezTo>
                <a:close/>
                <a:moveTo>
                  <a:pt x="28" y="76"/>
                </a:moveTo>
                <a:cubicBezTo>
                  <a:pt x="27" y="77"/>
                  <a:pt x="27" y="78"/>
                  <a:pt x="26" y="79"/>
                </a:cubicBezTo>
                <a:cubicBezTo>
                  <a:pt x="29" y="79"/>
                  <a:pt x="31" y="79"/>
                  <a:pt x="33" y="79"/>
                </a:cubicBezTo>
                <a:cubicBezTo>
                  <a:pt x="33" y="78"/>
                  <a:pt x="33" y="77"/>
                  <a:pt x="34" y="76"/>
                </a:cubicBezTo>
                <a:cubicBezTo>
                  <a:pt x="32" y="76"/>
                  <a:pt x="30" y="76"/>
                  <a:pt x="28" y="76"/>
                </a:cubicBezTo>
                <a:close/>
                <a:moveTo>
                  <a:pt x="55" y="76"/>
                </a:moveTo>
                <a:cubicBezTo>
                  <a:pt x="55" y="77"/>
                  <a:pt x="54" y="78"/>
                  <a:pt x="54" y="79"/>
                </a:cubicBezTo>
                <a:cubicBezTo>
                  <a:pt x="58" y="79"/>
                  <a:pt x="61" y="79"/>
                  <a:pt x="65" y="79"/>
                </a:cubicBezTo>
                <a:cubicBezTo>
                  <a:pt x="65" y="78"/>
                  <a:pt x="65" y="77"/>
                  <a:pt x="65" y="76"/>
                </a:cubicBezTo>
                <a:cubicBezTo>
                  <a:pt x="62" y="76"/>
                  <a:pt x="58" y="76"/>
                  <a:pt x="55" y="76"/>
                </a:cubicBezTo>
                <a:close/>
                <a:moveTo>
                  <a:pt x="70" y="76"/>
                </a:moveTo>
                <a:cubicBezTo>
                  <a:pt x="70" y="77"/>
                  <a:pt x="70" y="78"/>
                  <a:pt x="70" y="79"/>
                </a:cubicBezTo>
                <a:cubicBezTo>
                  <a:pt x="74" y="79"/>
                  <a:pt x="77" y="79"/>
                  <a:pt x="81" y="79"/>
                </a:cubicBezTo>
                <a:cubicBezTo>
                  <a:pt x="81" y="78"/>
                  <a:pt x="81" y="77"/>
                  <a:pt x="81" y="76"/>
                </a:cubicBezTo>
                <a:cubicBezTo>
                  <a:pt x="77" y="76"/>
                  <a:pt x="74" y="76"/>
                  <a:pt x="70" y="76"/>
                </a:cubicBezTo>
                <a:close/>
                <a:moveTo>
                  <a:pt x="87" y="76"/>
                </a:moveTo>
                <a:cubicBezTo>
                  <a:pt x="87" y="77"/>
                  <a:pt x="87" y="78"/>
                  <a:pt x="87" y="79"/>
                </a:cubicBezTo>
                <a:cubicBezTo>
                  <a:pt x="92" y="79"/>
                  <a:pt x="96" y="79"/>
                  <a:pt x="101" y="79"/>
                </a:cubicBezTo>
                <a:cubicBezTo>
                  <a:pt x="101" y="78"/>
                  <a:pt x="101" y="77"/>
                  <a:pt x="100" y="76"/>
                </a:cubicBezTo>
                <a:cubicBezTo>
                  <a:pt x="96" y="76"/>
                  <a:pt x="91" y="76"/>
                  <a:pt x="87" y="76"/>
                </a:cubicBezTo>
                <a:close/>
                <a:moveTo>
                  <a:pt x="30" y="72"/>
                </a:moveTo>
                <a:cubicBezTo>
                  <a:pt x="29" y="73"/>
                  <a:pt x="29" y="73"/>
                  <a:pt x="28" y="74"/>
                </a:cubicBezTo>
                <a:cubicBezTo>
                  <a:pt x="32" y="74"/>
                  <a:pt x="35" y="74"/>
                  <a:pt x="38" y="74"/>
                </a:cubicBezTo>
                <a:cubicBezTo>
                  <a:pt x="39" y="73"/>
                  <a:pt x="39" y="73"/>
                  <a:pt x="39" y="72"/>
                </a:cubicBezTo>
                <a:cubicBezTo>
                  <a:pt x="36" y="72"/>
                  <a:pt x="33" y="72"/>
                  <a:pt x="30" y="72"/>
                </a:cubicBezTo>
                <a:close/>
                <a:moveTo>
                  <a:pt x="59" y="72"/>
                </a:moveTo>
                <a:cubicBezTo>
                  <a:pt x="59" y="73"/>
                  <a:pt x="59" y="73"/>
                  <a:pt x="59" y="74"/>
                </a:cubicBezTo>
                <a:cubicBezTo>
                  <a:pt x="62" y="74"/>
                  <a:pt x="66" y="74"/>
                  <a:pt x="69" y="74"/>
                </a:cubicBezTo>
                <a:cubicBezTo>
                  <a:pt x="69" y="73"/>
                  <a:pt x="69" y="73"/>
                  <a:pt x="69" y="72"/>
                </a:cubicBezTo>
                <a:cubicBezTo>
                  <a:pt x="66" y="72"/>
                  <a:pt x="63" y="72"/>
                  <a:pt x="59" y="72"/>
                </a:cubicBezTo>
                <a:close/>
                <a:moveTo>
                  <a:pt x="74" y="72"/>
                </a:moveTo>
                <a:cubicBezTo>
                  <a:pt x="74" y="73"/>
                  <a:pt x="74" y="73"/>
                  <a:pt x="74" y="74"/>
                </a:cubicBezTo>
                <a:cubicBezTo>
                  <a:pt x="78" y="74"/>
                  <a:pt x="81" y="74"/>
                  <a:pt x="85" y="74"/>
                </a:cubicBezTo>
                <a:cubicBezTo>
                  <a:pt x="84" y="73"/>
                  <a:pt x="84" y="73"/>
                  <a:pt x="84" y="72"/>
                </a:cubicBezTo>
                <a:cubicBezTo>
                  <a:pt x="81" y="72"/>
                  <a:pt x="78" y="72"/>
                  <a:pt x="74" y="72"/>
                </a:cubicBezTo>
                <a:close/>
                <a:moveTo>
                  <a:pt x="89" y="72"/>
                </a:moveTo>
                <a:cubicBezTo>
                  <a:pt x="90" y="73"/>
                  <a:pt x="90" y="73"/>
                  <a:pt x="90" y="74"/>
                </a:cubicBezTo>
                <a:cubicBezTo>
                  <a:pt x="93" y="74"/>
                  <a:pt x="97" y="74"/>
                  <a:pt x="100" y="74"/>
                </a:cubicBezTo>
                <a:cubicBezTo>
                  <a:pt x="100" y="73"/>
                  <a:pt x="99" y="73"/>
                  <a:pt x="99" y="72"/>
                </a:cubicBezTo>
                <a:cubicBezTo>
                  <a:pt x="96" y="72"/>
                  <a:pt x="93" y="72"/>
                  <a:pt x="89" y="72"/>
                </a:cubicBezTo>
                <a:close/>
                <a:moveTo>
                  <a:pt x="10" y="91"/>
                </a:moveTo>
                <a:cubicBezTo>
                  <a:pt x="10" y="96"/>
                  <a:pt x="10" y="96"/>
                  <a:pt x="10" y="96"/>
                </a:cubicBezTo>
                <a:cubicBezTo>
                  <a:pt x="20" y="96"/>
                  <a:pt x="20" y="96"/>
                  <a:pt x="20" y="96"/>
                </a:cubicBezTo>
                <a:cubicBezTo>
                  <a:pt x="20" y="91"/>
                  <a:pt x="20" y="91"/>
                  <a:pt x="20" y="91"/>
                </a:cubicBezTo>
                <a:cubicBezTo>
                  <a:pt x="10" y="91"/>
                  <a:pt x="10" y="91"/>
                  <a:pt x="10" y="91"/>
                </a:cubicBezTo>
                <a:close/>
                <a:moveTo>
                  <a:pt x="106" y="91"/>
                </a:moveTo>
                <a:cubicBezTo>
                  <a:pt x="106" y="96"/>
                  <a:pt x="106" y="96"/>
                  <a:pt x="106" y="96"/>
                </a:cubicBezTo>
                <a:cubicBezTo>
                  <a:pt x="116" y="96"/>
                  <a:pt x="116" y="96"/>
                  <a:pt x="116" y="96"/>
                </a:cubicBezTo>
                <a:cubicBezTo>
                  <a:pt x="116" y="91"/>
                  <a:pt x="116" y="91"/>
                  <a:pt x="116" y="91"/>
                </a:cubicBezTo>
                <a:cubicBezTo>
                  <a:pt x="106" y="91"/>
                  <a:pt x="106" y="91"/>
                  <a:pt x="106" y="91"/>
                </a:cubicBezTo>
                <a:close/>
                <a:moveTo>
                  <a:pt x="39" y="91"/>
                </a:moveTo>
                <a:cubicBezTo>
                  <a:pt x="39" y="96"/>
                  <a:pt x="39" y="96"/>
                  <a:pt x="39" y="96"/>
                </a:cubicBezTo>
                <a:cubicBezTo>
                  <a:pt x="49" y="96"/>
                  <a:pt x="49" y="96"/>
                  <a:pt x="49" y="96"/>
                </a:cubicBezTo>
                <a:cubicBezTo>
                  <a:pt x="49" y="91"/>
                  <a:pt x="49" y="91"/>
                  <a:pt x="49" y="91"/>
                </a:cubicBezTo>
                <a:cubicBezTo>
                  <a:pt x="39" y="91"/>
                  <a:pt x="39" y="91"/>
                  <a:pt x="39" y="91"/>
                </a:cubicBezTo>
                <a:close/>
                <a:moveTo>
                  <a:pt x="25" y="91"/>
                </a:moveTo>
                <a:cubicBezTo>
                  <a:pt x="25" y="96"/>
                  <a:pt x="25" y="96"/>
                  <a:pt x="25" y="96"/>
                </a:cubicBezTo>
                <a:cubicBezTo>
                  <a:pt x="35" y="96"/>
                  <a:pt x="35" y="96"/>
                  <a:pt x="35" y="96"/>
                </a:cubicBezTo>
                <a:cubicBezTo>
                  <a:pt x="35" y="91"/>
                  <a:pt x="35" y="91"/>
                  <a:pt x="35" y="91"/>
                </a:cubicBezTo>
                <a:lnTo>
                  <a:pt x="25" y="91"/>
                </a:lnTo>
                <a:close/>
              </a:path>
            </a:pathLst>
          </a:custGeom>
          <a:solidFill>
            <a:srgbClr val="0070C0"/>
          </a:solidFill>
          <a:ln>
            <a:noFill/>
          </a:ln>
          <a:effectLst>
            <a:reflection blurRad="6350" stA="52000" endA="300" endPos="35000" dir="5400000" sy="-100000" algn="bl" rotWithShape="0"/>
          </a:effectLst>
        </p:spPr>
        <p:txBody>
          <a:bodyPr vert="horz" wrap="square" lIns="91440" tIns="45720" rIns="91440" bIns="45720" numCol="1" anchor="t" anchorCtr="0" compatLnSpc="1"/>
          <a:lstStyle/>
          <a:p>
            <a:pPr defTabSz="914400"/>
            <a:endParaRPr lang="zh-CN" altLang="en-US">
              <a:solidFill>
                <a:prstClr val="black"/>
              </a:solidFill>
              <a:latin typeface="微软雅黑" panose="020B0503020204020204" pitchFamily="34" charset="-122"/>
              <a:ea typeface="微软雅黑" panose="020B0503020204020204" pitchFamily="34" charset="-122"/>
            </a:endParaRPr>
          </a:p>
        </p:txBody>
      </p:sp>
      <p:sp>
        <p:nvSpPr>
          <p:cNvPr id="23" name="Freeform 48"/>
          <p:cNvSpPr>
            <a:spLocks noEditPoints="1"/>
          </p:cNvSpPr>
          <p:nvPr>
            <p:custDataLst>
              <p:tags r:id="rId7"/>
            </p:custDataLst>
          </p:nvPr>
        </p:nvSpPr>
        <p:spPr bwMode="auto">
          <a:xfrm>
            <a:off x="8919845" y="1601470"/>
            <a:ext cx="549910" cy="508000"/>
          </a:xfrm>
          <a:custGeom>
            <a:avLst/>
            <a:gdLst>
              <a:gd name="T0" fmla="*/ 33 w 139"/>
              <a:gd name="T1" fmla="*/ 79 h 114"/>
              <a:gd name="T2" fmla="*/ 49 w 139"/>
              <a:gd name="T3" fmla="*/ 87 h 114"/>
              <a:gd name="T4" fmla="*/ 0 w 139"/>
              <a:gd name="T5" fmla="*/ 105 h 114"/>
              <a:gd name="T6" fmla="*/ 18 w 139"/>
              <a:gd name="T7" fmla="*/ 85 h 114"/>
              <a:gd name="T8" fmla="*/ 14 w 139"/>
              <a:gd name="T9" fmla="*/ 72 h 114"/>
              <a:gd name="T10" fmla="*/ 13 w 139"/>
              <a:gd name="T11" fmla="*/ 45 h 114"/>
              <a:gd name="T12" fmla="*/ 44 w 139"/>
              <a:gd name="T13" fmla="*/ 72 h 114"/>
              <a:gd name="T14" fmla="*/ 87 w 139"/>
              <a:gd name="T15" fmla="*/ 40 h 114"/>
              <a:gd name="T16" fmla="*/ 98 w 139"/>
              <a:gd name="T17" fmla="*/ 39 h 114"/>
              <a:gd name="T18" fmla="*/ 96 w 139"/>
              <a:gd name="T19" fmla="*/ 28 h 114"/>
              <a:gd name="T20" fmla="*/ 93 w 139"/>
              <a:gd name="T21" fmla="*/ 21 h 114"/>
              <a:gd name="T22" fmla="*/ 94 w 139"/>
              <a:gd name="T23" fmla="*/ 20 h 114"/>
              <a:gd name="T24" fmla="*/ 97 w 139"/>
              <a:gd name="T25" fmla="*/ 5 h 114"/>
              <a:gd name="T26" fmla="*/ 123 w 139"/>
              <a:gd name="T27" fmla="*/ 19 h 114"/>
              <a:gd name="T28" fmla="*/ 124 w 139"/>
              <a:gd name="T29" fmla="*/ 20 h 114"/>
              <a:gd name="T30" fmla="*/ 123 w 139"/>
              <a:gd name="T31" fmla="*/ 25 h 114"/>
              <a:gd name="T32" fmla="*/ 118 w 139"/>
              <a:gd name="T33" fmla="*/ 34 h 114"/>
              <a:gd name="T34" fmla="*/ 124 w 139"/>
              <a:gd name="T35" fmla="*/ 40 h 114"/>
              <a:gd name="T36" fmla="*/ 139 w 139"/>
              <a:gd name="T37" fmla="*/ 66 h 114"/>
              <a:gd name="T38" fmla="*/ 87 w 139"/>
              <a:gd name="T39" fmla="*/ 40 h 114"/>
              <a:gd name="T40" fmla="*/ 106 w 139"/>
              <a:gd name="T41" fmla="*/ 44 h 114"/>
              <a:gd name="T42" fmla="*/ 104 w 139"/>
              <a:gd name="T43" fmla="*/ 62 h 114"/>
              <a:gd name="T44" fmla="*/ 109 w 139"/>
              <a:gd name="T45" fmla="*/ 66 h 114"/>
              <a:gd name="T46" fmla="*/ 110 w 139"/>
              <a:gd name="T47" fmla="*/ 66 h 114"/>
              <a:gd name="T48" fmla="*/ 115 w 139"/>
              <a:gd name="T49" fmla="*/ 62 h 114"/>
              <a:gd name="T50" fmla="*/ 113 w 139"/>
              <a:gd name="T51" fmla="*/ 44 h 114"/>
              <a:gd name="T52" fmla="*/ 110 w 139"/>
              <a:gd name="T53" fmla="*/ 41 h 114"/>
              <a:gd name="T54" fmla="*/ 68 w 139"/>
              <a:gd name="T55" fmla="*/ 114 h 114"/>
              <a:gd name="T56" fmla="*/ 88 w 139"/>
              <a:gd name="T57" fmla="*/ 83 h 114"/>
              <a:gd name="T58" fmla="*/ 110 w 139"/>
              <a:gd name="T59" fmla="*/ 85 h 114"/>
              <a:gd name="T60" fmla="*/ 117 w 139"/>
              <a:gd name="T61" fmla="*/ 80 h 114"/>
              <a:gd name="T62" fmla="*/ 73 w 139"/>
              <a:gd name="T63" fmla="*/ 106 h 114"/>
              <a:gd name="T64" fmla="*/ 72 w 139"/>
              <a:gd name="T65" fmla="*/ 1 h 114"/>
              <a:gd name="T66" fmla="*/ 28 w 139"/>
              <a:gd name="T67" fmla="*/ 19 h 114"/>
              <a:gd name="T68" fmla="*/ 27 w 139"/>
              <a:gd name="T69" fmla="*/ 37 h 114"/>
              <a:gd name="T70" fmla="*/ 58 w 139"/>
              <a:gd name="T71" fmla="*/ 23 h 114"/>
              <a:gd name="T72" fmla="*/ 83 w 139"/>
              <a:gd name="T73" fmla="*/ 2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9" h="114">
                <a:moveTo>
                  <a:pt x="39" y="72"/>
                </a:moveTo>
                <a:cubicBezTo>
                  <a:pt x="37" y="75"/>
                  <a:pt x="35" y="77"/>
                  <a:pt x="33" y="79"/>
                </a:cubicBezTo>
                <a:cubicBezTo>
                  <a:pt x="33" y="82"/>
                  <a:pt x="34" y="83"/>
                  <a:pt x="35" y="85"/>
                </a:cubicBezTo>
                <a:cubicBezTo>
                  <a:pt x="36" y="85"/>
                  <a:pt x="48" y="85"/>
                  <a:pt x="49" y="87"/>
                </a:cubicBezTo>
                <a:cubicBezTo>
                  <a:pt x="53" y="92"/>
                  <a:pt x="53" y="101"/>
                  <a:pt x="52" y="105"/>
                </a:cubicBezTo>
                <a:cubicBezTo>
                  <a:pt x="40" y="111"/>
                  <a:pt x="13" y="111"/>
                  <a:pt x="0" y="105"/>
                </a:cubicBezTo>
                <a:cubicBezTo>
                  <a:pt x="0" y="101"/>
                  <a:pt x="0" y="92"/>
                  <a:pt x="4" y="87"/>
                </a:cubicBezTo>
                <a:cubicBezTo>
                  <a:pt x="5" y="85"/>
                  <a:pt x="16" y="85"/>
                  <a:pt x="18" y="85"/>
                </a:cubicBezTo>
                <a:cubicBezTo>
                  <a:pt x="19" y="83"/>
                  <a:pt x="19" y="81"/>
                  <a:pt x="19" y="79"/>
                </a:cubicBezTo>
                <a:cubicBezTo>
                  <a:pt x="17" y="77"/>
                  <a:pt x="15" y="75"/>
                  <a:pt x="14" y="72"/>
                </a:cubicBezTo>
                <a:cubicBezTo>
                  <a:pt x="12" y="72"/>
                  <a:pt x="9" y="72"/>
                  <a:pt x="8" y="72"/>
                </a:cubicBezTo>
                <a:cubicBezTo>
                  <a:pt x="7" y="62"/>
                  <a:pt x="9" y="48"/>
                  <a:pt x="13" y="45"/>
                </a:cubicBezTo>
                <a:cubicBezTo>
                  <a:pt x="19" y="40"/>
                  <a:pt x="33" y="40"/>
                  <a:pt x="39" y="44"/>
                </a:cubicBezTo>
                <a:cubicBezTo>
                  <a:pt x="43" y="47"/>
                  <a:pt x="46" y="63"/>
                  <a:pt x="44" y="72"/>
                </a:cubicBezTo>
                <a:cubicBezTo>
                  <a:pt x="44" y="72"/>
                  <a:pt x="39" y="72"/>
                  <a:pt x="39" y="72"/>
                </a:cubicBezTo>
                <a:close/>
                <a:moveTo>
                  <a:pt x="87" y="40"/>
                </a:moveTo>
                <a:cubicBezTo>
                  <a:pt x="89" y="40"/>
                  <a:pt x="92" y="40"/>
                  <a:pt x="94" y="40"/>
                </a:cubicBezTo>
                <a:cubicBezTo>
                  <a:pt x="96" y="41"/>
                  <a:pt x="97" y="40"/>
                  <a:pt x="98" y="39"/>
                </a:cubicBezTo>
                <a:cubicBezTo>
                  <a:pt x="99" y="38"/>
                  <a:pt x="99" y="36"/>
                  <a:pt x="100" y="34"/>
                </a:cubicBezTo>
                <a:cubicBezTo>
                  <a:pt x="98" y="32"/>
                  <a:pt x="97" y="30"/>
                  <a:pt x="96" y="28"/>
                </a:cubicBezTo>
                <a:cubicBezTo>
                  <a:pt x="95" y="27"/>
                  <a:pt x="94" y="26"/>
                  <a:pt x="94" y="25"/>
                </a:cubicBezTo>
                <a:cubicBezTo>
                  <a:pt x="94" y="24"/>
                  <a:pt x="93" y="22"/>
                  <a:pt x="93" y="21"/>
                </a:cubicBezTo>
                <a:cubicBezTo>
                  <a:pt x="93" y="20"/>
                  <a:pt x="93" y="20"/>
                  <a:pt x="93" y="20"/>
                </a:cubicBezTo>
                <a:cubicBezTo>
                  <a:pt x="94" y="20"/>
                  <a:pt x="94" y="20"/>
                  <a:pt x="94" y="20"/>
                </a:cubicBezTo>
                <a:cubicBezTo>
                  <a:pt x="94" y="20"/>
                  <a:pt x="94" y="19"/>
                  <a:pt x="94" y="19"/>
                </a:cubicBezTo>
                <a:cubicBezTo>
                  <a:pt x="93" y="11"/>
                  <a:pt x="94" y="8"/>
                  <a:pt x="97" y="5"/>
                </a:cubicBezTo>
                <a:cubicBezTo>
                  <a:pt x="103" y="0"/>
                  <a:pt x="113" y="0"/>
                  <a:pt x="119" y="4"/>
                </a:cubicBezTo>
                <a:cubicBezTo>
                  <a:pt x="123" y="7"/>
                  <a:pt x="124" y="12"/>
                  <a:pt x="123" y="19"/>
                </a:cubicBezTo>
                <a:cubicBezTo>
                  <a:pt x="123" y="19"/>
                  <a:pt x="123" y="19"/>
                  <a:pt x="123" y="20"/>
                </a:cubicBezTo>
                <a:cubicBezTo>
                  <a:pt x="124" y="20"/>
                  <a:pt x="124" y="20"/>
                  <a:pt x="124" y="20"/>
                </a:cubicBezTo>
                <a:cubicBezTo>
                  <a:pt x="124" y="21"/>
                  <a:pt x="124" y="21"/>
                  <a:pt x="124" y="21"/>
                </a:cubicBezTo>
                <a:cubicBezTo>
                  <a:pt x="124" y="22"/>
                  <a:pt x="124" y="24"/>
                  <a:pt x="123" y="25"/>
                </a:cubicBezTo>
                <a:cubicBezTo>
                  <a:pt x="123" y="26"/>
                  <a:pt x="122" y="27"/>
                  <a:pt x="121" y="28"/>
                </a:cubicBezTo>
                <a:cubicBezTo>
                  <a:pt x="121" y="30"/>
                  <a:pt x="119" y="32"/>
                  <a:pt x="118" y="34"/>
                </a:cubicBezTo>
                <a:cubicBezTo>
                  <a:pt x="118" y="36"/>
                  <a:pt x="119" y="38"/>
                  <a:pt x="120" y="40"/>
                </a:cubicBezTo>
                <a:cubicBezTo>
                  <a:pt x="121" y="40"/>
                  <a:pt x="123" y="40"/>
                  <a:pt x="124" y="40"/>
                </a:cubicBezTo>
                <a:cubicBezTo>
                  <a:pt x="126" y="40"/>
                  <a:pt x="128" y="40"/>
                  <a:pt x="130" y="40"/>
                </a:cubicBezTo>
                <a:cubicBezTo>
                  <a:pt x="136" y="45"/>
                  <a:pt x="139" y="58"/>
                  <a:pt x="139" y="66"/>
                </a:cubicBezTo>
                <a:cubicBezTo>
                  <a:pt x="129" y="72"/>
                  <a:pt x="85" y="73"/>
                  <a:pt x="79" y="66"/>
                </a:cubicBezTo>
                <a:cubicBezTo>
                  <a:pt x="79" y="59"/>
                  <a:pt x="80" y="47"/>
                  <a:pt x="87" y="40"/>
                </a:cubicBezTo>
                <a:close/>
                <a:moveTo>
                  <a:pt x="108" y="41"/>
                </a:moveTo>
                <a:cubicBezTo>
                  <a:pt x="106" y="44"/>
                  <a:pt x="106" y="44"/>
                  <a:pt x="106" y="44"/>
                </a:cubicBezTo>
                <a:cubicBezTo>
                  <a:pt x="108" y="45"/>
                  <a:pt x="108" y="45"/>
                  <a:pt x="108" y="45"/>
                </a:cubicBezTo>
                <a:cubicBezTo>
                  <a:pt x="104" y="62"/>
                  <a:pt x="104" y="62"/>
                  <a:pt x="104" y="62"/>
                </a:cubicBezTo>
                <a:cubicBezTo>
                  <a:pt x="109" y="66"/>
                  <a:pt x="109" y="66"/>
                  <a:pt x="109" y="66"/>
                </a:cubicBezTo>
                <a:cubicBezTo>
                  <a:pt x="109" y="66"/>
                  <a:pt x="109" y="66"/>
                  <a:pt x="109" y="66"/>
                </a:cubicBezTo>
                <a:cubicBezTo>
                  <a:pt x="110" y="66"/>
                  <a:pt x="110" y="66"/>
                  <a:pt x="110" y="66"/>
                </a:cubicBezTo>
                <a:cubicBezTo>
                  <a:pt x="110" y="66"/>
                  <a:pt x="110" y="66"/>
                  <a:pt x="110" y="66"/>
                </a:cubicBezTo>
                <a:cubicBezTo>
                  <a:pt x="110" y="66"/>
                  <a:pt x="110" y="66"/>
                  <a:pt x="110" y="66"/>
                </a:cubicBezTo>
                <a:cubicBezTo>
                  <a:pt x="115" y="62"/>
                  <a:pt x="115" y="62"/>
                  <a:pt x="115" y="62"/>
                </a:cubicBezTo>
                <a:cubicBezTo>
                  <a:pt x="111" y="45"/>
                  <a:pt x="111" y="45"/>
                  <a:pt x="111" y="45"/>
                </a:cubicBezTo>
                <a:cubicBezTo>
                  <a:pt x="113" y="44"/>
                  <a:pt x="113" y="44"/>
                  <a:pt x="113" y="44"/>
                </a:cubicBezTo>
                <a:cubicBezTo>
                  <a:pt x="111" y="41"/>
                  <a:pt x="111" y="41"/>
                  <a:pt x="111" y="41"/>
                </a:cubicBezTo>
                <a:cubicBezTo>
                  <a:pt x="110" y="41"/>
                  <a:pt x="110" y="41"/>
                  <a:pt x="110" y="41"/>
                </a:cubicBezTo>
                <a:cubicBezTo>
                  <a:pt x="108" y="41"/>
                  <a:pt x="108" y="41"/>
                  <a:pt x="108" y="41"/>
                </a:cubicBezTo>
                <a:close/>
                <a:moveTo>
                  <a:pt x="68" y="114"/>
                </a:moveTo>
                <a:cubicBezTo>
                  <a:pt x="57" y="86"/>
                  <a:pt x="57" y="86"/>
                  <a:pt x="57" y="86"/>
                </a:cubicBezTo>
                <a:cubicBezTo>
                  <a:pt x="88" y="83"/>
                  <a:pt x="88" y="83"/>
                  <a:pt x="88" y="83"/>
                </a:cubicBezTo>
                <a:cubicBezTo>
                  <a:pt x="82" y="92"/>
                  <a:pt x="82" y="92"/>
                  <a:pt x="82" y="92"/>
                </a:cubicBezTo>
                <a:cubicBezTo>
                  <a:pt x="92" y="97"/>
                  <a:pt x="103" y="94"/>
                  <a:pt x="110" y="85"/>
                </a:cubicBezTo>
                <a:cubicBezTo>
                  <a:pt x="111" y="83"/>
                  <a:pt x="112" y="81"/>
                  <a:pt x="112" y="78"/>
                </a:cubicBezTo>
                <a:cubicBezTo>
                  <a:pt x="117" y="80"/>
                  <a:pt x="117" y="80"/>
                  <a:pt x="117" y="80"/>
                </a:cubicBezTo>
                <a:cubicBezTo>
                  <a:pt x="117" y="85"/>
                  <a:pt x="115" y="91"/>
                  <a:pt x="112" y="96"/>
                </a:cubicBezTo>
                <a:cubicBezTo>
                  <a:pt x="103" y="109"/>
                  <a:pt x="86" y="113"/>
                  <a:pt x="73" y="106"/>
                </a:cubicBezTo>
                <a:cubicBezTo>
                  <a:pt x="68" y="114"/>
                  <a:pt x="68" y="114"/>
                  <a:pt x="68" y="114"/>
                </a:cubicBezTo>
                <a:close/>
                <a:moveTo>
                  <a:pt x="72" y="1"/>
                </a:moveTo>
                <a:cubicBezTo>
                  <a:pt x="67" y="9"/>
                  <a:pt x="67" y="9"/>
                  <a:pt x="67" y="9"/>
                </a:cubicBezTo>
                <a:cubicBezTo>
                  <a:pt x="53" y="2"/>
                  <a:pt x="36" y="6"/>
                  <a:pt x="28" y="19"/>
                </a:cubicBezTo>
                <a:cubicBezTo>
                  <a:pt x="24" y="24"/>
                  <a:pt x="23" y="30"/>
                  <a:pt x="23" y="35"/>
                </a:cubicBezTo>
                <a:cubicBezTo>
                  <a:pt x="27" y="37"/>
                  <a:pt x="27" y="37"/>
                  <a:pt x="27" y="37"/>
                </a:cubicBezTo>
                <a:cubicBezTo>
                  <a:pt x="28" y="34"/>
                  <a:pt x="29" y="32"/>
                  <a:pt x="30" y="30"/>
                </a:cubicBezTo>
                <a:cubicBezTo>
                  <a:pt x="36" y="21"/>
                  <a:pt x="48" y="18"/>
                  <a:pt x="58" y="23"/>
                </a:cubicBezTo>
                <a:cubicBezTo>
                  <a:pt x="51" y="32"/>
                  <a:pt x="51" y="32"/>
                  <a:pt x="51" y="32"/>
                </a:cubicBezTo>
                <a:cubicBezTo>
                  <a:pt x="83" y="29"/>
                  <a:pt x="83" y="29"/>
                  <a:pt x="83" y="29"/>
                </a:cubicBezTo>
                <a:lnTo>
                  <a:pt x="72" y="1"/>
                </a:lnTo>
                <a:close/>
              </a:path>
            </a:pathLst>
          </a:custGeom>
          <a:solidFill>
            <a:schemeClr val="accent1"/>
          </a:solidFill>
          <a:ln>
            <a:noFill/>
          </a:ln>
          <a:effectLst>
            <a:reflection blurRad="6350" stA="52000" endA="300" endPos="35000" dir="5400000" sy="-100000" algn="bl" rotWithShape="0"/>
          </a:effectLst>
        </p:spPr>
        <p:txBody>
          <a:bodyPr vert="horz" wrap="square" lIns="91440" tIns="45720" rIns="91440" bIns="45720" numCol="1" anchor="t" anchorCtr="0" compatLnSpc="1"/>
          <a:lstStyle/>
          <a:p>
            <a:pPr defTabSz="914400"/>
            <a:endParaRPr lang="zh-CN" altLang="en-US">
              <a:solidFill>
                <a:prstClr val="black"/>
              </a:solidFill>
              <a:latin typeface="微软雅黑" panose="020B0503020204020204" pitchFamily="34" charset="-122"/>
              <a:ea typeface="微软雅黑" panose="020B0503020204020204" pitchFamily="34" charset="-122"/>
            </a:endParaRPr>
          </a:p>
        </p:txBody>
      </p:sp>
      <p:sp>
        <p:nvSpPr>
          <p:cNvPr id="24" name="文本框 1167"/>
          <p:cNvSpPr txBox="1"/>
          <p:nvPr>
            <p:custDataLst>
              <p:tags r:id="rId8"/>
            </p:custDataLst>
          </p:nvPr>
        </p:nvSpPr>
        <p:spPr>
          <a:xfrm>
            <a:off x="1975485" y="1722120"/>
            <a:ext cx="2129790" cy="460375"/>
          </a:xfrm>
          <a:prstGeom prst="rect">
            <a:avLst/>
          </a:prstGeom>
          <a:noFill/>
        </p:spPr>
        <p:txBody>
          <a:bodyPr wrap="square" lIns="91440" tIns="45720" rIns="91440" bIns="45720" rtlCol="0">
            <a:spAutoFit/>
          </a:bodyPr>
          <a:lstStyle/>
          <a:p>
            <a:pPr defTabSz="914400"/>
            <a:r>
              <a:rPr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rPr>
              <a:t>文化平衡导向</a:t>
            </a:r>
            <a:endParaRPr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25" name="文本框 60"/>
          <p:cNvSpPr txBox="1"/>
          <p:nvPr>
            <p:custDataLst>
              <p:tags r:id="rId9"/>
            </p:custDataLst>
          </p:nvPr>
        </p:nvSpPr>
        <p:spPr>
          <a:xfrm>
            <a:off x="-90805" y="2258695"/>
            <a:ext cx="3921125" cy="1170305"/>
          </a:xfrm>
          <a:prstGeom prst="rect">
            <a:avLst/>
          </a:prstGeom>
          <a:noFill/>
        </p:spPr>
        <p:txBody>
          <a:bodyPr wrap="square" lIns="91440" tIns="45720" rIns="91440" bIns="45720" rtlCol="0">
            <a:spAutoFit/>
          </a:bodyPr>
          <a:lstStyle/>
          <a:p>
            <a:pPr algn="r" defTabSz="914400">
              <a:lnSpc>
                <a:spcPct val="130000"/>
              </a:lnSpc>
              <a:spcBef>
                <a:spcPts val="0"/>
              </a:spcBef>
              <a:spcAft>
                <a:spcPts val="0"/>
              </a:spcAft>
            </a:pPr>
            <a:r>
              <a:rPr lang="zh-CN" altLang="en-US" dirty="0">
                <a:solidFill>
                  <a:prstClr val="black">
                    <a:lumMod val="95000"/>
                    <a:lumOff val="5000"/>
                  </a:prstClr>
                </a:solidFill>
                <a:latin typeface="微软雅黑" panose="020B0503020204020204" pitchFamily="34" charset="-122"/>
                <a:ea typeface="微软雅黑" panose="020B0503020204020204" pitchFamily="34" charset="-122"/>
              </a:rPr>
              <a:t>在保留小众文化独特性的同时提升大众传播接受度，实现技术赋能与文化平等的平衡。</a:t>
            </a:r>
            <a:endParaRPr lang="zh-CN" altLang="en-US"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26" name="文本框 61"/>
          <p:cNvSpPr txBox="1"/>
          <p:nvPr>
            <p:custDataLst>
              <p:tags r:id="rId10"/>
            </p:custDataLst>
          </p:nvPr>
        </p:nvSpPr>
        <p:spPr>
          <a:xfrm>
            <a:off x="1889760" y="4744085"/>
            <a:ext cx="2018665" cy="460375"/>
          </a:xfrm>
          <a:prstGeom prst="rect">
            <a:avLst/>
          </a:prstGeom>
          <a:noFill/>
        </p:spPr>
        <p:txBody>
          <a:bodyPr wrap="square" lIns="91440" tIns="45720" rIns="91440" bIns="45720" rtlCol="0">
            <a:spAutoFit/>
          </a:bodyPr>
          <a:lstStyle/>
          <a:p>
            <a:pPr defTabSz="914400"/>
            <a:r>
              <a:rPr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rPr>
              <a:t>理论实践融合</a:t>
            </a:r>
            <a:endParaRPr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28" name="文本框 63"/>
          <p:cNvSpPr txBox="1"/>
          <p:nvPr>
            <p:custDataLst>
              <p:tags r:id="rId11"/>
            </p:custDataLst>
          </p:nvPr>
        </p:nvSpPr>
        <p:spPr>
          <a:xfrm>
            <a:off x="8705850" y="4521835"/>
            <a:ext cx="2513330" cy="460375"/>
          </a:xfrm>
          <a:prstGeom prst="rect">
            <a:avLst/>
          </a:prstGeom>
          <a:noFill/>
        </p:spPr>
        <p:txBody>
          <a:bodyPr wrap="square" lIns="91440" tIns="45720" rIns="91440" bIns="45720" rtlCol="0">
            <a:spAutoFit/>
          </a:bodyPr>
          <a:lstStyle/>
          <a:p>
            <a:pPr defTabSz="914400"/>
            <a:r>
              <a:rPr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rPr>
              <a:t>技术可行性强</a:t>
            </a:r>
            <a:endParaRPr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29" name="文本框 64"/>
          <p:cNvSpPr txBox="1"/>
          <p:nvPr>
            <p:custDataLst>
              <p:tags r:id="rId12"/>
            </p:custDataLst>
          </p:nvPr>
        </p:nvSpPr>
        <p:spPr>
          <a:xfrm>
            <a:off x="7736840" y="5104130"/>
            <a:ext cx="4244975" cy="922020"/>
          </a:xfrm>
          <a:prstGeom prst="rect">
            <a:avLst/>
          </a:prstGeom>
          <a:noFill/>
        </p:spPr>
        <p:txBody>
          <a:bodyPr wrap="square" lIns="91440" tIns="45720" rIns="91440" bIns="45720" rtlCol="0">
            <a:spAutoFit/>
          </a:bodyPr>
          <a:lstStyle/>
          <a:p>
            <a:pPr defTabSz="914400">
              <a:lnSpc>
                <a:spcPct val="150000"/>
              </a:lnSpc>
            </a:pPr>
            <a:r>
              <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rPr>
              <a:t>兼顾专业性与实用性，</a:t>
            </a:r>
            <a:endPar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endParaRPr>
          </a:p>
          <a:p>
            <a:pPr defTabSz="914400">
              <a:lnSpc>
                <a:spcPct val="150000"/>
              </a:lnSpc>
            </a:pPr>
            <a:r>
              <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rPr>
              <a:t>针对不同用户需求进行参数微调。</a:t>
            </a:r>
            <a:endPar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30" name="文本框 65"/>
          <p:cNvSpPr txBox="1"/>
          <p:nvPr>
            <p:custDataLst>
              <p:tags r:id="rId13"/>
            </p:custDataLst>
          </p:nvPr>
        </p:nvSpPr>
        <p:spPr>
          <a:xfrm>
            <a:off x="9598415" y="1669954"/>
            <a:ext cx="1810703" cy="460375"/>
          </a:xfrm>
          <a:prstGeom prst="rect">
            <a:avLst/>
          </a:prstGeom>
          <a:noFill/>
        </p:spPr>
        <p:txBody>
          <a:bodyPr wrap="square" lIns="91440" tIns="45720" rIns="91440" bIns="45720" rtlCol="0">
            <a:spAutoFit/>
          </a:bodyPr>
          <a:lstStyle/>
          <a:p>
            <a:pPr defTabSz="914400"/>
            <a:r>
              <a:rPr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rPr>
              <a:t>现实意义</a:t>
            </a:r>
            <a:endParaRPr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31" name="文本框 66"/>
          <p:cNvSpPr txBox="1"/>
          <p:nvPr>
            <p:custDataLst>
              <p:tags r:id="rId14"/>
            </p:custDataLst>
          </p:nvPr>
        </p:nvSpPr>
        <p:spPr>
          <a:xfrm>
            <a:off x="8101965" y="2130425"/>
            <a:ext cx="3702685" cy="1337945"/>
          </a:xfrm>
          <a:prstGeom prst="rect">
            <a:avLst/>
          </a:prstGeom>
          <a:noFill/>
        </p:spPr>
        <p:txBody>
          <a:bodyPr wrap="square" lIns="91440" tIns="45720" rIns="91440" bIns="45720" rtlCol="0">
            <a:spAutoFit/>
          </a:bodyPr>
          <a:lstStyle/>
          <a:p>
            <a:pPr defTabSz="914400">
              <a:lnSpc>
                <a:spcPct val="150000"/>
              </a:lnSpc>
            </a:pPr>
            <a:r>
              <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rPr>
              <a:t>助力文化平等传播，打破高质量诗歌转写的技术门槛。</a:t>
            </a:r>
            <a:endPar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endParaRPr>
          </a:p>
          <a:p>
            <a:pPr defTabSz="914400">
              <a:lnSpc>
                <a:spcPct val="150000"/>
              </a:lnSpc>
            </a:pPr>
            <a:r>
              <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rPr>
              <a:t>具有多场景应用潜力。</a:t>
            </a:r>
            <a:endPar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46"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grpSp>
        <p:nvGrpSpPr>
          <p:cNvPr id="48" name="组合 7"/>
          <p:cNvGrpSpPr/>
          <p:nvPr/>
        </p:nvGrpSpPr>
        <p:grpSpPr bwMode="auto">
          <a:xfrm>
            <a:off x="1826685" y="141817"/>
            <a:ext cx="1773767" cy="601895"/>
            <a:chOff x="0" y="0"/>
            <a:chExt cx="1329556" cy="451276"/>
          </a:xfrm>
        </p:grpSpPr>
        <p:sp>
          <p:nvSpPr>
            <p:cNvPr id="49"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50"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51" name="TextBox 16">
            <a:hlinkHover r:id="rId15"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2" name="TextBox 17">
            <a:hlinkClick r:id="" action="ppaction://hlinkshowjump?jump=nextslide"/>
            <a:hlinkHover r:id="rId15"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5" name="矩形 20"/>
          <p:cNvSpPr>
            <a:spLocks noChangeArrowheads="1"/>
          </p:cNvSpPr>
          <p:nvPr/>
        </p:nvSpPr>
        <p:spPr bwMode="auto">
          <a:xfrm>
            <a:off x="7015480" y="-1905"/>
            <a:ext cx="2372995" cy="800100"/>
          </a:xfrm>
          <a:prstGeom prst="rect">
            <a:avLst/>
          </a:prstGeom>
          <a:solidFill>
            <a:srgbClr val="0070C0"/>
          </a:solidFill>
          <a:ln w="12700" cap="flat" cmpd="sng">
            <a:noFill/>
            <a:bevel/>
          </a:ln>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95" name="TextBox 18">
            <a:hlinkHover r:id="rId15"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6" name="TextBox 19">
            <a:hlinkHover r:id="rId15"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7"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98"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99"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100" name="图片 99"/>
          <p:cNvPicPr>
            <a:picLocks noChangeAspect="1"/>
          </p:cNvPicPr>
          <p:nvPr/>
        </p:nvPicPr>
        <p:blipFill>
          <a:blip r:embed="rId16">
            <a:lum bright="70000" contrast="-70000"/>
            <a:extLst>
              <a:ext uri="{BEBA8EAE-BF5A-486C-A8C5-ECC9F3942E4B}">
                <a14:imgProps xmlns:a14="http://schemas.microsoft.com/office/drawing/2010/main">
                  <a14:imgLayer r:embed="rId17">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grpSp>
        <p:nvGrpSpPr>
          <p:cNvPr id="134" name="组合 133"/>
          <p:cNvGrpSpPr/>
          <p:nvPr/>
        </p:nvGrpSpPr>
        <p:grpSpPr>
          <a:xfrm>
            <a:off x="3714836" y="1382422"/>
            <a:ext cx="4218563" cy="4438716"/>
            <a:chOff x="1246" y="2376"/>
            <a:chExt cx="6643" cy="6990"/>
          </a:xfrm>
        </p:grpSpPr>
        <p:grpSp>
          <p:nvGrpSpPr>
            <p:cNvPr id="108" name="网线"/>
            <p:cNvGrpSpPr/>
            <p:nvPr/>
          </p:nvGrpSpPr>
          <p:grpSpPr bwMode="auto">
            <a:xfrm>
              <a:off x="1246" y="2376"/>
              <a:ext cx="6643" cy="6990"/>
              <a:chOff x="1937437" y="1332541"/>
              <a:chExt cx="3986578" cy="4192919"/>
            </a:xfrm>
          </p:grpSpPr>
          <p:sp>
            <p:nvSpPr>
              <p:cNvPr id="109" name="Line 16"/>
              <p:cNvSpPr>
                <a:spLocks noChangeShapeType="1"/>
              </p:cNvSpPr>
              <p:nvPr/>
            </p:nvSpPr>
            <p:spPr bwMode="gray">
              <a:xfrm>
                <a:off x="1937437" y="3430588"/>
                <a:ext cx="3986578" cy="0"/>
              </a:xfrm>
              <a:prstGeom prst="line">
                <a:avLst/>
              </a:prstGeom>
              <a:noFill/>
              <a:ln w="28575">
                <a:solidFill>
                  <a:srgbClr val="808080">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sp>
            <p:nvSpPr>
              <p:cNvPr id="110" name="Line 17"/>
              <p:cNvSpPr>
                <a:spLocks noChangeShapeType="1"/>
              </p:cNvSpPr>
              <p:nvPr/>
            </p:nvSpPr>
            <p:spPr bwMode="gray">
              <a:xfrm>
                <a:off x="3931520" y="1332541"/>
                <a:ext cx="0" cy="4192919"/>
              </a:xfrm>
              <a:prstGeom prst="line">
                <a:avLst/>
              </a:prstGeom>
              <a:noFill/>
              <a:ln w="28575">
                <a:solidFill>
                  <a:srgbClr val="808080">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sp>
            <p:nvSpPr>
              <p:cNvPr id="111" name="Oval 10"/>
              <p:cNvSpPr>
                <a:spLocks noChangeArrowheads="1"/>
              </p:cNvSpPr>
              <p:nvPr/>
            </p:nvSpPr>
            <p:spPr bwMode="gray">
              <a:xfrm>
                <a:off x="2332760" y="1808648"/>
                <a:ext cx="3192756" cy="3216899"/>
              </a:xfrm>
              <a:prstGeom prst="ellipse">
                <a:avLst/>
              </a:prstGeom>
              <a:noFill/>
              <a:ln w="9525">
                <a:solidFill>
                  <a:srgbClr val="B2B2B2">
                    <a:alpha val="50000"/>
                  </a:srgbClr>
                </a:solidFill>
                <a:round/>
              </a:ln>
              <a:effectLst/>
              <a:extLst>
                <a:ext uri="{909E8E84-426E-40DD-AFC4-6F175D3DCCD1}">
                  <a14:hiddenFill xmlns:a14="http://schemas.microsoft.com/office/drawing/2010/main">
                    <a:solidFill>
                      <a:schemeClr val="accent1">
                        <a:alpha val="64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sp>
            <p:nvSpPr>
              <p:cNvPr id="112" name="Oval 15"/>
              <p:cNvSpPr>
                <a:spLocks noChangeArrowheads="1"/>
              </p:cNvSpPr>
              <p:nvPr/>
            </p:nvSpPr>
            <p:spPr bwMode="auto">
              <a:xfrm>
                <a:off x="2135892" y="1600749"/>
                <a:ext cx="3608719" cy="3643808"/>
              </a:xfrm>
              <a:prstGeom prst="ellipse">
                <a:avLst/>
              </a:prstGeom>
              <a:noFill/>
              <a:ln w="19050">
                <a:solidFill>
                  <a:srgbClr val="B2B2B2">
                    <a:alpha val="50000"/>
                  </a:srgb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grpSp>
        <p:grpSp>
          <p:nvGrpSpPr>
            <p:cNvPr id="113" name="标题"/>
            <p:cNvGrpSpPr/>
            <p:nvPr/>
          </p:nvGrpSpPr>
          <p:grpSpPr bwMode="auto">
            <a:xfrm>
              <a:off x="2330" y="3636"/>
              <a:ext cx="4447" cy="4536"/>
              <a:chOff x="579" y="1589"/>
              <a:chExt cx="1358" cy="1358"/>
            </a:xfrm>
            <a:solidFill>
              <a:srgbClr val="0070C0"/>
            </a:solidFill>
          </p:grpSpPr>
          <p:sp>
            <p:nvSpPr>
              <p:cNvPr id="114" name="Oval 12"/>
              <p:cNvSpPr>
                <a:spLocks noChangeArrowheads="1"/>
              </p:cNvSpPr>
              <p:nvPr/>
            </p:nvSpPr>
            <p:spPr bwMode="gray">
              <a:xfrm>
                <a:off x="579" y="1589"/>
                <a:ext cx="1358" cy="1358"/>
              </a:xfrm>
              <a:prstGeom prst="ellipse">
                <a:avLst/>
              </a:prstGeom>
              <a:grpFill/>
              <a:ln w="38100">
                <a:solidFill>
                  <a:srgbClr val="F8F8F8"/>
                </a:solidFill>
                <a:round/>
              </a:ln>
              <a:effec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sp>
            <p:nvSpPr>
              <p:cNvPr id="115" name="Oval 13"/>
              <p:cNvSpPr>
                <a:spLocks noChangeArrowheads="1"/>
              </p:cNvSpPr>
              <p:nvPr/>
            </p:nvSpPr>
            <p:spPr bwMode="gray">
              <a:xfrm>
                <a:off x="635" y="1642"/>
                <a:ext cx="1245" cy="1246"/>
              </a:xfrm>
              <a:prstGeom prst="ellipse">
                <a:avLst/>
              </a:prstGeom>
              <a:grpFill/>
              <a:ln>
                <a:noFill/>
              </a:ln>
              <a:effectLst>
                <a:outerShdw algn="ctr" rotWithShape="0">
                  <a:srgbClr val="000000">
                    <a:alpha val="50000"/>
                  </a:srgbClr>
                </a:outerShdw>
              </a:effectLst>
              <a:extLst>
                <a:ext uri="{91240B29-F687-4F45-9708-019B960494DF}">
                  <a14:hiddenLine xmlns:a14="http://schemas.microsoft.com/office/drawing/2010/main" w="9525">
                    <a:solidFill>
                      <a:srgbClr val="DDDDDD"/>
                    </a:solidFill>
                    <a:round/>
                  </a14:hiddenLine>
                </a:ext>
              </a:ex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sp>
            <p:nvSpPr>
              <p:cNvPr id="116" name="Oval 14"/>
              <p:cNvSpPr>
                <a:spLocks noChangeArrowheads="1"/>
              </p:cNvSpPr>
              <p:nvPr/>
            </p:nvSpPr>
            <p:spPr bwMode="gray">
              <a:xfrm>
                <a:off x="865" y="1880"/>
                <a:ext cx="797" cy="798"/>
              </a:xfrm>
              <a:prstGeom prst="ellipse">
                <a:avLst/>
              </a:prstGeom>
              <a:grpFill/>
              <a:ln>
                <a:noFill/>
              </a:ln>
              <a:effectLst/>
              <a:extLst>
                <a:ext uri="{91240B29-F687-4F45-9708-019B960494DF}">
                  <a14:hiddenLine xmlns:a14="http://schemas.microsoft.com/office/drawing/2010/main" w="9525">
                    <a:solidFill>
                      <a:srgbClr val="B2B2B2"/>
                    </a:solidFill>
                    <a:round/>
                  </a14:hiddenLine>
                </a:ext>
                <a:ext uri="{AF507438-7753-43E0-B8FC-AC1667EBCBE1}">
                  <a14:hiddenEffects xmlns:a14="http://schemas.microsoft.com/office/drawing/2010/main">
                    <a:effectLst>
                      <a:outerShdw dist="17961" dir="2700000" algn="ctr" rotWithShape="0">
                        <a:srgbClr val="000000">
                          <a:alpha val="50000"/>
                        </a:srgbClr>
                      </a:outerShdw>
                    </a:effectLst>
                  </a14:hiddenEffects>
                </a:ext>
              </a:extLst>
            </p:spPr>
            <p:txBody>
              <a:bodyPr wrap="none" anchor="ctr"/>
              <a:lstStyle/>
              <a:p>
                <a:pPr algn="ctr" defTabSz="914400">
                  <a:defRPr/>
                </a:pPr>
                <a:r>
                  <a:rPr lang="zh-CN" altLang="en-US" sz="3200" b="1" kern="0" dirty="0">
                    <a:solidFill>
                      <a:srgbClr val="FFFFFF"/>
                    </a:solidFill>
                    <a:latin typeface="Arial" panose="020B0604020202020204" pitchFamily="34" charset="0"/>
                    <a:ea typeface="微软雅黑" panose="020B0503020204020204" pitchFamily="34" charset="-122"/>
                  </a:rPr>
                  <a:t>项目特色</a:t>
                </a:r>
                <a:endParaRPr lang="zh-CN" altLang="en-US" sz="3200" b="1" kern="0" dirty="0">
                  <a:solidFill>
                    <a:srgbClr val="FFFFFF"/>
                  </a:solidFill>
                  <a:latin typeface="Arial" panose="020B0604020202020204" pitchFamily="34" charset="0"/>
                  <a:ea typeface="微软雅黑" panose="020B0503020204020204" pitchFamily="34" charset="-122"/>
                </a:endParaRPr>
              </a:p>
            </p:txBody>
          </p:sp>
        </p:grpSp>
        <p:sp>
          <p:nvSpPr>
            <p:cNvPr id="132" name="Oval 37"/>
            <p:cNvSpPr>
              <a:spLocks noChangeArrowheads="1"/>
            </p:cNvSpPr>
            <p:nvPr/>
          </p:nvSpPr>
          <p:spPr bwMode="gray">
            <a:xfrm>
              <a:off x="5776" y="8237"/>
              <a:ext cx="635" cy="635"/>
            </a:xfrm>
            <a:prstGeom prst="ellipse">
              <a:avLst/>
            </a:prstGeom>
            <a:solidFill>
              <a:srgbClr val="0070C0"/>
            </a:solidFill>
            <a:ln w="12700">
              <a:solidFill>
                <a:srgbClr val="F8F8F8"/>
              </a:solidFill>
              <a:round/>
            </a:ln>
            <a:effectLst>
              <a:outerShdw dist="35921" dir="2700000" algn="ctr" rotWithShape="0">
                <a:srgbClr val="1C1C1C">
                  <a:alpha val="50000"/>
                </a:srgbClr>
              </a:outerShdw>
            </a:effec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grpSp>
      <p:grpSp>
        <p:nvGrpSpPr>
          <p:cNvPr id="135" name="圆圈1"/>
          <p:cNvGrpSpPr/>
          <p:nvPr/>
        </p:nvGrpSpPr>
        <p:grpSpPr bwMode="auto">
          <a:xfrm>
            <a:off x="3701989" y="3099147"/>
            <a:ext cx="403420" cy="403399"/>
            <a:chOff x="2928" y="2208"/>
            <a:chExt cx="262" cy="262"/>
          </a:xfrm>
          <a:solidFill>
            <a:srgbClr val="0070C0"/>
          </a:solidFill>
        </p:grpSpPr>
        <p:sp>
          <p:nvSpPr>
            <p:cNvPr id="136" name="Oval 19"/>
            <p:cNvSpPr>
              <a:spLocks noChangeArrowheads="1"/>
            </p:cNvSpPr>
            <p:nvPr/>
          </p:nvSpPr>
          <p:spPr bwMode="gray">
            <a:xfrm>
              <a:off x="2928" y="2208"/>
              <a:ext cx="262" cy="262"/>
            </a:xfrm>
            <a:prstGeom prst="ellipse">
              <a:avLst/>
            </a:prstGeom>
            <a:grpFill/>
            <a:ln w="12700">
              <a:solidFill>
                <a:srgbClr val="F8F8F8"/>
              </a:solidFill>
              <a:round/>
            </a:ln>
            <a:effectLst>
              <a:outerShdw dist="35921" dir="2700000" algn="ctr" rotWithShape="0">
                <a:srgbClr val="1C1C1C">
                  <a:alpha val="50000"/>
                </a:srgbClr>
              </a:outerShdw>
            </a:effec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sp>
          <p:nvSpPr>
            <p:cNvPr id="137" name="Oval 20"/>
            <p:cNvSpPr>
              <a:spLocks noChangeArrowheads="1"/>
            </p:cNvSpPr>
            <p:nvPr/>
          </p:nvSpPr>
          <p:spPr bwMode="gray">
            <a:xfrm>
              <a:off x="2953" y="2230"/>
              <a:ext cx="219" cy="218"/>
            </a:xfrm>
            <a:prstGeom prst="ellipse">
              <a:avLst/>
            </a:prstGeom>
            <a:grpFill/>
            <a:ln>
              <a:noFill/>
            </a:ln>
            <a:effectLst/>
            <a:extLst>
              <a:ext uri="{91240B29-F687-4F45-9708-019B960494DF}">
                <a14:hiddenLine xmlns:a14="http://schemas.microsoft.com/office/drawing/2010/main" w="12700">
                  <a:solidFill>
                    <a:srgbClr val="DDDDDD"/>
                  </a:solidFill>
                  <a:round/>
                </a14:hiddenLine>
              </a:ext>
              <a:ext uri="{AF507438-7753-43E0-B8FC-AC1667EBCBE1}">
                <a14:hiddenEffects xmlns:a14="http://schemas.microsoft.com/office/drawing/2010/main">
                  <a:effectLst>
                    <a:outerShdw dist="17961" dir="2700000" algn="ctr" rotWithShape="0">
                      <a:srgbClr val="000000">
                        <a:alpha val="50000"/>
                      </a:srgbClr>
                    </a:outerShdw>
                  </a:effectLst>
                </a14:hiddenEffects>
              </a:ext>
            </a:ex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grpSp>
      <p:grpSp>
        <p:nvGrpSpPr>
          <p:cNvPr id="138" name="圆圈2"/>
          <p:cNvGrpSpPr/>
          <p:nvPr/>
        </p:nvGrpSpPr>
        <p:grpSpPr bwMode="auto">
          <a:xfrm>
            <a:off x="6981759" y="1989196"/>
            <a:ext cx="403420" cy="403399"/>
            <a:chOff x="2928" y="2208"/>
            <a:chExt cx="262" cy="262"/>
          </a:xfrm>
          <a:solidFill>
            <a:schemeClr val="tx1">
              <a:lumMod val="85000"/>
              <a:lumOff val="15000"/>
            </a:schemeClr>
          </a:solidFill>
        </p:grpSpPr>
        <p:sp>
          <p:nvSpPr>
            <p:cNvPr id="139" name="Oval 28"/>
            <p:cNvSpPr>
              <a:spLocks noChangeArrowheads="1"/>
            </p:cNvSpPr>
            <p:nvPr/>
          </p:nvSpPr>
          <p:spPr bwMode="gray">
            <a:xfrm>
              <a:off x="2928" y="2208"/>
              <a:ext cx="262" cy="262"/>
            </a:xfrm>
            <a:prstGeom prst="ellipse">
              <a:avLst/>
            </a:prstGeom>
            <a:grpFill/>
            <a:ln w="12700">
              <a:solidFill>
                <a:srgbClr val="F8F8F8"/>
              </a:solidFill>
              <a:round/>
            </a:ln>
            <a:effectLst>
              <a:outerShdw dist="35921" dir="2700000" algn="ctr" rotWithShape="0">
                <a:srgbClr val="1C1C1C">
                  <a:alpha val="50000"/>
                </a:srgbClr>
              </a:outerShdw>
            </a:effec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sp>
          <p:nvSpPr>
            <p:cNvPr id="140" name="Oval 29"/>
            <p:cNvSpPr>
              <a:spLocks noChangeArrowheads="1"/>
            </p:cNvSpPr>
            <p:nvPr/>
          </p:nvSpPr>
          <p:spPr bwMode="gray">
            <a:xfrm>
              <a:off x="2950" y="2230"/>
              <a:ext cx="218" cy="218"/>
            </a:xfrm>
            <a:prstGeom prst="ellipse">
              <a:avLst/>
            </a:prstGeom>
            <a:grpFill/>
            <a:ln>
              <a:noFill/>
            </a:ln>
            <a:effectLst/>
            <a:extLst>
              <a:ext uri="{91240B29-F687-4F45-9708-019B960494DF}">
                <a14:hiddenLine xmlns:a14="http://schemas.microsoft.com/office/drawing/2010/main" w="12700">
                  <a:solidFill>
                    <a:srgbClr val="DDDDDD"/>
                  </a:solidFill>
                  <a:round/>
                </a14:hiddenLine>
              </a:ext>
              <a:ext uri="{AF507438-7753-43E0-B8FC-AC1667EBCBE1}">
                <a14:hiddenEffects xmlns:a14="http://schemas.microsoft.com/office/drawing/2010/main">
                  <a:effectLst>
                    <a:outerShdw dist="17961" dir="2700000" algn="ctr" rotWithShape="0">
                      <a:srgbClr val="000000">
                        <a:alpha val="50000"/>
                      </a:srgbClr>
                    </a:outerShdw>
                  </a:effectLst>
                </a14:hiddenEffects>
              </a:ext>
            </a:ex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grpSp>
      <p:grpSp>
        <p:nvGrpSpPr>
          <p:cNvPr id="141" name="圆圈2"/>
          <p:cNvGrpSpPr/>
          <p:nvPr/>
        </p:nvGrpSpPr>
        <p:grpSpPr bwMode="auto">
          <a:xfrm>
            <a:off x="4715444" y="5070216"/>
            <a:ext cx="403420" cy="403399"/>
            <a:chOff x="2928" y="2208"/>
            <a:chExt cx="262" cy="262"/>
          </a:xfrm>
          <a:solidFill>
            <a:schemeClr val="tx1">
              <a:lumMod val="85000"/>
              <a:lumOff val="15000"/>
            </a:schemeClr>
          </a:solidFill>
        </p:grpSpPr>
        <p:sp>
          <p:nvSpPr>
            <p:cNvPr id="142" name="Oval 28"/>
            <p:cNvSpPr>
              <a:spLocks noChangeArrowheads="1"/>
            </p:cNvSpPr>
            <p:nvPr/>
          </p:nvSpPr>
          <p:spPr bwMode="gray">
            <a:xfrm>
              <a:off x="2928" y="2208"/>
              <a:ext cx="262" cy="262"/>
            </a:xfrm>
            <a:prstGeom prst="ellipse">
              <a:avLst/>
            </a:prstGeom>
            <a:grpFill/>
            <a:ln w="12700">
              <a:solidFill>
                <a:srgbClr val="F8F8F8"/>
              </a:solidFill>
              <a:round/>
            </a:ln>
            <a:effectLst>
              <a:outerShdw dist="35921" dir="2700000" algn="ctr" rotWithShape="0">
                <a:srgbClr val="1C1C1C">
                  <a:alpha val="50000"/>
                </a:srgbClr>
              </a:outerShdw>
            </a:effec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sp>
          <p:nvSpPr>
            <p:cNvPr id="143" name="Oval 29"/>
            <p:cNvSpPr>
              <a:spLocks noChangeArrowheads="1"/>
            </p:cNvSpPr>
            <p:nvPr/>
          </p:nvSpPr>
          <p:spPr bwMode="gray">
            <a:xfrm>
              <a:off x="2950" y="2230"/>
              <a:ext cx="218" cy="218"/>
            </a:xfrm>
            <a:prstGeom prst="ellipse">
              <a:avLst/>
            </a:prstGeom>
            <a:grpFill/>
            <a:ln>
              <a:noFill/>
            </a:ln>
            <a:effectLst/>
            <a:extLst>
              <a:ext uri="{91240B29-F687-4F45-9708-019B960494DF}">
                <a14:hiddenLine xmlns:a14="http://schemas.microsoft.com/office/drawing/2010/main" w="12700">
                  <a:solidFill>
                    <a:srgbClr val="DDDDDD"/>
                  </a:solidFill>
                  <a:round/>
                </a14:hiddenLine>
              </a:ext>
              <a:ext uri="{AF507438-7753-43E0-B8FC-AC1667EBCBE1}">
                <a14:hiddenEffects xmlns:a14="http://schemas.microsoft.com/office/drawing/2010/main">
                  <a:effectLst>
                    <a:outerShdw dist="17961" dir="2700000" algn="ctr" rotWithShape="0">
                      <a:srgbClr val="000000">
                        <a:alpha val="50000"/>
                      </a:srgbClr>
                    </a:outerShdw>
                  </a:effectLst>
                </a14:hiddenEffects>
              </a:ext>
            </a:extLst>
          </p:spPr>
          <p:txBody>
            <a:bodyPr wrap="none" anchor="ctr"/>
            <a:lstStyle/>
            <a:p>
              <a:pPr defTabSz="914400">
                <a:defRPr/>
              </a:pPr>
              <a:endParaRPr lang="zh-CN" altLang="en-US" sz="1865" kern="0" dirty="0">
                <a:solidFill>
                  <a:sysClr val="windowText" lastClr="000000"/>
                </a:solidFill>
                <a:latin typeface="Arial" panose="020B0604020202020204" pitchFamily="34" charset="0"/>
                <a:ea typeface="微软雅黑" panose="020B0503020204020204" pitchFamily="34" charset="-122"/>
              </a:endParaRPr>
            </a:p>
          </p:txBody>
        </p:sp>
      </p:grpSp>
      <p:sp>
        <p:nvSpPr>
          <p:cNvPr id="144" name="任意多边形 143"/>
          <p:cNvSpPr/>
          <p:nvPr>
            <p:custDataLst>
              <p:tags r:id="rId18"/>
            </p:custDataLst>
          </p:nvPr>
        </p:nvSpPr>
        <p:spPr>
          <a:xfrm>
            <a:off x="1826895" y="5343525"/>
            <a:ext cx="3170555" cy="1076325"/>
          </a:xfrm>
          <a:custGeom>
            <a:avLst/>
            <a:gdLst>
              <a:gd name="connsiteX0" fmla="*/ 1752600 w 1752600"/>
              <a:gd name="connsiteY0" fmla="*/ 0 h 495300"/>
              <a:gd name="connsiteX1" fmla="*/ 1314450 w 1752600"/>
              <a:gd name="connsiteY1" fmla="*/ 438150 h 495300"/>
              <a:gd name="connsiteX2" fmla="*/ 0 w 1752600"/>
              <a:gd name="connsiteY2" fmla="*/ 438150 h 495300"/>
              <a:gd name="connsiteX3" fmla="*/ 0 w 1752600"/>
              <a:gd name="connsiteY3" fmla="*/ 495300 h 495300"/>
              <a:gd name="connsiteX0-1" fmla="*/ 1752600 w 1752600"/>
              <a:gd name="connsiteY0-2" fmla="*/ 0 h 438150"/>
              <a:gd name="connsiteX1-3" fmla="*/ 1314450 w 1752600"/>
              <a:gd name="connsiteY1-4" fmla="*/ 438150 h 438150"/>
              <a:gd name="connsiteX2-5" fmla="*/ 0 w 1752600"/>
              <a:gd name="connsiteY2-6" fmla="*/ 438150 h 438150"/>
              <a:gd name="connsiteX0-7" fmla="*/ 1981200 w 1981200"/>
              <a:gd name="connsiteY0-8" fmla="*/ 0 h 438150"/>
              <a:gd name="connsiteX1-9" fmla="*/ 1543050 w 1981200"/>
              <a:gd name="connsiteY1-10" fmla="*/ 438150 h 438150"/>
              <a:gd name="connsiteX2-11" fmla="*/ 0 w 1981200"/>
              <a:gd name="connsiteY2-12" fmla="*/ 438150 h 438150"/>
              <a:gd name="connsiteX0-13" fmla="*/ 1935480 w 1935480"/>
              <a:gd name="connsiteY0-14" fmla="*/ 0 h 392430"/>
              <a:gd name="connsiteX1-15" fmla="*/ 1543050 w 1935480"/>
              <a:gd name="connsiteY1-16" fmla="*/ 392430 h 392430"/>
              <a:gd name="connsiteX2-17" fmla="*/ 0 w 1935480"/>
              <a:gd name="connsiteY2-18" fmla="*/ 392430 h 392430"/>
            </a:gdLst>
            <a:ahLst/>
            <a:cxnLst>
              <a:cxn ang="0">
                <a:pos x="connsiteX0-1" y="connsiteY0-2"/>
              </a:cxn>
              <a:cxn ang="0">
                <a:pos x="connsiteX1-3" y="connsiteY1-4"/>
              </a:cxn>
              <a:cxn ang="0">
                <a:pos x="connsiteX2-5" y="connsiteY2-6"/>
              </a:cxn>
            </a:cxnLst>
            <a:rect l="l" t="t" r="r" b="b"/>
            <a:pathLst>
              <a:path w="1935480" h="392430">
                <a:moveTo>
                  <a:pt x="1935480" y="0"/>
                </a:moveTo>
                <a:lnTo>
                  <a:pt x="1543050" y="392430"/>
                </a:lnTo>
                <a:lnTo>
                  <a:pt x="0" y="392430"/>
                </a:lnTo>
              </a:path>
            </a:pathLst>
          </a:custGeom>
          <a:gradFill rotWithShape="0">
            <a:gsLst>
              <a:gs pos="0">
                <a:schemeClr val="accent1">
                  <a:lumMod val="5000"/>
                  <a:lumOff val="95000"/>
                </a:schemeClr>
              </a:gs>
              <a:gs pos="63000">
                <a:schemeClr val="bg1">
                  <a:lumMod val="95000"/>
                </a:schemeClr>
              </a:gs>
              <a:gs pos="100000">
                <a:schemeClr val="bg1">
                  <a:lumMod val="85000"/>
                </a:schemeClr>
              </a:gs>
            </a:gsLst>
            <a:path path="circle">
              <a:fillToRect l="50000" t="50000" r="50000" b="50000"/>
            </a:path>
            <a:tileRect l="-116602" t="-43714" r="-116602" b="-43714"/>
          </a:gradFill>
          <a:ln w="15875" cap="rnd">
            <a:solidFill>
              <a:srgbClr val="0070C0"/>
            </a:solidFill>
            <a:prstDash val="sys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a:solidFill>
                <a:prstClr val="white"/>
              </a:solidFill>
              <a:latin typeface="微软雅黑" panose="020B0503020204020204" pitchFamily="34" charset="-122"/>
              <a:ea typeface="微软雅黑" panose="020B0503020204020204" pitchFamily="34" charset="-122"/>
            </a:endParaRPr>
          </a:p>
        </p:txBody>
      </p:sp>
      <p:sp>
        <p:nvSpPr>
          <p:cNvPr id="27" name="文本框 62"/>
          <p:cNvSpPr txBox="1"/>
          <p:nvPr>
            <p:custDataLst>
              <p:tags r:id="rId19"/>
            </p:custDataLst>
          </p:nvPr>
        </p:nvSpPr>
        <p:spPr>
          <a:xfrm>
            <a:off x="206375" y="5204460"/>
            <a:ext cx="4212590" cy="922020"/>
          </a:xfrm>
          <a:prstGeom prst="rect">
            <a:avLst/>
          </a:prstGeom>
          <a:noFill/>
        </p:spPr>
        <p:txBody>
          <a:bodyPr wrap="square" lIns="91440" tIns="45720" rIns="91440" bIns="45720" rtlCol="0">
            <a:spAutoFit/>
          </a:bodyPr>
          <a:lstStyle/>
          <a:p>
            <a:pPr algn="r" defTabSz="914400">
              <a:lnSpc>
                <a:spcPct val="150000"/>
              </a:lnSpc>
            </a:pPr>
            <a:r>
              <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rPr>
              <a:t>系统整合翻译三大派别的核心主张，实现文学理论与人工智能技术的深度融合。</a:t>
            </a:r>
            <a:endPar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166" name="直接连接符 27"/>
          <p:cNvSpPr>
            <a:spLocks noChangeShapeType="1"/>
          </p:cNvSpPr>
          <p:nvPr/>
        </p:nvSpPr>
        <p:spPr bwMode="auto">
          <a:xfrm>
            <a:off x="4605655"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9392495" y="-2433"/>
            <a:ext cx="2589319" cy="800100"/>
          </a:xfrm>
          <a:prstGeom prst="rect">
            <a:avLst/>
          </a:prstGeom>
          <a:solidFill>
            <a:srgbClr val="0070C0"/>
          </a:solidFill>
          <a:ln w="12700" cap="flat" cmpd="sng">
            <a:noFill/>
            <a:bevel/>
          </a:ln>
        </p:spPr>
        <p:txBody>
          <a:bodyPr anchor="ctr"/>
          <a:lstStyle/>
          <a:p>
            <a:pPr algn="ctr" defTabSz="914400"/>
            <a:endParaRPr lang="zh-CN" altLang="zh-CN" dirty="0">
              <a:solidFill>
                <a:srgbClr val="FFFFFF"/>
              </a:solidFill>
              <a:highlight>
                <a:srgbClr val="FFFF00"/>
              </a:highlight>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grpSp>
        <p:nvGrpSpPr>
          <p:cNvPr id="2" name="组合 1"/>
          <p:cNvGrpSpPr/>
          <p:nvPr/>
        </p:nvGrpSpPr>
        <p:grpSpPr>
          <a:xfrm>
            <a:off x="661923" y="1850111"/>
            <a:ext cx="3108036" cy="4608129"/>
            <a:chOff x="1474030" y="1802903"/>
            <a:chExt cx="2935782" cy="4314618"/>
          </a:xfrm>
        </p:grpSpPr>
        <p:sp>
          <p:nvSpPr>
            <p:cNvPr id="9" name="Rectangle 24"/>
            <p:cNvSpPr>
              <a:spLocks noChangeArrowheads="1"/>
            </p:cNvSpPr>
            <p:nvPr/>
          </p:nvSpPr>
          <p:spPr bwMode="auto">
            <a:xfrm>
              <a:off x="1474030" y="1806772"/>
              <a:ext cx="2935782" cy="4310749"/>
            </a:xfrm>
            <a:prstGeom prst="rect">
              <a:avLst/>
            </a:prstGeom>
            <a:solidFill>
              <a:schemeClr val="bg1"/>
            </a:solidFill>
            <a:ln>
              <a:solidFill>
                <a:srgbClr val="7030A0"/>
              </a:solidFill>
            </a:ln>
            <a:effectLst>
              <a:innerShdw blurRad="76200">
                <a:prstClr val="black"/>
              </a:innerShdw>
            </a:effectLst>
          </p:spPr>
          <p:txBody>
            <a:bodyPr/>
            <a:lstStyle/>
            <a:p>
              <a:pPr>
                <a:lnSpc>
                  <a:spcPct val="120000"/>
                </a:lnSpc>
              </a:pPr>
              <a:endParaRPr lang="zh-CN" altLang="zh-CN" dirty="0"/>
            </a:p>
          </p:txBody>
        </p:sp>
        <p:sp>
          <p:nvSpPr>
            <p:cNvPr id="10" name="Freeform 25"/>
            <p:cNvSpPr/>
            <p:nvPr/>
          </p:nvSpPr>
          <p:spPr bwMode="auto">
            <a:xfrm>
              <a:off x="147403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7030A0"/>
            </a:solidFill>
            <a:ln>
              <a:solidFill>
                <a:srgbClr val="7030A0"/>
              </a:solidFill>
            </a:ln>
            <a:effectLst>
              <a:outerShdw blurRad="38100" dist="38100" dir="2700000" algn="tl" rotWithShape="0">
                <a:prstClr val="black">
                  <a:alpha val="43000"/>
                </a:prstClr>
              </a:outerShdw>
            </a:effectLst>
          </p:spPr>
          <p:txBody>
            <a:bodyPr/>
            <a:lstStyle/>
            <a:p>
              <a:pPr fontAlgn="auto">
                <a:lnSpc>
                  <a:spcPct val="120000"/>
                </a:lnSpc>
                <a:defRPr/>
              </a:pPr>
              <a:endParaRPr lang="en-US" dirty="0">
                <a:solidFill>
                  <a:srgbClr val="7030A0"/>
                </a:solidFill>
                <a:latin typeface="+mn-lt"/>
                <a:cs typeface="+mn-cs"/>
              </a:endParaRPr>
            </a:p>
          </p:txBody>
        </p:sp>
        <p:sp>
          <p:nvSpPr>
            <p:cNvPr id="11" name="TextBox 18"/>
            <p:cNvSpPr txBox="1"/>
            <p:nvPr/>
          </p:nvSpPr>
          <p:spPr>
            <a:xfrm>
              <a:off x="1688315" y="2064301"/>
              <a:ext cx="731254" cy="673465"/>
            </a:xfrm>
            <a:prstGeom prst="rect">
              <a:avLst/>
            </a:prstGeom>
            <a:noFill/>
            <a:ln>
              <a:solidFill>
                <a:srgbClr val="7030A0"/>
              </a:solidFill>
            </a:ln>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黑体" panose="02010609060101010101" charset="-122"/>
                  <a:ea typeface="黑体" panose="02010609060101010101" charset="-122"/>
                </a:rPr>
                <a:t>01</a:t>
              </a:r>
              <a:endParaRPr lang="en-US" altLang="zh-CN" sz="3600" dirty="0">
                <a:solidFill>
                  <a:schemeClr val="bg1"/>
                </a:solidFill>
                <a:latin typeface="黑体" panose="02010609060101010101" charset="-122"/>
                <a:ea typeface="黑体" panose="02010609060101010101" charset="-122"/>
              </a:endParaRPr>
            </a:p>
          </p:txBody>
        </p:sp>
        <p:grpSp>
          <p:nvGrpSpPr>
            <p:cNvPr id="12" name="组合 216"/>
            <p:cNvGrpSpPr/>
            <p:nvPr/>
          </p:nvGrpSpPr>
          <p:grpSpPr bwMode="auto">
            <a:xfrm>
              <a:off x="3419075" y="2282206"/>
              <a:ext cx="614951" cy="465338"/>
              <a:chOff x="3192968" y="2571029"/>
              <a:chExt cx="1012825" cy="766763"/>
            </a:xfrm>
            <a:solidFill>
              <a:srgbClr val="0B2C4F"/>
            </a:solidFill>
            <a:effectLst>
              <a:outerShdw blurRad="38100" sx="101000" sy="101000" algn="ctr" rotWithShape="0">
                <a:prstClr val="black">
                  <a:alpha val="40000"/>
                </a:prstClr>
              </a:outerShdw>
            </a:effectLst>
          </p:grpSpPr>
          <p:sp>
            <p:nvSpPr>
              <p:cNvPr id="14" name="Freeform 74"/>
              <p:cNvSpPr>
                <a:spLocks noEditPoints="1"/>
              </p:cNvSpPr>
              <p:nvPr/>
            </p:nvSpPr>
            <p:spPr bwMode="auto">
              <a:xfrm>
                <a:off x="3484175" y="3081969"/>
                <a:ext cx="649932" cy="240826"/>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5" name="Freeform 75"/>
              <p:cNvSpPr>
                <a:spLocks noEditPoints="1"/>
              </p:cNvSpPr>
              <p:nvPr/>
            </p:nvSpPr>
            <p:spPr bwMode="auto">
              <a:xfrm>
                <a:off x="3472139" y="2808028"/>
                <a:ext cx="652942" cy="243837"/>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6" name="Freeform 76"/>
              <p:cNvSpPr>
                <a:spLocks noEditPoints="1"/>
              </p:cNvSpPr>
              <p:nvPr/>
            </p:nvSpPr>
            <p:spPr bwMode="auto">
              <a:xfrm>
                <a:off x="3192308" y="2750833"/>
                <a:ext cx="279831" cy="587012"/>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noFill/>
              <a:ln>
                <a:solidFill>
                  <a:srgbClr val="7030A0"/>
                </a:solidFill>
              </a:ln>
            </p:spPr>
            <p:txBody>
              <a:bodyPr/>
              <a:lstStyle/>
              <a:p>
                <a:pPr eaLnBrk="1" fontAlgn="auto" hangingPunct="1">
                  <a:lnSpc>
                    <a:spcPct val="120000"/>
                  </a:lnSpc>
                  <a:defRPr/>
                </a:pPr>
                <a:endParaRPr lang="zh-CN" altLang="en-US" sz="1350" dirty="0">
                  <a:solidFill>
                    <a:schemeClr val="tx1">
                      <a:lumMod val="85000"/>
                      <a:lumOff val="15000"/>
                    </a:schemeClr>
                  </a:solidFill>
                  <a:latin typeface="+mn-lt"/>
                  <a:ea typeface="+mn-ea"/>
                </a:endParaRPr>
              </a:p>
            </p:txBody>
          </p:sp>
          <p:sp>
            <p:nvSpPr>
              <p:cNvPr id="17" name="Rectangle 77"/>
              <p:cNvSpPr>
                <a:spLocks noChangeArrowheads="1"/>
              </p:cNvSpPr>
              <p:nvPr/>
            </p:nvSpPr>
            <p:spPr bwMode="auto">
              <a:xfrm>
                <a:off x="3664712" y="2570214"/>
                <a:ext cx="541610" cy="42145"/>
              </a:xfrm>
              <a:prstGeom prst="rect">
                <a:avLst/>
              </a:pr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8" name="Freeform 78"/>
              <p:cNvSpPr/>
              <p:nvPr/>
            </p:nvSpPr>
            <p:spPr bwMode="auto">
              <a:xfrm>
                <a:off x="4146143" y="2621388"/>
                <a:ext cx="57171" cy="219755"/>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9" name="Rectangle 79"/>
              <p:cNvSpPr>
                <a:spLocks noChangeArrowheads="1"/>
              </p:cNvSpPr>
              <p:nvPr/>
            </p:nvSpPr>
            <p:spPr bwMode="auto">
              <a:xfrm>
                <a:off x="3721883" y="2630420"/>
                <a:ext cx="418242" cy="159546"/>
              </a:xfrm>
              <a:prstGeom prst="rect">
                <a:avLst/>
              </a:prstGeom>
              <a:solidFill>
                <a:srgbClr val="664629"/>
              </a:solidFill>
              <a:ln>
                <a:solidFill>
                  <a:srgbClr val="7030A0"/>
                </a:solidFill>
              </a:ln>
            </p:spPr>
            <p:txBody>
              <a:bodyPr/>
              <a:lstStyle/>
              <a:p>
                <a:pPr eaLnBrk="1" fontAlgn="auto" hangingPunct="1">
                  <a:lnSpc>
                    <a:spcPct val="120000"/>
                  </a:lnSpc>
                  <a:defRPr/>
                </a:pPr>
                <a:endParaRPr lang="zh-CN" altLang="en-US" sz="1350" dirty="0">
                  <a:solidFill>
                    <a:schemeClr val="tx1">
                      <a:lumMod val="85000"/>
                      <a:lumOff val="15000"/>
                    </a:schemeClr>
                  </a:solidFill>
                  <a:latin typeface="+mn-lt"/>
                  <a:ea typeface="+mn-ea"/>
                </a:endParaRPr>
              </a:p>
            </p:txBody>
          </p:sp>
        </p:grpSp>
        <p:cxnSp>
          <p:nvCxnSpPr>
            <p:cNvPr id="13" name="直接连接符 12"/>
            <p:cNvCxnSpPr/>
            <p:nvPr/>
          </p:nvCxnSpPr>
          <p:spPr>
            <a:xfrm>
              <a:off x="2362927" y="3414511"/>
              <a:ext cx="1384051"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54" name="矩形 53"/>
          <p:cNvSpPr/>
          <p:nvPr/>
        </p:nvSpPr>
        <p:spPr>
          <a:xfrm>
            <a:off x="1053058" y="2893988"/>
            <a:ext cx="2579240" cy="836398"/>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b="1" dirty="0">
                <a:solidFill>
                  <a:schemeClr val="tx1"/>
                </a:solidFill>
                <a:latin typeface="微软雅黑" panose="020B0503020204020204" pitchFamily="34" charset="-122"/>
                <a:ea typeface="微软雅黑" panose="020B0503020204020204" pitchFamily="34" charset="-122"/>
              </a:rPr>
              <a:t>文献与理论储备</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57" name="矩形 56"/>
          <p:cNvSpPr/>
          <p:nvPr/>
        </p:nvSpPr>
        <p:spPr>
          <a:xfrm>
            <a:off x="866030" y="3818461"/>
            <a:ext cx="2478717" cy="2258881"/>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marL="285750" indent="-285750">
              <a:lnSpc>
                <a:spcPct val="125000"/>
              </a:lnSpc>
              <a:buFont typeface="Arial" panose="020B0604020202020204" pitchFamily="34" charset="0"/>
              <a:buChar char="•"/>
            </a:pPr>
            <a:r>
              <a:rPr lang="zh-CN" altLang="en-US" sz="1600" dirty="0">
                <a:solidFill>
                  <a:schemeClr val="tx1"/>
                </a:solidFill>
                <a:latin typeface="黑体" panose="02010609060101010101" charset="-122"/>
                <a:ea typeface="黑体" panose="02010609060101010101" charset="-122"/>
              </a:rPr>
              <a:t>梳理诗歌翻译“三美原理”“功能对等”“异化</a:t>
            </a:r>
            <a:r>
              <a:rPr lang="en-US" altLang="zh-CN" sz="1600" dirty="0">
                <a:solidFill>
                  <a:schemeClr val="tx1"/>
                </a:solidFill>
                <a:latin typeface="黑体" panose="02010609060101010101" charset="-122"/>
                <a:ea typeface="黑体" panose="02010609060101010101" charset="-122"/>
              </a:rPr>
              <a:t>/</a:t>
            </a:r>
            <a:r>
              <a:rPr lang="zh-CN" altLang="en-US" sz="1600" dirty="0">
                <a:solidFill>
                  <a:schemeClr val="tx1"/>
                </a:solidFill>
                <a:latin typeface="黑体" panose="02010609060101010101" charset="-122"/>
                <a:ea typeface="黑体" panose="02010609060101010101" charset="-122"/>
              </a:rPr>
              <a:t>归化”等理论</a:t>
            </a:r>
            <a:endParaRPr lang="en-US" altLang="zh-CN" sz="1600" dirty="0">
              <a:solidFill>
                <a:schemeClr val="tx1"/>
              </a:solidFill>
              <a:latin typeface="黑体" panose="02010609060101010101" charset="-122"/>
              <a:ea typeface="黑体" panose="02010609060101010101" charset="-122"/>
            </a:endParaRPr>
          </a:p>
          <a:p>
            <a:pPr marL="285750" indent="-285750">
              <a:lnSpc>
                <a:spcPct val="125000"/>
              </a:lnSpc>
              <a:buFont typeface="Arial" panose="020B0604020202020204" pitchFamily="34" charset="0"/>
              <a:buChar char="•"/>
            </a:pPr>
            <a:r>
              <a:rPr lang="zh-CN" altLang="en-US" sz="1600" dirty="0">
                <a:solidFill>
                  <a:schemeClr val="tx1"/>
                </a:solidFill>
                <a:latin typeface="黑体" panose="02010609060101010101" charset="-122"/>
                <a:ea typeface="黑体" panose="02010609060101010101" charset="-122"/>
              </a:rPr>
              <a:t>分析</a:t>
            </a:r>
            <a:r>
              <a:rPr lang="en-US" altLang="zh-CN" sz="1600" b="1" dirty="0">
                <a:solidFill>
                  <a:schemeClr val="tx1"/>
                </a:solidFill>
                <a:latin typeface="黑体" panose="02010609060101010101" charset="-122"/>
                <a:ea typeface="黑体" panose="02010609060101010101" charset="-122"/>
              </a:rPr>
              <a:t>SMT</a:t>
            </a:r>
            <a:r>
              <a:rPr lang="zh-CN" altLang="en-US" sz="1600" b="1" dirty="0">
                <a:solidFill>
                  <a:schemeClr val="tx1"/>
                </a:solidFill>
                <a:latin typeface="黑体" panose="02010609060101010101" charset="-122"/>
                <a:ea typeface="黑体" panose="02010609060101010101" charset="-122"/>
              </a:rPr>
              <a:t>和</a:t>
            </a:r>
            <a:r>
              <a:rPr lang="en-US" altLang="zh-CN" sz="1600" b="1" dirty="0">
                <a:solidFill>
                  <a:schemeClr val="tx1"/>
                </a:solidFill>
                <a:latin typeface="黑体" panose="02010609060101010101" charset="-122"/>
                <a:ea typeface="黑体" panose="02010609060101010101" charset="-122"/>
              </a:rPr>
              <a:t>LLM</a:t>
            </a:r>
            <a:r>
              <a:rPr lang="zh-CN" altLang="en-US" sz="1600" dirty="0">
                <a:solidFill>
                  <a:schemeClr val="tx1"/>
                </a:solidFill>
                <a:latin typeface="黑体" panose="02010609060101010101" charset="-122"/>
                <a:ea typeface="黑体" panose="02010609060101010101" charset="-122"/>
              </a:rPr>
              <a:t>在诗歌翻译中的优缺点</a:t>
            </a:r>
            <a:endParaRPr lang="en-US" altLang="zh-CN" sz="1600" dirty="0">
              <a:solidFill>
                <a:schemeClr val="tx1"/>
              </a:solidFill>
              <a:latin typeface="黑体" panose="02010609060101010101" charset="-122"/>
              <a:ea typeface="黑体" panose="02010609060101010101" charset="-122"/>
            </a:endParaRPr>
          </a:p>
          <a:p>
            <a:pPr marL="285750" indent="-285750">
              <a:lnSpc>
                <a:spcPct val="125000"/>
              </a:lnSpc>
              <a:buFont typeface="Arial" panose="020B0604020202020204" pitchFamily="34" charset="0"/>
              <a:buChar char="•"/>
            </a:pPr>
            <a:r>
              <a:rPr lang="zh-CN" altLang="en-US" sz="1600" dirty="0">
                <a:solidFill>
                  <a:schemeClr val="tx1"/>
                </a:solidFill>
                <a:latin typeface="黑体" panose="02010609060101010101" charset="-122"/>
                <a:ea typeface="黑体" panose="02010609060101010101" charset="-122"/>
              </a:rPr>
              <a:t>聚焦小语种（俄</a:t>
            </a:r>
            <a:r>
              <a:rPr lang="en-US" altLang="zh-CN" sz="1600" dirty="0">
                <a:solidFill>
                  <a:schemeClr val="tx1"/>
                </a:solidFill>
                <a:latin typeface="黑体" panose="02010609060101010101" charset="-122"/>
                <a:ea typeface="黑体" panose="02010609060101010101" charset="-122"/>
              </a:rPr>
              <a:t>/</a:t>
            </a:r>
            <a:r>
              <a:rPr lang="zh-CN" altLang="en-US" sz="1600" dirty="0">
                <a:solidFill>
                  <a:schemeClr val="tx1"/>
                </a:solidFill>
                <a:latin typeface="黑体" panose="02010609060101010101" charset="-122"/>
                <a:ea typeface="黑体" panose="02010609060101010101" charset="-122"/>
              </a:rPr>
              <a:t>韩）诗歌的</a:t>
            </a:r>
            <a:r>
              <a:rPr lang="zh-CN" altLang="en-US" sz="1600" b="1" dirty="0">
                <a:solidFill>
                  <a:schemeClr val="tx1"/>
                </a:solidFill>
                <a:latin typeface="黑体" panose="02010609060101010101" charset="-122"/>
                <a:ea typeface="黑体" panose="02010609060101010101" charset="-122"/>
              </a:rPr>
              <a:t>文化与修辞特征</a:t>
            </a:r>
            <a:endParaRPr lang="zh-CN" altLang="en-US" sz="1600" b="1" dirty="0">
              <a:solidFill>
                <a:schemeClr val="tx1"/>
              </a:solidFill>
              <a:latin typeface="黑体" panose="02010609060101010101" charset="-122"/>
              <a:ea typeface="黑体" panose="02010609060101010101" charset="-122"/>
            </a:endParaRPr>
          </a:p>
        </p:txBody>
      </p:sp>
      <p:sp>
        <p:nvSpPr>
          <p:cNvPr id="60" name="直接连接符 24"/>
          <p:cNvSpPr>
            <a:spLocks noChangeShapeType="1"/>
          </p:cNvSpPr>
          <p:nvPr/>
        </p:nvSpPr>
        <p:spPr bwMode="auto">
          <a:xfrm>
            <a:off x="4639601"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1" name="直接连接符 24"/>
          <p:cNvSpPr>
            <a:spLocks noChangeShapeType="1"/>
          </p:cNvSpPr>
          <p:nvPr/>
        </p:nvSpPr>
        <p:spPr bwMode="auto">
          <a:xfrm>
            <a:off x="2524436" y="-2360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grpSp>
        <p:nvGrpSpPr>
          <p:cNvPr id="142" name="组合 141"/>
          <p:cNvGrpSpPr/>
          <p:nvPr/>
        </p:nvGrpSpPr>
        <p:grpSpPr>
          <a:xfrm>
            <a:off x="4572325" y="1850111"/>
            <a:ext cx="3108036" cy="4608129"/>
            <a:chOff x="1474030" y="1802903"/>
            <a:chExt cx="2935782" cy="4314618"/>
          </a:xfrm>
        </p:grpSpPr>
        <p:sp>
          <p:nvSpPr>
            <p:cNvPr id="143" name="Rectangle 24"/>
            <p:cNvSpPr>
              <a:spLocks noChangeArrowheads="1"/>
            </p:cNvSpPr>
            <p:nvPr/>
          </p:nvSpPr>
          <p:spPr bwMode="auto">
            <a:xfrm>
              <a:off x="1474030" y="1806772"/>
              <a:ext cx="2935782" cy="4310749"/>
            </a:xfrm>
            <a:prstGeom prst="rect">
              <a:avLst/>
            </a:prstGeom>
            <a:solidFill>
              <a:schemeClr val="bg1"/>
            </a:solidFill>
            <a:ln>
              <a:solidFill>
                <a:srgbClr val="7030A0"/>
              </a:solidFill>
            </a:ln>
            <a:effectLst>
              <a:innerShdw blurRad="76200">
                <a:prstClr val="black"/>
              </a:innerShdw>
            </a:effectLst>
          </p:spPr>
          <p:txBody>
            <a:bodyPr/>
            <a:lstStyle/>
            <a:p>
              <a:pPr>
                <a:lnSpc>
                  <a:spcPct val="120000"/>
                </a:lnSpc>
              </a:pPr>
              <a:endParaRPr lang="zh-CN" altLang="zh-CN" dirty="0"/>
            </a:p>
          </p:txBody>
        </p:sp>
        <p:sp>
          <p:nvSpPr>
            <p:cNvPr id="144" name="Freeform 25"/>
            <p:cNvSpPr/>
            <p:nvPr/>
          </p:nvSpPr>
          <p:spPr bwMode="auto">
            <a:xfrm>
              <a:off x="147403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7030A0"/>
            </a:solidFill>
            <a:ln>
              <a:solidFill>
                <a:srgbClr val="7030A0"/>
              </a:solidFill>
            </a:ln>
            <a:effectLst>
              <a:outerShdw blurRad="38100" dist="38100" dir="2700000" algn="tl" rotWithShape="0">
                <a:prstClr val="black">
                  <a:alpha val="43000"/>
                </a:prstClr>
              </a:outerShdw>
            </a:effectLst>
          </p:spPr>
          <p:txBody>
            <a:bodyPr/>
            <a:lstStyle/>
            <a:p>
              <a:pPr fontAlgn="auto">
                <a:lnSpc>
                  <a:spcPct val="120000"/>
                </a:lnSpc>
                <a:defRPr/>
              </a:pPr>
              <a:endParaRPr lang="en-US" dirty="0">
                <a:solidFill>
                  <a:srgbClr val="7030A0"/>
                </a:solidFill>
                <a:latin typeface="+mn-lt"/>
                <a:cs typeface="+mn-cs"/>
              </a:endParaRPr>
            </a:p>
          </p:txBody>
        </p:sp>
        <p:sp>
          <p:nvSpPr>
            <p:cNvPr id="145" name="TextBox 18"/>
            <p:cNvSpPr txBox="1"/>
            <p:nvPr/>
          </p:nvSpPr>
          <p:spPr>
            <a:xfrm>
              <a:off x="1688315" y="2064301"/>
              <a:ext cx="731254" cy="626236"/>
            </a:xfrm>
            <a:prstGeom prst="rect">
              <a:avLst/>
            </a:prstGeom>
            <a:noFill/>
            <a:ln>
              <a:solidFill>
                <a:srgbClr val="7030A0"/>
              </a:solidFill>
            </a:ln>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黑体" panose="02010609060101010101" charset="-122"/>
                  <a:ea typeface="黑体" panose="02010609060101010101" charset="-122"/>
                </a:rPr>
                <a:t>02</a:t>
              </a:r>
              <a:endParaRPr lang="en-US" altLang="zh-CN" sz="3600" dirty="0">
                <a:solidFill>
                  <a:schemeClr val="bg1"/>
                </a:solidFill>
                <a:latin typeface="黑体" panose="02010609060101010101" charset="-122"/>
                <a:ea typeface="黑体" panose="02010609060101010101" charset="-122"/>
              </a:endParaRPr>
            </a:p>
          </p:txBody>
        </p:sp>
        <p:grpSp>
          <p:nvGrpSpPr>
            <p:cNvPr id="146" name="组合 216"/>
            <p:cNvGrpSpPr/>
            <p:nvPr/>
          </p:nvGrpSpPr>
          <p:grpSpPr bwMode="auto">
            <a:xfrm>
              <a:off x="3419075" y="2282206"/>
              <a:ext cx="614951" cy="465338"/>
              <a:chOff x="3192968" y="2571029"/>
              <a:chExt cx="1012825" cy="766763"/>
            </a:xfrm>
            <a:solidFill>
              <a:srgbClr val="0B2C4F"/>
            </a:solidFill>
            <a:effectLst>
              <a:outerShdw blurRad="38100" sx="101000" sy="101000" algn="ctr" rotWithShape="0">
                <a:prstClr val="black">
                  <a:alpha val="40000"/>
                </a:prstClr>
              </a:outerShdw>
            </a:effectLst>
          </p:grpSpPr>
          <p:sp>
            <p:nvSpPr>
              <p:cNvPr id="148" name="Freeform 74"/>
              <p:cNvSpPr>
                <a:spLocks noEditPoints="1"/>
              </p:cNvSpPr>
              <p:nvPr/>
            </p:nvSpPr>
            <p:spPr bwMode="auto">
              <a:xfrm>
                <a:off x="3484175" y="3081969"/>
                <a:ext cx="649932" cy="240826"/>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49" name="Freeform 75"/>
              <p:cNvSpPr>
                <a:spLocks noEditPoints="1"/>
              </p:cNvSpPr>
              <p:nvPr/>
            </p:nvSpPr>
            <p:spPr bwMode="auto">
              <a:xfrm>
                <a:off x="3472139" y="2808028"/>
                <a:ext cx="652942" cy="243837"/>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50" name="Freeform 76"/>
              <p:cNvSpPr>
                <a:spLocks noEditPoints="1"/>
              </p:cNvSpPr>
              <p:nvPr/>
            </p:nvSpPr>
            <p:spPr bwMode="auto">
              <a:xfrm>
                <a:off x="3192308" y="2750833"/>
                <a:ext cx="279831" cy="587012"/>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noFill/>
              <a:ln>
                <a:solidFill>
                  <a:srgbClr val="7030A0"/>
                </a:solidFill>
              </a:ln>
            </p:spPr>
            <p:txBody>
              <a:bodyPr/>
              <a:lstStyle/>
              <a:p>
                <a:pPr eaLnBrk="1" fontAlgn="auto" hangingPunct="1">
                  <a:lnSpc>
                    <a:spcPct val="120000"/>
                  </a:lnSpc>
                  <a:defRPr/>
                </a:pPr>
                <a:endParaRPr lang="zh-CN" altLang="en-US" sz="1350" dirty="0">
                  <a:solidFill>
                    <a:schemeClr val="tx1">
                      <a:lumMod val="85000"/>
                      <a:lumOff val="15000"/>
                    </a:schemeClr>
                  </a:solidFill>
                  <a:latin typeface="+mn-lt"/>
                  <a:ea typeface="+mn-ea"/>
                </a:endParaRPr>
              </a:p>
            </p:txBody>
          </p:sp>
          <p:sp>
            <p:nvSpPr>
              <p:cNvPr id="151" name="Rectangle 77"/>
              <p:cNvSpPr>
                <a:spLocks noChangeArrowheads="1"/>
              </p:cNvSpPr>
              <p:nvPr/>
            </p:nvSpPr>
            <p:spPr bwMode="auto">
              <a:xfrm>
                <a:off x="3664712" y="2570214"/>
                <a:ext cx="541610" cy="42145"/>
              </a:xfrm>
              <a:prstGeom prst="rect">
                <a:avLst/>
              </a:pr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52" name="Freeform 78"/>
              <p:cNvSpPr/>
              <p:nvPr/>
            </p:nvSpPr>
            <p:spPr bwMode="auto">
              <a:xfrm>
                <a:off x="4146143" y="2621388"/>
                <a:ext cx="57171" cy="219755"/>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53" name="Rectangle 79"/>
              <p:cNvSpPr>
                <a:spLocks noChangeArrowheads="1"/>
              </p:cNvSpPr>
              <p:nvPr/>
            </p:nvSpPr>
            <p:spPr bwMode="auto">
              <a:xfrm>
                <a:off x="3721883" y="2630420"/>
                <a:ext cx="418242" cy="159546"/>
              </a:xfrm>
              <a:prstGeom prst="rect">
                <a:avLst/>
              </a:prstGeom>
              <a:solidFill>
                <a:srgbClr val="664629"/>
              </a:solidFill>
              <a:ln>
                <a:solidFill>
                  <a:srgbClr val="7030A0"/>
                </a:solidFill>
              </a:ln>
            </p:spPr>
            <p:txBody>
              <a:bodyPr/>
              <a:lstStyle/>
              <a:p>
                <a:pPr eaLnBrk="1" fontAlgn="auto" hangingPunct="1">
                  <a:lnSpc>
                    <a:spcPct val="120000"/>
                  </a:lnSpc>
                  <a:defRPr/>
                </a:pPr>
                <a:endParaRPr lang="zh-CN" altLang="en-US" sz="1350" dirty="0">
                  <a:solidFill>
                    <a:schemeClr val="tx1">
                      <a:lumMod val="85000"/>
                      <a:lumOff val="15000"/>
                    </a:schemeClr>
                  </a:solidFill>
                  <a:latin typeface="+mn-lt"/>
                  <a:ea typeface="+mn-ea"/>
                </a:endParaRPr>
              </a:p>
            </p:txBody>
          </p:sp>
        </p:grpSp>
        <p:cxnSp>
          <p:nvCxnSpPr>
            <p:cNvPr id="147" name="直接连接符 146"/>
            <p:cNvCxnSpPr/>
            <p:nvPr/>
          </p:nvCxnSpPr>
          <p:spPr>
            <a:xfrm>
              <a:off x="2362927" y="3414511"/>
              <a:ext cx="1384051"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54" name="矩形 153"/>
          <p:cNvSpPr/>
          <p:nvPr/>
        </p:nvSpPr>
        <p:spPr>
          <a:xfrm>
            <a:off x="4963460" y="2893988"/>
            <a:ext cx="2579240" cy="836398"/>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b="1" dirty="0">
                <a:solidFill>
                  <a:schemeClr val="tx1"/>
                </a:solidFill>
                <a:latin typeface="微软雅黑" panose="020B0503020204020204" pitchFamily="34" charset="-122"/>
                <a:ea typeface="微软雅黑" panose="020B0503020204020204" pitchFamily="34" charset="-122"/>
              </a:rPr>
              <a:t>技术基础准备</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55" name="矩形 154"/>
          <p:cNvSpPr/>
          <p:nvPr/>
        </p:nvSpPr>
        <p:spPr>
          <a:xfrm>
            <a:off x="4773192" y="3663851"/>
            <a:ext cx="2478717" cy="2258881"/>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marL="285750" indent="-285750">
              <a:lnSpc>
                <a:spcPct val="125000"/>
              </a:lnSpc>
              <a:buFont typeface="Arial" panose="020B0604020202020204" pitchFamily="34" charset="0"/>
              <a:buChar char="•"/>
            </a:pPr>
            <a:r>
              <a:rPr lang="zh-CN" altLang="en-US" sz="1600" dirty="0">
                <a:solidFill>
                  <a:schemeClr val="tx1"/>
                </a:solidFill>
                <a:latin typeface="黑体" panose="02010609060101010101" charset="-122"/>
                <a:ea typeface="黑体" panose="02010609060101010101" charset="-122"/>
              </a:rPr>
              <a:t>试验主流大模型</a:t>
            </a:r>
            <a:r>
              <a:rPr lang="en-US" altLang="zh-CN" sz="1600" dirty="0">
                <a:solidFill>
                  <a:schemeClr val="tx1"/>
                </a:solidFill>
                <a:latin typeface="黑体" panose="02010609060101010101" charset="-122"/>
                <a:ea typeface="黑体" panose="02010609060101010101" charset="-122"/>
              </a:rPr>
              <a:t>Prompt</a:t>
            </a:r>
            <a:r>
              <a:rPr lang="zh-CN" altLang="en-US" sz="1600" dirty="0">
                <a:solidFill>
                  <a:schemeClr val="tx1"/>
                </a:solidFill>
                <a:latin typeface="黑体" panose="02010609060101010101" charset="-122"/>
                <a:ea typeface="黑体" panose="02010609060101010101" charset="-122"/>
              </a:rPr>
              <a:t>转写</a:t>
            </a:r>
            <a:r>
              <a:rPr lang="zh-CN" altLang="en-US" sz="1600" dirty="0">
                <a:solidFill>
                  <a:schemeClr val="tx1"/>
                </a:solidFill>
                <a:latin typeface="黑体" panose="02010609060101010101" charset="-122"/>
                <a:ea typeface="黑体" panose="02010609060101010101" charset="-122"/>
              </a:rPr>
              <a:t>→风格不可控问题明显</a:t>
            </a:r>
            <a:endParaRPr lang="en-US" altLang="zh-CN" sz="1600" dirty="0">
              <a:solidFill>
                <a:schemeClr val="tx1"/>
              </a:solidFill>
              <a:latin typeface="黑体" panose="02010609060101010101" charset="-122"/>
              <a:ea typeface="黑体" panose="02010609060101010101" charset="-122"/>
            </a:endParaRPr>
          </a:p>
          <a:p>
            <a:pPr marL="285750" indent="-285750">
              <a:lnSpc>
                <a:spcPct val="125000"/>
              </a:lnSpc>
              <a:buFont typeface="Arial" panose="020B0604020202020204" pitchFamily="34" charset="0"/>
              <a:buChar char="•"/>
            </a:pPr>
            <a:r>
              <a:rPr lang="zh-CN" altLang="en-US" sz="1600" dirty="0">
                <a:solidFill>
                  <a:schemeClr val="tx1"/>
                </a:solidFill>
                <a:latin typeface="黑体" panose="02010609060101010101" charset="-122"/>
                <a:ea typeface="黑体" panose="02010609060101010101" charset="-122"/>
              </a:rPr>
              <a:t>形成</a:t>
            </a:r>
            <a:r>
              <a:rPr lang="zh-CN" altLang="en-US" sz="1600" b="1" dirty="0">
                <a:solidFill>
                  <a:schemeClr val="tx1"/>
                </a:solidFill>
                <a:latin typeface="黑体" panose="02010609060101010101" charset="-122"/>
                <a:ea typeface="黑体" panose="02010609060101010101" charset="-122"/>
              </a:rPr>
              <a:t>技术路线</a:t>
            </a:r>
            <a:r>
              <a:rPr lang="zh-CN" altLang="en-US" sz="1600" dirty="0">
                <a:solidFill>
                  <a:schemeClr val="tx1"/>
                </a:solidFill>
                <a:latin typeface="黑体" panose="02010609060101010101" charset="-122"/>
                <a:ea typeface="黑体" panose="02010609060101010101" charset="-122"/>
              </a:rPr>
              <a:t>：构建向量空间</a:t>
            </a:r>
            <a:r>
              <a:rPr lang="zh-CN" altLang="en-US" sz="1600" dirty="0">
                <a:solidFill>
                  <a:schemeClr val="tx1"/>
                </a:solidFill>
                <a:latin typeface="黑体" panose="02010609060101010101" charset="-122"/>
                <a:ea typeface="黑体" panose="02010609060101010101" charset="-122"/>
                <a:sym typeface="+mn-ea"/>
              </a:rPr>
              <a:t>→训练模型→构建评价体系</a:t>
            </a:r>
            <a:endParaRPr lang="en-US" altLang="zh-CN" sz="1600" dirty="0">
              <a:solidFill>
                <a:srgbClr val="FF0000"/>
              </a:solidFill>
              <a:latin typeface="黑体" panose="02010609060101010101" charset="-122"/>
              <a:ea typeface="黑体" panose="02010609060101010101" charset="-122"/>
            </a:endParaRPr>
          </a:p>
        </p:txBody>
      </p:sp>
      <p:grpSp>
        <p:nvGrpSpPr>
          <p:cNvPr id="156" name="组合 155"/>
          <p:cNvGrpSpPr/>
          <p:nvPr/>
        </p:nvGrpSpPr>
        <p:grpSpPr>
          <a:xfrm>
            <a:off x="8482728" y="1850111"/>
            <a:ext cx="3108036" cy="4608129"/>
            <a:chOff x="1474030" y="1802903"/>
            <a:chExt cx="2935782" cy="4314618"/>
          </a:xfrm>
        </p:grpSpPr>
        <p:sp>
          <p:nvSpPr>
            <p:cNvPr id="157" name="Rectangle 24"/>
            <p:cNvSpPr>
              <a:spLocks noChangeArrowheads="1"/>
            </p:cNvSpPr>
            <p:nvPr/>
          </p:nvSpPr>
          <p:spPr bwMode="auto">
            <a:xfrm>
              <a:off x="1474030" y="1806772"/>
              <a:ext cx="2935782" cy="4310749"/>
            </a:xfrm>
            <a:prstGeom prst="rect">
              <a:avLst/>
            </a:prstGeom>
            <a:solidFill>
              <a:schemeClr val="bg1"/>
            </a:solidFill>
            <a:ln>
              <a:solidFill>
                <a:srgbClr val="7030A0"/>
              </a:solidFill>
            </a:ln>
            <a:effectLst>
              <a:innerShdw blurRad="76200">
                <a:prstClr val="black"/>
              </a:innerShdw>
            </a:effectLst>
          </p:spPr>
          <p:txBody>
            <a:bodyPr/>
            <a:lstStyle/>
            <a:p>
              <a:pPr>
                <a:lnSpc>
                  <a:spcPct val="120000"/>
                </a:lnSpc>
              </a:pPr>
              <a:endParaRPr lang="zh-CN" altLang="zh-CN" dirty="0"/>
            </a:p>
          </p:txBody>
        </p:sp>
        <p:sp>
          <p:nvSpPr>
            <p:cNvPr id="158" name="Freeform 25"/>
            <p:cNvSpPr/>
            <p:nvPr/>
          </p:nvSpPr>
          <p:spPr bwMode="auto">
            <a:xfrm>
              <a:off x="147403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7030A0"/>
            </a:solidFill>
            <a:ln>
              <a:solidFill>
                <a:srgbClr val="7030A0"/>
              </a:solidFill>
            </a:ln>
            <a:effectLst>
              <a:outerShdw blurRad="38100" dist="38100" dir="2700000" algn="tl" rotWithShape="0">
                <a:prstClr val="black">
                  <a:alpha val="43000"/>
                </a:prstClr>
              </a:outerShdw>
            </a:effectLst>
          </p:spPr>
          <p:txBody>
            <a:bodyPr/>
            <a:lstStyle/>
            <a:p>
              <a:pPr fontAlgn="auto">
                <a:lnSpc>
                  <a:spcPct val="120000"/>
                </a:lnSpc>
                <a:defRPr/>
              </a:pPr>
              <a:endParaRPr lang="en-US" dirty="0">
                <a:solidFill>
                  <a:srgbClr val="7030A0"/>
                </a:solidFill>
                <a:latin typeface="+mn-lt"/>
                <a:cs typeface="+mn-cs"/>
              </a:endParaRPr>
            </a:p>
          </p:txBody>
        </p:sp>
        <p:sp>
          <p:nvSpPr>
            <p:cNvPr id="159" name="TextBox 18"/>
            <p:cNvSpPr txBox="1"/>
            <p:nvPr/>
          </p:nvSpPr>
          <p:spPr>
            <a:xfrm>
              <a:off x="1688315" y="2064301"/>
              <a:ext cx="731254" cy="626236"/>
            </a:xfrm>
            <a:prstGeom prst="rect">
              <a:avLst/>
            </a:prstGeom>
            <a:noFill/>
            <a:ln>
              <a:solidFill>
                <a:srgbClr val="7030A0"/>
              </a:solidFill>
            </a:ln>
          </p:spPr>
          <p:txBody>
            <a:bodyPr wrap="square">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a:solidFill>
                    <a:schemeClr val="bg1"/>
                  </a:solidFill>
                  <a:latin typeface="黑体" panose="02010609060101010101" charset="-122"/>
                  <a:ea typeface="黑体" panose="02010609060101010101" charset="-122"/>
                </a:rPr>
                <a:t>03</a:t>
              </a:r>
              <a:endParaRPr lang="en-US" altLang="zh-CN" sz="3600" dirty="0">
                <a:solidFill>
                  <a:schemeClr val="bg1"/>
                </a:solidFill>
                <a:latin typeface="黑体" panose="02010609060101010101" charset="-122"/>
                <a:ea typeface="黑体" panose="02010609060101010101" charset="-122"/>
              </a:endParaRPr>
            </a:p>
          </p:txBody>
        </p:sp>
        <p:grpSp>
          <p:nvGrpSpPr>
            <p:cNvPr id="160" name="组合 216"/>
            <p:cNvGrpSpPr/>
            <p:nvPr/>
          </p:nvGrpSpPr>
          <p:grpSpPr bwMode="auto">
            <a:xfrm>
              <a:off x="3419075" y="2282206"/>
              <a:ext cx="614951" cy="465338"/>
              <a:chOff x="3192968" y="2571029"/>
              <a:chExt cx="1012825" cy="766763"/>
            </a:xfrm>
            <a:solidFill>
              <a:srgbClr val="0B2C4F"/>
            </a:solidFill>
            <a:effectLst>
              <a:outerShdw blurRad="38100" sx="101000" sy="101000" algn="ctr" rotWithShape="0">
                <a:prstClr val="black">
                  <a:alpha val="40000"/>
                </a:prstClr>
              </a:outerShdw>
            </a:effectLst>
          </p:grpSpPr>
          <p:sp>
            <p:nvSpPr>
              <p:cNvPr id="162" name="Freeform 74"/>
              <p:cNvSpPr>
                <a:spLocks noEditPoints="1"/>
              </p:cNvSpPr>
              <p:nvPr/>
            </p:nvSpPr>
            <p:spPr bwMode="auto">
              <a:xfrm>
                <a:off x="3484175" y="3081969"/>
                <a:ext cx="649932" cy="240826"/>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63" name="Freeform 75"/>
              <p:cNvSpPr>
                <a:spLocks noEditPoints="1"/>
              </p:cNvSpPr>
              <p:nvPr/>
            </p:nvSpPr>
            <p:spPr bwMode="auto">
              <a:xfrm>
                <a:off x="3472139" y="2808028"/>
                <a:ext cx="652942" cy="243837"/>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64" name="Freeform 76"/>
              <p:cNvSpPr>
                <a:spLocks noEditPoints="1"/>
              </p:cNvSpPr>
              <p:nvPr/>
            </p:nvSpPr>
            <p:spPr bwMode="auto">
              <a:xfrm>
                <a:off x="3192308" y="2750833"/>
                <a:ext cx="279831" cy="587012"/>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noFill/>
              <a:ln>
                <a:solidFill>
                  <a:srgbClr val="7030A0"/>
                </a:solidFill>
              </a:ln>
            </p:spPr>
            <p:txBody>
              <a:bodyPr/>
              <a:lstStyle/>
              <a:p>
                <a:pPr eaLnBrk="1" fontAlgn="auto" hangingPunct="1">
                  <a:lnSpc>
                    <a:spcPct val="120000"/>
                  </a:lnSpc>
                  <a:defRPr/>
                </a:pPr>
                <a:endParaRPr lang="zh-CN" altLang="en-US" sz="1350" dirty="0">
                  <a:solidFill>
                    <a:schemeClr val="tx1">
                      <a:lumMod val="85000"/>
                      <a:lumOff val="15000"/>
                    </a:schemeClr>
                  </a:solidFill>
                  <a:latin typeface="+mn-lt"/>
                  <a:ea typeface="+mn-ea"/>
                </a:endParaRPr>
              </a:p>
            </p:txBody>
          </p:sp>
          <p:sp>
            <p:nvSpPr>
              <p:cNvPr id="165" name="Rectangle 77"/>
              <p:cNvSpPr>
                <a:spLocks noChangeArrowheads="1"/>
              </p:cNvSpPr>
              <p:nvPr/>
            </p:nvSpPr>
            <p:spPr bwMode="auto">
              <a:xfrm>
                <a:off x="3664712" y="2570214"/>
                <a:ext cx="541610" cy="42145"/>
              </a:xfrm>
              <a:prstGeom prst="rect">
                <a:avLst/>
              </a:pr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66" name="Freeform 78"/>
              <p:cNvSpPr/>
              <p:nvPr/>
            </p:nvSpPr>
            <p:spPr bwMode="auto">
              <a:xfrm>
                <a:off x="4146143" y="2621388"/>
                <a:ext cx="57171" cy="219755"/>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solidFill>
                <a:srgbClr val="664629"/>
              </a:solidFill>
              <a:ln>
                <a:solidFill>
                  <a:srgbClr val="7030A0"/>
                </a:solid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167" name="Rectangle 79"/>
              <p:cNvSpPr>
                <a:spLocks noChangeArrowheads="1"/>
              </p:cNvSpPr>
              <p:nvPr/>
            </p:nvSpPr>
            <p:spPr bwMode="auto">
              <a:xfrm>
                <a:off x="3721883" y="2630420"/>
                <a:ext cx="418242" cy="159546"/>
              </a:xfrm>
              <a:prstGeom prst="rect">
                <a:avLst/>
              </a:prstGeom>
              <a:solidFill>
                <a:srgbClr val="664629"/>
              </a:solidFill>
              <a:ln>
                <a:solidFill>
                  <a:srgbClr val="7030A0"/>
                </a:solidFill>
              </a:ln>
            </p:spPr>
            <p:txBody>
              <a:bodyPr/>
              <a:lstStyle/>
              <a:p>
                <a:pPr eaLnBrk="1" fontAlgn="auto" hangingPunct="1">
                  <a:lnSpc>
                    <a:spcPct val="120000"/>
                  </a:lnSpc>
                  <a:defRPr/>
                </a:pPr>
                <a:endParaRPr lang="zh-CN" altLang="en-US" sz="1350" dirty="0">
                  <a:solidFill>
                    <a:schemeClr val="tx1">
                      <a:lumMod val="85000"/>
                      <a:lumOff val="15000"/>
                    </a:schemeClr>
                  </a:solidFill>
                  <a:latin typeface="+mn-lt"/>
                  <a:ea typeface="+mn-ea"/>
                </a:endParaRPr>
              </a:p>
            </p:txBody>
          </p:sp>
        </p:grpSp>
        <p:cxnSp>
          <p:nvCxnSpPr>
            <p:cNvPr id="161" name="直接连接符 160"/>
            <p:cNvCxnSpPr/>
            <p:nvPr/>
          </p:nvCxnSpPr>
          <p:spPr>
            <a:xfrm>
              <a:off x="2362927" y="3414511"/>
              <a:ext cx="1384051"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68" name="矩形 167"/>
          <p:cNvSpPr/>
          <p:nvPr/>
        </p:nvSpPr>
        <p:spPr>
          <a:xfrm>
            <a:off x="8873863" y="2893988"/>
            <a:ext cx="2579240" cy="836398"/>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b="1" dirty="0">
                <a:solidFill>
                  <a:schemeClr val="tx1"/>
                </a:solidFill>
                <a:latin typeface="微软雅黑" panose="020B0503020204020204" pitchFamily="34" charset="-122"/>
                <a:ea typeface="微软雅黑" panose="020B0503020204020204" pitchFamily="34" charset="-122"/>
              </a:rPr>
              <a:t>数据与资源准备</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69" name="矩形 168"/>
          <p:cNvSpPr/>
          <p:nvPr/>
        </p:nvSpPr>
        <p:spPr>
          <a:xfrm>
            <a:off x="8736202" y="3713429"/>
            <a:ext cx="2478717" cy="2258881"/>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marL="285750" indent="-285750">
              <a:lnSpc>
                <a:spcPct val="125000"/>
              </a:lnSpc>
              <a:buFont typeface="Arial" panose="020B0604020202020204" pitchFamily="34" charset="0"/>
              <a:buChar char="•"/>
            </a:pPr>
            <a:r>
              <a:rPr lang="zh-CN" altLang="en-US" sz="1600" dirty="0">
                <a:solidFill>
                  <a:schemeClr val="tx1"/>
                </a:solidFill>
                <a:latin typeface="黑体" panose="02010609060101010101" charset="-122"/>
                <a:ea typeface="黑体" panose="02010609060101010101" charset="-122"/>
              </a:rPr>
              <a:t>整理中俄、中韩诗歌</a:t>
            </a:r>
            <a:r>
              <a:rPr lang="zh-CN" altLang="en-US" sz="1600" b="1" dirty="0">
                <a:solidFill>
                  <a:schemeClr val="tx1"/>
                </a:solidFill>
                <a:latin typeface="黑体" panose="02010609060101010101" charset="-122"/>
                <a:ea typeface="黑体" panose="02010609060101010101" charset="-122"/>
              </a:rPr>
              <a:t>对照语料</a:t>
            </a:r>
            <a:endParaRPr lang="zh-CN" altLang="en-US" sz="1600" b="1" dirty="0">
              <a:solidFill>
                <a:schemeClr val="tx1"/>
              </a:solidFill>
              <a:latin typeface="黑体" panose="02010609060101010101" charset="-122"/>
              <a:ea typeface="黑体" panose="02010609060101010101" charset="-122"/>
            </a:endParaRPr>
          </a:p>
          <a:p>
            <a:pPr marL="285750" indent="-285750">
              <a:lnSpc>
                <a:spcPct val="125000"/>
              </a:lnSpc>
              <a:buFont typeface="Arial" panose="020B0604020202020204" pitchFamily="34" charset="0"/>
              <a:buChar char="•"/>
            </a:pPr>
            <a:r>
              <a:rPr lang="zh-CN" altLang="en-US" sz="1600" dirty="0">
                <a:solidFill>
                  <a:schemeClr val="tx1"/>
                </a:solidFill>
                <a:latin typeface="黑体" panose="02010609060101010101" charset="-122"/>
                <a:ea typeface="黑体" panose="02010609060101010101" charset="-122"/>
              </a:rPr>
              <a:t>绑定文化标签，初步构建</a:t>
            </a:r>
            <a:r>
              <a:rPr lang="zh-CN" altLang="en-US" sz="1600" b="1" dirty="0">
                <a:solidFill>
                  <a:schemeClr val="tx1"/>
                </a:solidFill>
                <a:latin typeface="黑体" panose="02010609060101010101" charset="-122"/>
                <a:ea typeface="黑体" panose="02010609060101010101" charset="-122"/>
              </a:rPr>
              <a:t>向量空间</a:t>
            </a:r>
            <a:endParaRPr lang="en-US" altLang="zh-CN" sz="1600" dirty="0">
              <a:solidFill>
                <a:schemeClr val="tx1"/>
              </a:solidFill>
              <a:latin typeface="黑体" panose="02010609060101010101" charset="-122"/>
              <a:ea typeface="黑体" panose="02010609060101010101" charset="-122"/>
            </a:endParaRPr>
          </a:p>
          <a:p>
            <a:pPr marL="285750" indent="-285750">
              <a:lnSpc>
                <a:spcPct val="125000"/>
              </a:lnSpc>
              <a:buFont typeface="Arial" panose="020B0604020202020204" pitchFamily="34" charset="0"/>
              <a:buChar char="•"/>
            </a:pPr>
            <a:r>
              <a:rPr lang="zh-CN" altLang="en-US" sz="1600" dirty="0">
                <a:solidFill>
                  <a:schemeClr val="tx1"/>
                </a:solidFill>
                <a:latin typeface="黑体" panose="02010609060101010101" charset="-122"/>
                <a:ea typeface="黑体" panose="02010609060101010101" charset="-122"/>
              </a:rPr>
              <a:t>申请服务器，学习</a:t>
            </a:r>
            <a:r>
              <a:rPr lang="zh-CN" altLang="en-US" sz="1600" b="1" dirty="0">
                <a:solidFill>
                  <a:schemeClr val="tx1"/>
                </a:solidFill>
                <a:latin typeface="黑体" panose="02010609060101010101" charset="-122"/>
                <a:ea typeface="黑体" panose="02010609060101010101" charset="-122"/>
              </a:rPr>
              <a:t>模型训练知识</a:t>
            </a:r>
            <a:endParaRPr lang="zh-CN" altLang="en-US" sz="1600" b="1" dirty="0">
              <a:solidFill>
                <a:schemeClr val="tx1"/>
              </a:solidFill>
              <a:latin typeface="黑体" panose="02010609060101010101" charset="-122"/>
              <a:ea typeface="黑体" panose="02010609060101010101" charset="-122"/>
            </a:endParaRPr>
          </a:p>
        </p:txBody>
      </p:sp>
      <p:sp>
        <p:nvSpPr>
          <p:cNvPr id="170" name="文本框 169"/>
          <p:cNvSpPr txBox="1"/>
          <p:nvPr/>
        </p:nvSpPr>
        <p:spPr>
          <a:xfrm>
            <a:off x="691679" y="1030284"/>
            <a:ext cx="2660478" cy="58477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前期准备</a:t>
            </a:r>
            <a:endParaRPr lang="zh-CN" altLang="en-US" sz="3200" b="1" dirty="0">
              <a:latin typeface="微软雅黑" panose="020B0503020204020204" pitchFamily="34" charset="-122"/>
              <a:ea typeface="微软雅黑" panose="020B0503020204020204" pitchFamily="34" charset="-122"/>
            </a:endParaRPr>
          </a:p>
        </p:txBody>
      </p:sp>
      <p:sp>
        <p:nvSpPr>
          <p:cNvPr id="179" name="等腰三角形 178"/>
          <p:cNvSpPr/>
          <p:nvPr/>
        </p:nvSpPr>
        <p:spPr>
          <a:xfrm rot="5400000">
            <a:off x="-57097"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lumMod val="20000"/>
                  <a:lumOff val="80000"/>
                </a:schemeClr>
              </a:solidFill>
            </a:endParaRPr>
          </a:p>
        </p:txBody>
      </p:sp>
      <p:sp>
        <p:nvSpPr>
          <p:cNvPr id="20" name="文本框 19"/>
          <p:cNvSpPr txBox="1"/>
          <p:nvPr/>
        </p:nvSpPr>
        <p:spPr>
          <a:xfrm>
            <a:off x="691679" y="1023299"/>
            <a:ext cx="2660478" cy="58477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前期准备</a:t>
            </a:r>
            <a:endParaRPr lang="zh-CN" altLang="en-US" sz="3200" b="1" dirty="0">
              <a:latin typeface="微软雅黑" panose="020B0503020204020204" pitchFamily="34" charset="-122"/>
              <a:ea typeface="微软雅黑" panose="020B0503020204020204" pitchFamily="34" charset="-122"/>
            </a:endParaRPr>
          </a:p>
        </p:txBody>
      </p:sp>
      <p:sp>
        <p:nvSpPr>
          <p:cNvPr id="21" name="等腰三角形 20"/>
          <p:cNvSpPr/>
          <p:nvPr/>
        </p:nvSpPr>
        <p:spPr>
          <a:xfrm rot="5400000">
            <a:off x="-57097" y="991740"/>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lumMod val="20000"/>
                  <a:lumOff val="80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p:cNvPicPr/>
          <p:nvPr/>
        </p:nvPicPr>
        <p:blipFill>
          <a:blip r:embed="rId1" cstate="print">
            <a:extLst>
              <a:ext uri="{28A0092B-C50C-407E-A947-70E740481C1C}">
                <a14:useLocalDpi xmlns:a14="http://schemas.microsoft.com/office/drawing/2010/main" val="0"/>
              </a:ext>
            </a:extLst>
          </a:blip>
          <a:srcRect t="8201" r="1928" b="8495"/>
          <a:stretch>
            <a:fillRect/>
          </a:stretch>
        </p:blipFill>
        <p:spPr>
          <a:xfrm>
            <a:off x="3144470" y="743798"/>
            <a:ext cx="1274324" cy="1443266"/>
          </a:xfrm>
          <a:prstGeom prst="roundRect">
            <a:avLst/>
          </a:prstGeom>
        </p:spPr>
      </p:pic>
      <p:sp>
        <p:nvSpPr>
          <p:cNvPr id="136" name="矩形 135"/>
          <p:cNvSpPr/>
          <p:nvPr/>
        </p:nvSpPr>
        <p:spPr>
          <a:xfrm>
            <a:off x="398680" y="2035805"/>
            <a:ext cx="4579900" cy="2136146"/>
          </a:xfrm>
          <a:prstGeom prst="rect">
            <a:avLst/>
          </a:prstGeom>
          <a:solidFill>
            <a:srgbClr val="F6ECD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9392495" y="-2433"/>
            <a:ext cx="2589319" cy="800100"/>
          </a:xfrm>
          <a:prstGeom prst="rect">
            <a:avLst/>
          </a:prstGeom>
          <a:solidFill>
            <a:srgbClr val="0070C0"/>
          </a:solidFill>
          <a:ln w="12700" cap="flat" cmpd="sng">
            <a:noFill/>
            <a:bevel/>
          </a:ln>
        </p:spPr>
        <p:txBody>
          <a:bodyPr anchor="ctr"/>
          <a:lstStyle/>
          <a:p>
            <a:pPr algn="ctr" defTabSz="914400"/>
            <a:endParaRPr lang="zh-CN" altLang="zh-CN" dirty="0">
              <a:solidFill>
                <a:srgbClr val="FFFFFF"/>
              </a:solidFill>
              <a:highlight>
                <a:srgbClr val="FFFF00"/>
              </a:highlight>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2"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2"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2"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2"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60" name="直接连接符 24"/>
          <p:cNvSpPr>
            <a:spLocks noChangeShapeType="1"/>
          </p:cNvSpPr>
          <p:nvPr/>
        </p:nvSpPr>
        <p:spPr bwMode="auto">
          <a:xfrm>
            <a:off x="4639601"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1" name="直接连接符 24"/>
          <p:cNvSpPr>
            <a:spLocks noChangeShapeType="1"/>
          </p:cNvSpPr>
          <p:nvPr/>
        </p:nvSpPr>
        <p:spPr bwMode="auto">
          <a:xfrm>
            <a:off x="2524436" y="-2360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70" name="文本框 169"/>
          <p:cNvSpPr txBox="1"/>
          <p:nvPr/>
        </p:nvSpPr>
        <p:spPr>
          <a:xfrm>
            <a:off x="885702" y="1070582"/>
            <a:ext cx="2660478" cy="58477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可行性分析</a:t>
            </a:r>
            <a:endParaRPr lang="zh-CN" altLang="en-US" sz="3200" b="1" dirty="0">
              <a:latin typeface="微软雅黑" panose="020B0503020204020204" pitchFamily="34" charset="-122"/>
              <a:ea typeface="微软雅黑" panose="020B0503020204020204" pitchFamily="34" charset="-122"/>
            </a:endParaRPr>
          </a:p>
        </p:txBody>
      </p:sp>
      <p:sp>
        <p:nvSpPr>
          <p:cNvPr id="179" name="等腰三角形 178"/>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p:cNvGrpSpPr/>
          <p:nvPr/>
        </p:nvGrpSpPr>
        <p:grpSpPr>
          <a:xfrm>
            <a:off x="5399809" y="1759090"/>
            <a:ext cx="6234155" cy="1818825"/>
            <a:chOff x="7084087" y="2207955"/>
            <a:chExt cx="4809104" cy="1818825"/>
          </a:xfrm>
        </p:grpSpPr>
        <p:grpSp>
          <p:nvGrpSpPr>
            <p:cNvPr id="9" name="组合 8"/>
            <p:cNvGrpSpPr/>
            <p:nvPr/>
          </p:nvGrpSpPr>
          <p:grpSpPr>
            <a:xfrm>
              <a:off x="7084087" y="2534825"/>
              <a:ext cx="4809104" cy="1112760"/>
              <a:chOff x="5737668" y="1649945"/>
              <a:chExt cx="5822729" cy="1265756"/>
            </a:xfrm>
            <a:effectLst>
              <a:outerShdw blurRad="50800" dist="38100" algn="l" rotWithShape="0">
                <a:prstClr val="black">
                  <a:alpha val="40000"/>
                </a:prstClr>
              </a:outerShdw>
            </a:effectLst>
          </p:grpSpPr>
          <p:sp>
            <p:nvSpPr>
              <p:cNvPr id="11" name="矩形 10"/>
              <p:cNvSpPr/>
              <p:nvPr/>
            </p:nvSpPr>
            <p:spPr>
              <a:xfrm>
                <a:off x="5737668" y="1649945"/>
                <a:ext cx="5822729" cy="1265756"/>
              </a:xfrm>
              <a:prstGeom prst="rect">
                <a:avLst/>
              </a:prstGeom>
              <a:noFill/>
              <a:ln>
                <a:solidFill>
                  <a:srgbClr val="825934"/>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a:xfrm>
                <a:off x="5737668" y="1649946"/>
                <a:ext cx="1105336" cy="1240960"/>
              </a:xfrm>
              <a:prstGeom prst="rect">
                <a:avLst/>
              </a:prstGeom>
              <a:solidFill>
                <a:srgbClr val="CC99FF"/>
              </a:solidFill>
              <a:ln>
                <a:solidFill>
                  <a:srgbClr val="82593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技术可行性</a:t>
                </a: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7937612" y="2207955"/>
              <a:ext cx="3952465" cy="1818825"/>
            </a:xfrm>
            <a:prstGeom prst="rect">
              <a:avLst/>
            </a:prstGeom>
            <a:noFill/>
            <a:ln>
              <a:noFill/>
            </a:ln>
          </p:spPr>
          <p:txBody>
            <a:bodyPr wrap="square">
              <a:noAutofit/>
            </a:bodyPr>
            <a:lstStyle/>
            <a:p>
              <a:pPr algn="ctr">
                <a:lnSpc>
                  <a:spcPct val="130000"/>
                </a:lnSpc>
              </a:pP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对比学习 </a:t>
              </a:r>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风格向量</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在现有 </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NLP </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任务中已验证有效</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适合小样本的</a:t>
              </a: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小语种诗歌风格迁移</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开源模型</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支持模型微调</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5399809" y="3697873"/>
            <a:ext cx="6234155" cy="1112760"/>
            <a:chOff x="7084087" y="3682455"/>
            <a:chExt cx="4743363" cy="1112760"/>
          </a:xfrm>
        </p:grpSpPr>
        <p:grpSp>
          <p:nvGrpSpPr>
            <p:cNvPr id="14" name="组合 13"/>
            <p:cNvGrpSpPr/>
            <p:nvPr/>
          </p:nvGrpSpPr>
          <p:grpSpPr>
            <a:xfrm>
              <a:off x="7084087" y="3682455"/>
              <a:ext cx="4743363" cy="1112760"/>
              <a:chOff x="5737668" y="1359529"/>
              <a:chExt cx="5743132" cy="1265757"/>
            </a:xfrm>
            <a:effectLst>
              <a:outerShdw blurRad="50800" dist="38100" algn="l" rotWithShape="0">
                <a:prstClr val="black">
                  <a:alpha val="40000"/>
                </a:prstClr>
              </a:outerShdw>
            </a:effectLst>
          </p:grpSpPr>
          <p:sp>
            <p:nvSpPr>
              <p:cNvPr id="16" name="矩形 15"/>
              <p:cNvSpPr/>
              <p:nvPr/>
            </p:nvSpPr>
            <p:spPr>
              <a:xfrm>
                <a:off x="5737668" y="1359529"/>
                <a:ext cx="5743132" cy="1265757"/>
              </a:xfrm>
              <a:prstGeom prst="rect">
                <a:avLst/>
              </a:prstGeom>
              <a:noFill/>
              <a:ln>
                <a:solidFill>
                  <a:srgbClr val="825934"/>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a:off x="5737668" y="1368331"/>
                <a:ext cx="1105336" cy="1256954"/>
              </a:xfrm>
              <a:prstGeom prst="rect">
                <a:avLst/>
              </a:prstGeom>
              <a:solidFill>
                <a:srgbClr val="A347FF"/>
              </a:solidFill>
              <a:ln>
                <a:solidFill>
                  <a:srgbClr val="82593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团队可行性</a:t>
                </a: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sp>
          <p:nvSpPr>
            <p:cNvPr id="15" name="文本框 14"/>
            <p:cNvSpPr txBox="1"/>
            <p:nvPr/>
          </p:nvSpPr>
          <p:spPr>
            <a:xfrm>
              <a:off x="8025647" y="3732366"/>
              <a:ext cx="3741521" cy="857443"/>
            </a:xfrm>
            <a:prstGeom prst="rect">
              <a:avLst/>
            </a:prstGeom>
            <a:noFill/>
            <a:ln>
              <a:noFill/>
            </a:ln>
          </p:spPr>
          <p:txBody>
            <a:bodyPr wrap="square">
              <a:noAutofit/>
            </a:bodyPr>
            <a:lstStyle/>
            <a:p>
              <a:pPr algn="ctr">
                <a:lnSpc>
                  <a:spcPct val="130000"/>
                </a:lnSpc>
              </a:pP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跨学科结构</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：文学 </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小语种 </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 AI </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技术</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导师长期深耕</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跨文化文学研究，提供理论支撑</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工科成员</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具备模型训练、数据处理能力</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5402984" y="5309786"/>
            <a:ext cx="6303098" cy="1117329"/>
            <a:chOff x="7084086" y="3677886"/>
            <a:chExt cx="4743363" cy="1117329"/>
          </a:xfrm>
        </p:grpSpPr>
        <p:grpSp>
          <p:nvGrpSpPr>
            <p:cNvPr id="19" name="组合 18"/>
            <p:cNvGrpSpPr/>
            <p:nvPr/>
          </p:nvGrpSpPr>
          <p:grpSpPr>
            <a:xfrm>
              <a:off x="7084086" y="3677886"/>
              <a:ext cx="4743363" cy="1117329"/>
              <a:chOff x="5737667" y="1354332"/>
              <a:chExt cx="5743132" cy="1270954"/>
            </a:xfrm>
            <a:effectLst>
              <a:outerShdw blurRad="50800" dist="38100" algn="l" rotWithShape="0">
                <a:prstClr val="black">
                  <a:alpha val="40000"/>
                </a:prstClr>
              </a:outerShdw>
            </a:effectLst>
          </p:grpSpPr>
          <p:sp>
            <p:nvSpPr>
              <p:cNvPr id="33" name="矩形 32"/>
              <p:cNvSpPr/>
              <p:nvPr/>
            </p:nvSpPr>
            <p:spPr>
              <a:xfrm>
                <a:off x="5737667" y="1354332"/>
                <a:ext cx="5743132" cy="1270952"/>
              </a:xfrm>
              <a:prstGeom prst="rect">
                <a:avLst/>
              </a:prstGeom>
              <a:noFill/>
              <a:ln>
                <a:solidFill>
                  <a:srgbClr val="825934"/>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4" name="矩形 33"/>
              <p:cNvSpPr/>
              <p:nvPr/>
            </p:nvSpPr>
            <p:spPr>
              <a:xfrm>
                <a:off x="5737668" y="1354333"/>
                <a:ext cx="1105336" cy="1270953"/>
              </a:xfrm>
              <a:prstGeom prst="rect">
                <a:avLst/>
              </a:prstGeom>
              <a:solidFill>
                <a:srgbClr val="7030A0"/>
              </a:solidFill>
              <a:ln>
                <a:solidFill>
                  <a:srgbClr val="82593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任务规模可控</a:t>
                </a: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sp>
          <p:nvSpPr>
            <p:cNvPr id="32" name="文本框 31"/>
            <p:cNvSpPr txBox="1"/>
            <p:nvPr/>
          </p:nvSpPr>
          <p:spPr>
            <a:xfrm>
              <a:off x="8023798" y="3807622"/>
              <a:ext cx="3689784" cy="857443"/>
            </a:xfrm>
            <a:prstGeom prst="rect">
              <a:avLst/>
            </a:prstGeom>
            <a:noFill/>
            <a:ln>
              <a:noFill/>
            </a:ln>
          </p:spPr>
          <p:txBody>
            <a:bodyPr wrap="square">
              <a:noAutofit/>
            </a:bodyPr>
            <a:lstStyle/>
            <a:p>
              <a:pPr algn="ctr">
                <a:lnSpc>
                  <a:spcPct val="130000"/>
                </a:lnSpc>
              </a:pP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数据量可由团队自行构建</a:t>
              </a:r>
              <a:endPar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1600" b="1" dirty="0">
                  <a:solidFill>
                    <a:schemeClr val="tx1">
                      <a:lumMod val="85000"/>
                      <a:lumOff val="15000"/>
                    </a:schemeClr>
                  </a:solidFill>
                  <a:latin typeface="微软雅黑" panose="020B0503020204020204" pitchFamily="34" charset="-122"/>
                  <a:ea typeface="微软雅黑" panose="020B0503020204020204" pitchFamily="34" charset="-122"/>
                </a:rPr>
                <a:t>研究周期与任务</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划分明确，不超范围</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
        <p:nvSpPr>
          <p:cNvPr id="137" name="Body-2"/>
          <p:cNvSpPr/>
          <p:nvPr>
            <p:custDataLst>
              <p:tags r:id="rId5"/>
            </p:custDataLst>
          </p:nvPr>
        </p:nvSpPr>
        <p:spPr>
          <a:xfrm>
            <a:off x="2205990" y="2374265"/>
            <a:ext cx="2755265" cy="1706880"/>
          </a:xfrm>
          <a:prstGeom prst="rect">
            <a:avLst/>
          </a:prstGeom>
          <a:ln>
            <a:noFill/>
          </a:ln>
        </p:spPr>
        <p:txBody>
          <a:bodyPr wrap="square" lIns="91440" tIns="45720" rIns="91440" bIns="45720" anchor="t" anchorCtr="0">
            <a:spAutoFit/>
          </a:bodyPr>
          <a:lstStyle/>
          <a:p>
            <a:pPr marL="0" marR="0" algn="ctr">
              <a:lnSpc>
                <a:spcPct val="150000"/>
              </a:lnSpc>
            </a:pPr>
            <a:r>
              <a:rPr lang="zh-CN" altLang="en-US" sz="1400" dirty="0">
                <a:solidFill>
                  <a:srgbClr val="592680"/>
                </a:solidFill>
                <a:latin typeface="黑体" panose="02010609060101010101" charset="-122"/>
                <a:ea typeface="黑体" panose="02010609060101010101" charset="-122"/>
              </a:rPr>
              <a:t>朝鲜语系教授</a:t>
            </a:r>
            <a:endParaRPr lang="en-US" altLang="zh-CN" sz="1400" dirty="0">
              <a:solidFill>
                <a:srgbClr val="592680"/>
              </a:solidFill>
              <a:latin typeface="黑体" panose="02010609060101010101" charset="-122"/>
              <a:ea typeface="黑体" panose="02010609060101010101" charset="-122"/>
            </a:endParaRPr>
          </a:p>
          <a:p>
            <a:pPr algn="ctr">
              <a:lnSpc>
                <a:spcPct val="150000"/>
              </a:lnSpc>
            </a:pPr>
            <a:r>
              <a:rPr lang="zh-CN" altLang="en-US" sz="1400" dirty="0">
                <a:solidFill>
                  <a:srgbClr val="592680"/>
                </a:solidFill>
                <a:latin typeface="黑体" panose="02010609060101010101" charset="-122"/>
                <a:ea typeface="黑体" panose="02010609060101010101" charset="-122"/>
              </a:rPr>
              <a:t>外国语学院朝鲜语系系主任</a:t>
            </a:r>
            <a:endParaRPr lang="en-US" altLang="zh-CN" sz="1400" dirty="0">
              <a:solidFill>
                <a:srgbClr val="592680"/>
              </a:solidFill>
              <a:latin typeface="黑体" panose="02010609060101010101" charset="-122"/>
              <a:ea typeface="黑体" panose="02010609060101010101" charset="-122"/>
            </a:endParaRPr>
          </a:p>
          <a:p>
            <a:pPr algn="ctr">
              <a:lnSpc>
                <a:spcPct val="150000"/>
              </a:lnSpc>
            </a:pPr>
            <a:r>
              <a:rPr lang="zh-CN" altLang="en-US" sz="1400" dirty="0">
                <a:solidFill>
                  <a:srgbClr val="592680"/>
                </a:solidFill>
                <a:latin typeface="黑体" panose="02010609060101010101" charset="-122"/>
                <a:ea typeface="黑体" panose="02010609060101010101" charset="-122"/>
              </a:rPr>
              <a:t>韩国学研究中心主任</a:t>
            </a:r>
            <a:endParaRPr lang="en-US" altLang="zh-CN" sz="1400" dirty="0">
              <a:solidFill>
                <a:srgbClr val="592680"/>
              </a:solidFill>
              <a:latin typeface="黑体" panose="02010609060101010101" charset="-122"/>
              <a:ea typeface="黑体" panose="02010609060101010101" charset="-122"/>
            </a:endParaRPr>
          </a:p>
          <a:p>
            <a:pPr algn="ctr">
              <a:lnSpc>
                <a:spcPct val="150000"/>
              </a:lnSpc>
            </a:pPr>
            <a:r>
              <a:rPr lang="zh-CN" altLang="en-US" sz="1400" dirty="0">
                <a:solidFill>
                  <a:srgbClr val="592680"/>
                </a:solidFill>
                <a:latin typeface="黑体" panose="02010609060101010101" charset="-122"/>
                <a:ea typeface="黑体" panose="02010609060101010101" charset="-122"/>
              </a:rPr>
              <a:t>学术研究聚焦韩国文学</a:t>
            </a:r>
            <a:endParaRPr lang="zh-CN" altLang="en-US" sz="1400" dirty="0">
              <a:solidFill>
                <a:srgbClr val="592680"/>
              </a:solidFill>
              <a:latin typeface="黑体" panose="02010609060101010101" charset="-122"/>
              <a:ea typeface="黑体" panose="02010609060101010101" charset="-122"/>
            </a:endParaRPr>
          </a:p>
          <a:p>
            <a:pPr algn="ctr">
              <a:lnSpc>
                <a:spcPct val="150000"/>
              </a:lnSpc>
            </a:pPr>
            <a:r>
              <a:rPr lang="zh-CN" altLang="en-US" sz="1400" dirty="0">
                <a:solidFill>
                  <a:srgbClr val="592680"/>
                </a:solidFill>
                <a:latin typeface="黑体" panose="02010609060101010101" charset="-122"/>
                <a:ea typeface="黑体" panose="02010609060101010101" charset="-122"/>
              </a:rPr>
              <a:t>与中国文化关联性</a:t>
            </a:r>
            <a:endParaRPr lang="zh-CN" altLang="en-US" sz="1400" dirty="0">
              <a:solidFill>
                <a:srgbClr val="592680"/>
              </a:solidFill>
              <a:latin typeface="黑体" panose="02010609060101010101" charset="-122"/>
              <a:ea typeface="黑体" panose="02010609060101010101" charset="-122"/>
            </a:endParaRPr>
          </a:p>
        </p:txBody>
      </p:sp>
      <p:sp>
        <p:nvSpPr>
          <p:cNvPr id="138" name="Title-2"/>
          <p:cNvSpPr/>
          <p:nvPr>
            <p:custDataLst>
              <p:tags r:id="rId6"/>
            </p:custDataLst>
          </p:nvPr>
        </p:nvSpPr>
        <p:spPr>
          <a:xfrm>
            <a:off x="676910" y="2302510"/>
            <a:ext cx="1495425" cy="1803400"/>
          </a:xfrm>
          <a:prstGeom prst="roundRect">
            <a:avLst/>
          </a:prstGeom>
          <a:solidFill>
            <a:srgbClr val="7030A0"/>
          </a:solidFill>
          <a:ln w="57150" cap="rnd">
            <a:noFill/>
            <a:prstDash val="solid"/>
            <a:round/>
          </a:ln>
          <a:effectLst>
            <a:outerShdw blurRad="762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Autofit/>
          </a:bodyPr>
          <a:lstStyle/>
          <a:p>
            <a:pPr algn="ctr"/>
            <a:endParaRPr kumimoji="1" lang="zh-CN" altLang="en-US" sz="1600" b="1" dirty="0">
              <a:solidFill>
                <a:schemeClr val="bg1"/>
              </a:solidFill>
              <a:latin typeface="+mn-ea"/>
            </a:endParaRPr>
          </a:p>
          <a:p>
            <a:pPr algn="ctr"/>
            <a:endParaRPr kumimoji="1" lang="zh-CN" altLang="en-US" sz="1600" b="1" dirty="0">
              <a:solidFill>
                <a:schemeClr val="bg1"/>
              </a:solidFill>
              <a:latin typeface="+mn-ea"/>
            </a:endParaRPr>
          </a:p>
          <a:p>
            <a:pPr algn="ctr"/>
            <a:r>
              <a:rPr kumimoji="1" lang="zh-CN" altLang="en-US" sz="1600" b="1" dirty="0">
                <a:solidFill>
                  <a:schemeClr val="bg1"/>
                </a:solidFill>
                <a:latin typeface="+mn-ea"/>
              </a:rPr>
              <a:t>尹海燕</a:t>
            </a:r>
            <a:endParaRPr kumimoji="1" lang="zh-CN" altLang="en-US" sz="1600" b="1" dirty="0">
              <a:solidFill>
                <a:schemeClr val="bg1"/>
              </a:solidFill>
              <a:latin typeface="+mn-ea"/>
            </a:endParaRPr>
          </a:p>
        </p:txBody>
      </p:sp>
      <p:sp>
        <p:nvSpPr>
          <p:cNvPr id="140" name="矩形: 圆角 139"/>
          <p:cNvSpPr/>
          <p:nvPr/>
        </p:nvSpPr>
        <p:spPr>
          <a:xfrm>
            <a:off x="496309" y="1813436"/>
            <a:ext cx="1929541" cy="43848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指导教师</a:t>
            </a:r>
            <a:endParaRPr lang="zh-CN" altLang="en-US" sz="2000" b="1" dirty="0"/>
          </a:p>
        </p:txBody>
      </p:sp>
      <p:pic>
        <p:nvPicPr>
          <p:cNvPr id="146" name="图片 145"/>
          <p:cNvPicPr>
            <a:picLocks noChangeAspect="1"/>
          </p:cNvPicPr>
          <p:nvPr/>
        </p:nvPicPr>
        <p:blipFill>
          <a:blip r:embed="rId7"/>
          <a:stretch>
            <a:fillRect/>
          </a:stretch>
        </p:blipFill>
        <p:spPr>
          <a:xfrm>
            <a:off x="258167" y="4394320"/>
            <a:ext cx="4860925" cy="949692"/>
          </a:xfrm>
          <a:prstGeom prst="rect">
            <a:avLst/>
          </a:prstGeom>
        </p:spPr>
      </p:pic>
      <p:pic>
        <p:nvPicPr>
          <p:cNvPr id="148" name="图片 147"/>
          <p:cNvPicPr>
            <a:picLocks noChangeAspect="1"/>
          </p:cNvPicPr>
          <p:nvPr/>
        </p:nvPicPr>
        <p:blipFill>
          <a:blip r:embed="rId8"/>
          <a:stretch>
            <a:fillRect/>
          </a:stretch>
        </p:blipFill>
        <p:spPr>
          <a:xfrm>
            <a:off x="253581" y="5488821"/>
            <a:ext cx="4860925" cy="938294"/>
          </a:xfrm>
          <a:prstGeom prst="rect">
            <a:avLst/>
          </a:prstGeom>
        </p:spPr>
      </p:pic>
      <p:pic>
        <p:nvPicPr>
          <p:cNvPr id="21" name="图片 20" descr="3bacfc916905f89bc3df88852b89a60e"/>
          <p:cNvPicPr>
            <a:picLocks noChangeAspect="1"/>
          </p:cNvPicPr>
          <p:nvPr/>
        </p:nvPicPr>
        <p:blipFill>
          <a:blip r:embed="rId9"/>
          <a:srcRect t="5979"/>
          <a:stretch>
            <a:fillRect/>
          </a:stretch>
        </p:blipFill>
        <p:spPr>
          <a:xfrm>
            <a:off x="879475" y="2389505"/>
            <a:ext cx="1111885" cy="1295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9392495" y="-2433"/>
            <a:ext cx="2589319" cy="800100"/>
          </a:xfrm>
          <a:prstGeom prst="rect">
            <a:avLst/>
          </a:prstGeom>
          <a:solidFill>
            <a:srgbClr val="0070C0"/>
          </a:solidFill>
          <a:ln w="12700" cap="flat" cmpd="sng">
            <a:noFill/>
            <a:bevel/>
          </a:ln>
        </p:spPr>
        <p:txBody>
          <a:bodyPr anchor="ctr"/>
          <a:lstStyle/>
          <a:p>
            <a:pPr algn="ctr" defTabSz="914400"/>
            <a:endParaRPr lang="zh-CN" altLang="zh-CN" dirty="0">
              <a:solidFill>
                <a:srgbClr val="FFFFFF"/>
              </a:solidFill>
              <a:highlight>
                <a:srgbClr val="FFFF00"/>
              </a:highlight>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60" name="直接连接符 24"/>
          <p:cNvSpPr>
            <a:spLocks noChangeShapeType="1"/>
          </p:cNvSpPr>
          <p:nvPr/>
        </p:nvSpPr>
        <p:spPr bwMode="auto">
          <a:xfrm>
            <a:off x="4639601"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1" name="直接连接符 24"/>
          <p:cNvSpPr>
            <a:spLocks noChangeShapeType="1"/>
          </p:cNvSpPr>
          <p:nvPr/>
        </p:nvSpPr>
        <p:spPr bwMode="auto">
          <a:xfrm>
            <a:off x="2524436" y="-2360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70" name="文本框 169"/>
          <p:cNvSpPr txBox="1"/>
          <p:nvPr/>
        </p:nvSpPr>
        <p:spPr>
          <a:xfrm>
            <a:off x="885702" y="1070582"/>
            <a:ext cx="3356098" cy="58477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团队分工与预算</a:t>
            </a:r>
            <a:endParaRPr lang="zh-CN" altLang="en-US" sz="3200" b="1" dirty="0">
              <a:latin typeface="微软雅黑" panose="020B0503020204020204" pitchFamily="34" charset="-122"/>
              <a:ea typeface="微软雅黑" panose="020B0503020204020204" pitchFamily="34" charset="-122"/>
            </a:endParaRPr>
          </a:p>
        </p:txBody>
      </p:sp>
      <p:sp>
        <p:nvSpPr>
          <p:cNvPr id="179" name="等腰三角形 178"/>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圆角 19"/>
          <p:cNvSpPr/>
          <p:nvPr/>
        </p:nvSpPr>
        <p:spPr>
          <a:xfrm>
            <a:off x="1443990" y="2402840"/>
            <a:ext cx="3993515" cy="995680"/>
          </a:xfrm>
          <a:prstGeom prst="round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1" name="矩形: 圆角 20"/>
          <p:cNvSpPr/>
          <p:nvPr/>
        </p:nvSpPr>
        <p:spPr>
          <a:xfrm>
            <a:off x="1451610" y="3469640"/>
            <a:ext cx="3974465" cy="995680"/>
          </a:xfrm>
          <a:prstGeom prst="round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2" name="矩形: 圆角 21"/>
          <p:cNvSpPr/>
          <p:nvPr/>
        </p:nvSpPr>
        <p:spPr>
          <a:xfrm>
            <a:off x="1451610" y="4536440"/>
            <a:ext cx="3974465" cy="995680"/>
          </a:xfrm>
          <a:prstGeom prst="round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3" name="文本框 22"/>
          <p:cNvSpPr txBox="1"/>
          <p:nvPr/>
        </p:nvSpPr>
        <p:spPr>
          <a:xfrm>
            <a:off x="1586368" y="2444313"/>
            <a:ext cx="3840480" cy="922020"/>
          </a:xfrm>
          <a:prstGeom prst="rect">
            <a:avLst/>
          </a:prstGeom>
          <a:noFill/>
        </p:spPr>
        <p:txBody>
          <a:bodyPr wrap="none" rtlCol="0">
            <a:spAutoFit/>
          </a:bodyPr>
          <a:lstStyle/>
          <a:p>
            <a:pPr algn="l"/>
            <a:r>
              <a:rPr lang="zh-CN" altLang="en-US" sz="2000" b="1" dirty="0">
                <a:latin typeface="微软雅黑" panose="020B0503020204020204" pitchFamily="34" charset="-122"/>
                <a:ea typeface="微软雅黑" panose="020B0503020204020204" pitchFamily="34" charset="-122"/>
              </a:rPr>
              <a:t>王锦榕</a:t>
            </a:r>
            <a:r>
              <a:rPr lang="zh-CN" altLang="en-US" sz="2000" dirty="0">
                <a:latin typeface="微软雅黑" panose="020B0503020204020204" pitchFamily="34" charset="-122"/>
                <a:ea typeface="微软雅黑" panose="020B0503020204020204" pitchFamily="34" charset="-122"/>
              </a:rPr>
              <a:t>（负责人）</a:t>
            </a:r>
            <a:endParaRPr lang="en-US" altLang="zh-CN" sz="2000" dirty="0">
              <a:latin typeface="微软雅黑" panose="020B0503020204020204" pitchFamily="34" charset="-122"/>
              <a:ea typeface="微软雅黑" panose="020B0503020204020204" pitchFamily="34" charset="-122"/>
            </a:endParaRPr>
          </a:p>
          <a:p>
            <a:pPr algn="l"/>
            <a:r>
              <a:rPr lang="en-US" altLang="zh-CN" sz="1600" dirty="0">
                <a:solidFill>
                  <a:schemeClr val="accent1">
                    <a:lumMod val="75000"/>
                  </a:schemeClr>
                </a:solidFill>
                <a:latin typeface="宋体" panose="02010600030101010101" pitchFamily="2" charset="-122"/>
                <a:ea typeface="宋体" panose="02010600030101010101" pitchFamily="2" charset="-122"/>
              </a:rPr>
              <a:t>2024</a:t>
            </a:r>
            <a:r>
              <a:rPr lang="zh-CN" altLang="en-US" sz="1600" dirty="0">
                <a:solidFill>
                  <a:schemeClr val="accent1">
                    <a:lumMod val="75000"/>
                  </a:schemeClr>
                </a:solidFill>
                <a:latin typeface="宋体" panose="02010600030101010101" pitchFamily="2" charset="-122"/>
                <a:ea typeface="宋体" panose="02010600030101010101" pitchFamily="2" charset="-122"/>
              </a:rPr>
              <a:t>级外国语学院朝鲜语系</a:t>
            </a:r>
            <a:endParaRPr lang="en-US" altLang="zh-CN" sz="1600" dirty="0">
              <a:solidFill>
                <a:schemeClr val="accent1">
                  <a:lumMod val="75000"/>
                </a:schemeClr>
              </a:solidFill>
              <a:latin typeface="宋体" panose="02010600030101010101" pitchFamily="2" charset="-122"/>
              <a:ea typeface="宋体" panose="02010600030101010101" pitchFamily="2" charset="-122"/>
            </a:endParaRPr>
          </a:p>
          <a:p>
            <a:pPr algn="l"/>
            <a:r>
              <a:rPr lang="zh-CN" altLang="en-US" dirty="0">
                <a:sym typeface="+mn-ea"/>
              </a:rPr>
              <a:t>中韩诗歌研究、</a:t>
            </a:r>
            <a:r>
              <a:rPr lang="zh-CN" altLang="zh-CN" dirty="0"/>
              <a:t>项目统筹</a:t>
            </a:r>
            <a:r>
              <a:rPr lang="zh-CN" altLang="en-US" dirty="0"/>
              <a:t>、译本比较</a:t>
            </a:r>
            <a:endParaRPr lang="zh-CN" altLang="en-US"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1593850" y="3514090"/>
            <a:ext cx="3832860" cy="92202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刘璐毓</a:t>
            </a:r>
            <a:endParaRPr lang="en-US" altLang="zh-CN" sz="2000" b="1" dirty="0">
              <a:latin typeface="微软雅黑" panose="020B0503020204020204" pitchFamily="34" charset="-122"/>
              <a:ea typeface="微软雅黑" panose="020B0503020204020204" pitchFamily="34" charset="-122"/>
            </a:endParaRPr>
          </a:p>
          <a:p>
            <a:r>
              <a:rPr lang="en-US" altLang="zh-CN" sz="1600" dirty="0">
                <a:solidFill>
                  <a:schemeClr val="accent1">
                    <a:lumMod val="75000"/>
                  </a:schemeClr>
                </a:solidFill>
                <a:latin typeface="宋体" panose="02010600030101010101" pitchFamily="2" charset="-122"/>
                <a:ea typeface="宋体" panose="02010600030101010101" pitchFamily="2" charset="-122"/>
              </a:rPr>
              <a:t>2024</a:t>
            </a:r>
            <a:r>
              <a:rPr lang="zh-CN" altLang="en-US" sz="1600" dirty="0">
                <a:solidFill>
                  <a:schemeClr val="accent1">
                    <a:lumMod val="75000"/>
                  </a:schemeClr>
                </a:solidFill>
                <a:latin typeface="宋体" panose="02010600030101010101" pitchFamily="2" charset="-122"/>
                <a:ea typeface="宋体" panose="02010600030101010101" pitchFamily="2" charset="-122"/>
              </a:rPr>
              <a:t>级外国语学院俄语系</a:t>
            </a:r>
            <a:endParaRPr lang="en-US" altLang="zh-CN" sz="1600" dirty="0">
              <a:solidFill>
                <a:schemeClr val="accent1">
                  <a:lumMod val="75000"/>
                </a:schemeClr>
              </a:solidFill>
              <a:latin typeface="宋体" panose="02010600030101010101" pitchFamily="2" charset="-122"/>
              <a:ea typeface="宋体" panose="02010600030101010101" pitchFamily="2" charset="-122"/>
            </a:endParaRPr>
          </a:p>
          <a:p>
            <a:r>
              <a:rPr lang="zh-CN" altLang="en-US" dirty="0"/>
              <a:t>中俄诗歌研究、文献整理、答辩</a:t>
            </a:r>
            <a:endParaRPr lang="zh-CN" altLang="en-US"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1586368" y="4586988"/>
            <a:ext cx="3647152" cy="92333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闵振昌</a:t>
            </a:r>
            <a:endParaRPr lang="en-US" altLang="zh-CN" sz="2000" b="1" dirty="0">
              <a:latin typeface="微软雅黑" panose="020B0503020204020204" pitchFamily="34" charset="-122"/>
              <a:ea typeface="微软雅黑" panose="020B0503020204020204" pitchFamily="34" charset="-122"/>
            </a:endParaRPr>
          </a:p>
          <a:p>
            <a:r>
              <a:rPr lang="en-US" altLang="zh-CN" sz="1600" dirty="0">
                <a:solidFill>
                  <a:schemeClr val="accent1">
                    <a:lumMod val="75000"/>
                  </a:schemeClr>
                </a:solidFill>
                <a:latin typeface="宋体" panose="02010600030101010101" pitchFamily="2" charset="-122"/>
                <a:ea typeface="宋体" panose="02010600030101010101" pitchFamily="2" charset="-122"/>
              </a:rPr>
              <a:t>2024</a:t>
            </a:r>
            <a:r>
              <a:rPr lang="zh-CN" altLang="en-US" sz="1600" dirty="0">
                <a:solidFill>
                  <a:schemeClr val="accent1">
                    <a:lumMod val="75000"/>
                  </a:schemeClr>
                </a:solidFill>
                <a:latin typeface="宋体" panose="02010600030101010101" pitchFamily="2" charset="-122"/>
                <a:ea typeface="宋体" panose="02010600030101010101" pitchFamily="2" charset="-122"/>
              </a:rPr>
              <a:t>级智能软件与工程学院</a:t>
            </a:r>
            <a:endParaRPr lang="en-US" altLang="zh-CN" sz="1600" dirty="0">
              <a:solidFill>
                <a:schemeClr val="accent1">
                  <a:lumMod val="75000"/>
                </a:schemeClr>
              </a:solidFill>
              <a:latin typeface="宋体" panose="02010600030101010101" pitchFamily="2" charset="-122"/>
              <a:ea typeface="宋体" panose="02010600030101010101" pitchFamily="2" charset="-122"/>
            </a:endParaRPr>
          </a:p>
          <a:p>
            <a:r>
              <a:rPr lang="zh-CN" altLang="en-US" dirty="0"/>
              <a:t>模型设计、编码器训练、系统构建</a:t>
            </a:r>
            <a:endParaRPr lang="zh-CN" altLang="en-US" dirty="0">
              <a:latin typeface="微软雅黑" panose="020B0503020204020204" pitchFamily="34" charset="-122"/>
              <a:ea typeface="微软雅黑" panose="020B0503020204020204" pitchFamily="34" charset="-122"/>
            </a:endParaRPr>
          </a:p>
        </p:txBody>
      </p:sp>
      <p:grpSp>
        <p:nvGrpSpPr>
          <p:cNvPr id="26" name="组合 25"/>
          <p:cNvGrpSpPr/>
          <p:nvPr/>
        </p:nvGrpSpPr>
        <p:grpSpPr>
          <a:xfrm>
            <a:off x="1451428" y="5603143"/>
            <a:ext cx="3974465" cy="995680"/>
            <a:chOff x="2395555" y="5377699"/>
            <a:chExt cx="3974465" cy="995680"/>
          </a:xfrm>
        </p:grpSpPr>
        <p:sp>
          <p:nvSpPr>
            <p:cNvPr id="27" name="矩形: 圆角 26"/>
            <p:cNvSpPr/>
            <p:nvPr/>
          </p:nvSpPr>
          <p:spPr>
            <a:xfrm>
              <a:off x="2395555" y="5377699"/>
              <a:ext cx="3974465" cy="995680"/>
            </a:xfrm>
            <a:prstGeom prst="round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8" name="文本框 27"/>
            <p:cNvSpPr txBox="1"/>
            <p:nvPr/>
          </p:nvSpPr>
          <p:spPr>
            <a:xfrm>
              <a:off x="2503265" y="5426929"/>
              <a:ext cx="3416320" cy="92333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谢真婷</a:t>
              </a:r>
              <a:endParaRPr lang="en-US" altLang="zh-CN" sz="2000" b="1" dirty="0">
                <a:latin typeface="微软雅黑" panose="020B0503020204020204" pitchFamily="34" charset="-122"/>
                <a:ea typeface="微软雅黑" panose="020B0503020204020204" pitchFamily="34" charset="-122"/>
              </a:endParaRPr>
            </a:p>
            <a:p>
              <a:r>
                <a:rPr lang="en-US" altLang="zh-CN" sz="1600" dirty="0">
                  <a:solidFill>
                    <a:schemeClr val="accent1">
                      <a:lumMod val="75000"/>
                    </a:schemeClr>
                  </a:solidFill>
                  <a:latin typeface="宋体" panose="02010600030101010101" pitchFamily="2" charset="-122"/>
                  <a:ea typeface="宋体" panose="02010600030101010101" pitchFamily="2" charset="-122"/>
                </a:rPr>
                <a:t>2024</a:t>
              </a:r>
              <a:r>
                <a:rPr lang="zh-CN" altLang="en-US" sz="1600" dirty="0">
                  <a:solidFill>
                    <a:schemeClr val="accent1">
                      <a:lumMod val="75000"/>
                    </a:schemeClr>
                  </a:solidFill>
                  <a:latin typeface="宋体" panose="02010600030101010101" pitchFamily="2" charset="-122"/>
                  <a:ea typeface="宋体" panose="02010600030101010101" pitchFamily="2" charset="-122"/>
                </a:rPr>
                <a:t>级智能软件与工程学院</a:t>
              </a:r>
              <a:endParaRPr lang="en-US" altLang="zh-CN" sz="1600" dirty="0">
                <a:solidFill>
                  <a:schemeClr val="accent1">
                    <a:lumMod val="75000"/>
                  </a:schemeClr>
                </a:solidFill>
                <a:latin typeface="宋体" panose="02010600030101010101" pitchFamily="2" charset="-122"/>
                <a:ea typeface="宋体" panose="02010600030101010101" pitchFamily="2" charset="-122"/>
              </a:endParaRPr>
            </a:p>
            <a:p>
              <a:r>
                <a:rPr lang="zh-CN" altLang="en-US" dirty="0"/>
                <a:t>数据处理、实验调优、结果分析</a:t>
              </a:r>
              <a:endParaRPr lang="zh-CN" altLang="en-US" dirty="0">
                <a:latin typeface="微软雅黑" panose="020B0503020204020204" pitchFamily="34" charset="-122"/>
                <a:ea typeface="微软雅黑" panose="020B0503020204020204" pitchFamily="34" charset="-122"/>
              </a:endParaRPr>
            </a:p>
          </p:txBody>
        </p:sp>
      </p:grpSp>
      <p:sp>
        <p:nvSpPr>
          <p:cNvPr id="29" name="矩形: 圆角 28"/>
          <p:cNvSpPr/>
          <p:nvPr/>
        </p:nvSpPr>
        <p:spPr>
          <a:xfrm>
            <a:off x="2400943" y="1762195"/>
            <a:ext cx="1929541" cy="566525"/>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团队分工</a:t>
            </a:r>
            <a:endParaRPr lang="zh-CN" altLang="en-US" sz="2400" b="1" dirty="0"/>
          </a:p>
        </p:txBody>
      </p:sp>
      <p:sp>
        <p:nvSpPr>
          <p:cNvPr id="45" name="矩形: 圆角 44"/>
          <p:cNvSpPr/>
          <p:nvPr/>
        </p:nvSpPr>
        <p:spPr>
          <a:xfrm>
            <a:off x="7992443" y="1762194"/>
            <a:ext cx="1929541" cy="566525"/>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项目预算</a:t>
            </a:r>
            <a:endParaRPr lang="zh-CN" altLang="en-US" sz="2400" b="1" dirty="0"/>
          </a:p>
        </p:txBody>
      </p:sp>
      <p:pic>
        <p:nvPicPr>
          <p:cNvPr id="2" name="图片 1"/>
          <p:cNvPicPr>
            <a:picLocks noChangeAspect="1"/>
          </p:cNvPicPr>
          <p:nvPr/>
        </p:nvPicPr>
        <p:blipFill>
          <a:blip r:embed="rId4"/>
          <a:stretch>
            <a:fillRect/>
          </a:stretch>
        </p:blipFill>
        <p:spPr>
          <a:xfrm>
            <a:off x="6804660" y="2409190"/>
            <a:ext cx="4305935" cy="41617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6590581" y="4354252"/>
            <a:ext cx="4222565" cy="1051843"/>
            <a:chOff x="7012113" y="3943297"/>
            <a:chExt cx="4304182" cy="2152690"/>
          </a:xfrm>
        </p:grpSpPr>
        <p:sp>
          <p:nvSpPr>
            <p:cNvPr id="53" name="矩形: 圆角 52"/>
            <p:cNvSpPr/>
            <p:nvPr/>
          </p:nvSpPr>
          <p:spPr>
            <a:xfrm>
              <a:off x="7012113" y="3943297"/>
              <a:ext cx="4304182" cy="2152690"/>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endParaRPr lang="zh-CN" altLang="en-US" sz="2000" kern="0" dirty="0">
                <a:solidFill>
                  <a:srgbClr val="768394"/>
                </a:solidFill>
                <a:latin typeface="Arial" panose="020B0604020202020204"/>
                <a:ea typeface="微软雅黑" panose="020B0503020204020204" pitchFamily="34" charset="-122"/>
              </a:endParaRPr>
            </a:p>
          </p:txBody>
        </p:sp>
        <p:sp>
          <p:nvSpPr>
            <p:cNvPr id="54" name="TextBox 49"/>
            <p:cNvSpPr txBox="1"/>
            <p:nvPr/>
          </p:nvSpPr>
          <p:spPr>
            <a:xfrm flipH="1">
              <a:off x="7446092" y="3980977"/>
              <a:ext cx="223783" cy="707885"/>
            </a:xfrm>
            <a:prstGeom prst="rect">
              <a:avLst/>
            </a:prstGeom>
            <a:noFill/>
            <a:ln>
              <a:noFill/>
            </a:ln>
            <a:effectLst>
              <a:outerShdw blurRad="50800" dist="38100" dir="10800000" algn="r" rotWithShape="0">
                <a:prstClr val="black">
                  <a:alpha val="20000"/>
                </a:prstClr>
              </a:outerShdw>
            </a:effectLst>
          </p:spPr>
          <p:txBody>
            <a:bodyPr>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457200">
                <a:lnSpc>
                  <a:spcPct val="100000"/>
                </a:lnSpc>
                <a:defRPr/>
              </a:pPr>
              <a:endParaRPr lang="zh-CN" altLang="en-US" sz="4000" dirty="0">
                <a:solidFill>
                  <a:srgbClr val="FFFFFF"/>
                </a:solidFill>
                <a:latin typeface="Arial Black" panose="020B0A04020102020204"/>
                <a:cs typeface="Times New Roman" panose="02020603050405020304" charset="0"/>
              </a:endParaRPr>
            </a:p>
          </p:txBody>
        </p:sp>
      </p:grpSp>
      <p:grpSp>
        <p:nvGrpSpPr>
          <p:cNvPr id="49" name="组合 48"/>
          <p:cNvGrpSpPr/>
          <p:nvPr/>
        </p:nvGrpSpPr>
        <p:grpSpPr>
          <a:xfrm>
            <a:off x="6590581" y="3129505"/>
            <a:ext cx="4222565" cy="1051843"/>
            <a:chOff x="7012113" y="3943297"/>
            <a:chExt cx="4304182" cy="2152690"/>
          </a:xfrm>
        </p:grpSpPr>
        <p:sp>
          <p:nvSpPr>
            <p:cNvPr id="50" name="矩形: 圆角 49"/>
            <p:cNvSpPr/>
            <p:nvPr/>
          </p:nvSpPr>
          <p:spPr>
            <a:xfrm>
              <a:off x="7012113" y="3943297"/>
              <a:ext cx="4304182" cy="2152690"/>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endParaRPr lang="zh-CN" altLang="en-US" sz="2000" kern="0" dirty="0">
                <a:solidFill>
                  <a:srgbClr val="768394"/>
                </a:solidFill>
                <a:latin typeface="Arial" panose="020B0604020202020204"/>
                <a:ea typeface="微软雅黑" panose="020B0503020204020204" pitchFamily="34" charset="-122"/>
              </a:endParaRPr>
            </a:p>
          </p:txBody>
        </p:sp>
        <p:sp>
          <p:nvSpPr>
            <p:cNvPr id="51" name="TextBox 49"/>
            <p:cNvSpPr txBox="1"/>
            <p:nvPr/>
          </p:nvSpPr>
          <p:spPr>
            <a:xfrm flipH="1">
              <a:off x="7446092" y="3980977"/>
              <a:ext cx="223783" cy="707885"/>
            </a:xfrm>
            <a:prstGeom prst="rect">
              <a:avLst/>
            </a:prstGeom>
            <a:noFill/>
            <a:ln>
              <a:noFill/>
            </a:ln>
            <a:effectLst>
              <a:outerShdw blurRad="50800" dist="38100" dir="10800000" algn="r" rotWithShape="0">
                <a:prstClr val="black">
                  <a:alpha val="20000"/>
                </a:prstClr>
              </a:outerShdw>
            </a:effectLst>
          </p:spPr>
          <p:txBody>
            <a:bodyPr>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457200">
                <a:lnSpc>
                  <a:spcPct val="100000"/>
                </a:lnSpc>
                <a:defRPr/>
              </a:pPr>
              <a:endParaRPr lang="zh-CN" altLang="en-US" sz="4000" dirty="0">
                <a:solidFill>
                  <a:srgbClr val="FFFFFF"/>
                </a:solidFill>
                <a:latin typeface="Arial Black" panose="020B0A04020102020204"/>
                <a:cs typeface="Times New Roman" panose="02020603050405020304" charset="0"/>
              </a:endParaRPr>
            </a:p>
          </p:txBody>
        </p:sp>
      </p:grpSp>
      <p:grpSp>
        <p:nvGrpSpPr>
          <p:cNvPr id="34" name="组合 33"/>
          <p:cNvGrpSpPr/>
          <p:nvPr/>
        </p:nvGrpSpPr>
        <p:grpSpPr>
          <a:xfrm>
            <a:off x="6590582" y="1901949"/>
            <a:ext cx="4222565" cy="1051843"/>
            <a:chOff x="7012113" y="3943297"/>
            <a:chExt cx="4304182" cy="2152690"/>
          </a:xfrm>
        </p:grpSpPr>
        <p:sp>
          <p:nvSpPr>
            <p:cNvPr id="35" name="矩形: 圆角 34"/>
            <p:cNvSpPr/>
            <p:nvPr/>
          </p:nvSpPr>
          <p:spPr>
            <a:xfrm>
              <a:off x="7012113" y="3943297"/>
              <a:ext cx="4304182" cy="2152690"/>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endParaRPr lang="zh-CN" altLang="en-US" sz="2000" kern="0" dirty="0">
                <a:solidFill>
                  <a:srgbClr val="768394"/>
                </a:solidFill>
                <a:latin typeface="Arial" panose="020B0604020202020204"/>
                <a:ea typeface="微软雅黑" panose="020B0503020204020204" pitchFamily="34" charset="-122"/>
              </a:endParaRPr>
            </a:p>
          </p:txBody>
        </p:sp>
        <p:sp>
          <p:nvSpPr>
            <p:cNvPr id="48" name="TextBox 49"/>
            <p:cNvSpPr txBox="1"/>
            <p:nvPr/>
          </p:nvSpPr>
          <p:spPr>
            <a:xfrm flipH="1">
              <a:off x="7446092" y="3980977"/>
              <a:ext cx="223783" cy="707885"/>
            </a:xfrm>
            <a:prstGeom prst="rect">
              <a:avLst/>
            </a:prstGeom>
            <a:noFill/>
            <a:ln>
              <a:noFill/>
            </a:ln>
            <a:effectLst>
              <a:outerShdw blurRad="50800" dist="38100" dir="10800000" algn="r" rotWithShape="0">
                <a:prstClr val="black">
                  <a:alpha val="20000"/>
                </a:prstClr>
              </a:outerShdw>
            </a:effectLst>
          </p:spPr>
          <p:txBody>
            <a:bodyPr>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457200">
                <a:lnSpc>
                  <a:spcPct val="100000"/>
                </a:lnSpc>
                <a:defRPr/>
              </a:pPr>
              <a:endParaRPr lang="zh-CN" altLang="en-US" sz="4000" dirty="0">
                <a:solidFill>
                  <a:srgbClr val="FFFFFF"/>
                </a:solidFill>
                <a:latin typeface="Arial Black" panose="020B0A04020102020204"/>
                <a:cs typeface="Times New Roman" panose="02020603050405020304" charset="0"/>
              </a:endParaRPr>
            </a:p>
          </p:txBody>
        </p:sp>
      </p:grpSp>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9392495" y="-2433"/>
            <a:ext cx="2589319" cy="800100"/>
          </a:xfrm>
          <a:prstGeom prst="rect">
            <a:avLst/>
          </a:prstGeom>
          <a:solidFill>
            <a:srgbClr val="0070C0"/>
          </a:solidFill>
          <a:ln w="12700" cap="flat" cmpd="sng">
            <a:noFill/>
            <a:bevel/>
          </a:ln>
        </p:spPr>
        <p:txBody>
          <a:bodyPr anchor="ctr"/>
          <a:lstStyle/>
          <a:p>
            <a:pPr algn="ctr" defTabSz="914400"/>
            <a:endParaRPr lang="zh-CN" altLang="zh-CN" dirty="0">
              <a:solidFill>
                <a:srgbClr val="FFFFFF"/>
              </a:solidFill>
              <a:highlight>
                <a:srgbClr val="FFFF00"/>
              </a:highlight>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60" name="直接连接符 24"/>
          <p:cNvSpPr>
            <a:spLocks noChangeShapeType="1"/>
          </p:cNvSpPr>
          <p:nvPr/>
        </p:nvSpPr>
        <p:spPr bwMode="auto">
          <a:xfrm>
            <a:off x="4639601"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1" name="直接连接符 24"/>
          <p:cNvSpPr>
            <a:spLocks noChangeShapeType="1"/>
          </p:cNvSpPr>
          <p:nvPr/>
        </p:nvSpPr>
        <p:spPr bwMode="auto">
          <a:xfrm>
            <a:off x="2524436" y="-2360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70" name="文本框 169"/>
          <p:cNvSpPr txBox="1"/>
          <p:nvPr/>
        </p:nvSpPr>
        <p:spPr>
          <a:xfrm>
            <a:off x="885702" y="1070582"/>
            <a:ext cx="3356098" cy="58477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项目进展安排</a:t>
            </a:r>
            <a:endParaRPr lang="zh-CN" altLang="en-US" sz="3200" b="1" dirty="0">
              <a:latin typeface="微软雅黑" panose="020B0503020204020204" pitchFamily="34" charset="-122"/>
              <a:ea typeface="微软雅黑" panose="020B0503020204020204" pitchFamily="34" charset="-122"/>
            </a:endParaRPr>
          </a:p>
        </p:txBody>
      </p:sp>
      <p:sp>
        <p:nvSpPr>
          <p:cNvPr id="179" name="等腰三角形 178"/>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流程图: 终止 1"/>
          <p:cNvSpPr/>
          <p:nvPr>
            <p:custDataLst>
              <p:tags r:id="rId4"/>
            </p:custDataLst>
          </p:nvPr>
        </p:nvSpPr>
        <p:spPr>
          <a:xfrm>
            <a:off x="1761395" y="2046577"/>
            <a:ext cx="4025540" cy="743052"/>
          </a:xfrm>
          <a:prstGeom prst="flowChartTerminator">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anose="020B0503020204020204" pitchFamily="34" charset="-122"/>
                <a:ea typeface="微软雅黑" panose="020B0503020204020204" pitchFamily="34" charset="-122"/>
              </a:rPr>
              <a:t>2025.12-2026.02 </a:t>
            </a:r>
            <a:r>
              <a:rPr lang="zh-CN" altLang="en-US" sz="2000" b="1" dirty="0">
                <a:latin typeface="微软雅黑" panose="020B0503020204020204" pitchFamily="34" charset="-122"/>
                <a:ea typeface="微软雅黑" panose="020B0503020204020204" pitchFamily="34" charset="-122"/>
              </a:rPr>
              <a:t>第一阶段</a:t>
            </a:r>
            <a:endParaRPr lang="en-US" altLang="zh-CN" sz="2000" b="1" dirty="0">
              <a:latin typeface="微软雅黑" panose="020B0503020204020204" pitchFamily="34" charset="-122"/>
              <a:ea typeface="微软雅黑" panose="020B0503020204020204" pitchFamily="34" charset="-122"/>
            </a:endParaRPr>
          </a:p>
          <a:p>
            <a:pPr algn="ctr"/>
            <a:r>
              <a:rPr lang="zh-CN" altLang="en-US" sz="2000" b="1" dirty="0">
                <a:latin typeface="微软雅黑" panose="020B0503020204020204" pitchFamily="34" charset="-122"/>
                <a:ea typeface="微软雅黑" panose="020B0503020204020204" pitchFamily="34" charset="-122"/>
              </a:rPr>
              <a:t>文献</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数据准备</a:t>
            </a:r>
            <a:endParaRPr lang="zh-CN" altLang="en-US" sz="2000" b="1" dirty="0">
              <a:latin typeface="微软雅黑" panose="020B0503020204020204" pitchFamily="34" charset="-122"/>
              <a:ea typeface="微软雅黑" panose="020B0503020204020204" pitchFamily="34" charset="-122"/>
            </a:endParaRPr>
          </a:p>
        </p:txBody>
      </p:sp>
      <p:sp>
        <p:nvSpPr>
          <p:cNvPr id="9" name="文本框 8"/>
          <p:cNvSpPr txBox="1"/>
          <p:nvPr>
            <p:custDataLst>
              <p:tags r:id="rId5"/>
            </p:custDataLst>
          </p:nvPr>
        </p:nvSpPr>
        <p:spPr>
          <a:xfrm>
            <a:off x="6899217" y="1960490"/>
            <a:ext cx="5014591" cy="923330"/>
          </a:xfrm>
          <a:prstGeom prst="rect">
            <a:avLst/>
          </a:prstGeom>
          <a:noFill/>
        </p:spPr>
        <p:txBody>
          <a:bodyPr wrap="square" rtlCol="0">
            <a:spAutoFit/>
          </a:bodyPr>
          <a:lstStyle/>
          <a:p>
            <a:pPr marL="285750" indent="-285750">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完成理论梳理</a:t>
            </a:r>
            <a:endParaRPr lang="zh-CN" altLang="en-US"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初版语料库整理</a:t>
            </a:r>
            <a:endParaRPr lang="zh-CN" altLang="en-US"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风格维度框架初稿</a:t>
            </a:r>
            <a:endParaRPr lang="zh-CN" altLang="en-US" b="1" dirty="0">
              <a:latin typeface="宋体" panose="02010600030101010101" pitchFamily="2" charset="-122"/>
              <a:ea typeface="宋体" panose="02010600030101010101" pitchFamily="2" charset="-122"/>
            </a:endParaRPr>
          </a:p>
        </p:txBody>
      </p:sp>
      <p:sp>
        <p:nvSpPr>
          <p:cNvPr id="11" name="文本框 10"/>
          <p:cNvSpPr txBox="1"/>
          <p:nvPr>
            <p:custDataLst>
              <p:tags r:id="rId6"/>
            </p:custDataLst>
          </p:nvPr>
        </p:nvSpPr>
        <p:spPr>
          <a:xfrm>
            <a:off x="6899572" y="3189531"/>
            <a:ext cx="5386943" cy="922020"/>
          </a:xfrm>
          <a:prstGeom prst="rect">
            <a:avLst/>
          </a:prstGeom>
          <a:noFill/>
        </p:spPr>
        <p:txBody>
          <a:bodyPr wrap="square" rtlCol="0">
            <a:spAutoFit/>
          </a:bodyPr>
          <a:lstStyle/>
          <a:p>
            <a:pPr marL="285750" indent="-285750">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训练语义编码器</a:t>
            </a:r>
            <a:endParaRPr lang="zh-CN" altLang="en-US"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构建文化风格向量</a:t>
            </a:r>
            <a:endParaRPr lang="zh-CN" altLang="en-US"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b="1" dirty="0">
                <a:latin typeface="宋体" panose="02010600030101010101" pitchFamily="2" charset="-122"/>
                <a:ea typeface="宋体" panose="02010600030101010101" pitchFamily="2" charset="-122"/>
                <a:sym typeface="+mn-ea"/>
              </a:rPr>
              <a:t>初步构建</a:t>
            </a:r>
            <a:r>
              <a:rPr lang="zh-CN" altLang="en-US" b="1" dirty="0">
                <a:latin typeface="宋体" panose="02010600030101010101" pitchFamily="2" charset="-122"/>
                <a:ea typeface="宋体" panose="02010600030101010101" pitchFamily="2" charset="-122"/>
              </a:rPr>
              <a:t>评价体系</a:t>
            </a:r>
            <a:endParaRPr lang="zh-CN" altLang="en-US" b="1" dirty="0">
              <a:latin typeface="宋体" panose="02010600030101010101" pitchFamily="2" charset="-122"/>
              <a:ea typeface="宋体" panose="02010600030101010101" pitchFamily="2" charset="-122"/>
            </a:endParaRPr>
          </a:p>
        </p:txBody>
      </p:sp>
      <p:sp>
        <p:nvSpPr>
          <p:cNvPr id="12" name="流程图: 终止 11"/>
          <p:cNvSpPr/>
          <p:nvPr>
            <p:custDataLst>
              <p:tags r:id="rId7"/>
            </p:custDataLst>
          </p:nvPr>
        </p:nvSpPr>
        <p:spPr>
          <a:xfrm>
            <a:off x="1761395" y="4500239"/>
            <a:ext cx="4058048" cy="723798"/>
          </a:xfrm>
          <a:prstGeom prst="flowChartTerminator">
            <a:avLst/>
          </a:prstGeom>
          <a:solidFill>
            <a:srgbClr val="BE9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7030A0"/>
                </a:solidFill>
                <a:latin typeface="微软雅黑" panose="020B0503020204020204" pitchFamily="34" charset="-122"/>
                <a:ea typeface="微软雅黑" panose="020B0503020204020204" pitchFamily="34" charset="-122"/>
              </a:rPr>
              <a:t>2026.07-2026.10</a:t>
            </a:r>
            <a:r>
              <a:rPr lang="zh-CN" altLang="en-US" sz="2000" b="1" dirty="0">
                <a:solidFill>
                  <a:srgbClr val="7030A0"/>
                </a:solidFill>
                <a:latin typeface="微软雅黑" panose="020B0503020204020204" pitchFamily="34" charset="-122"/>
                <a:ea typeface="微软雅黑" panose="020B0503020204020204" pitchFamily="34" charset="-122"/>
              </a:rPr>
              <a:t> 第三阶段</a:t>
            </a:r>
            <a:endParaRPr lang="en-US" altLang="zh-CN" sz="2000" b="1" dirty="0">
              <a:solidFill>
                <a:srgbClr val="7030A0"/>
              </a:solidFill>
              <a:latin typeface="微软雅黑" panose="020B0503020204020204" pitchFamily="34" charset="-122"/>
              <a:ea typeface="微软雅黑" panose="020B0503020204020204" pitchFamily="34" charset="-122"/>
            </a:endParaRPr>
          </a:p>
          <a:p>
            <a:pPr algn="ctr"/>
            <a:r>
              <a:rPr lang="zh-CN" altLang="en-US" sz="2000" b="1" dirty="0">
                <a:solidFill>
                  <a:srgbClr val="7030A0"/>
                </a:solidFill>
                <a:latin typeface="微软雅黑" panose="020B0503020204020204" pitchFamily="34" charset="-122"/>
                <a:ea typeface="微软雅黑" panose="020B0503020204020204" pitchFamily="34" charset="-122"/>
              </a:rPr>
              <a:t>系统优化与评估</a:t>
            </a:r>
            <a:endParaRPr lang="zh-CN" altLang="en-US" sz="2000" b="1" dirty="0">
              <a:solidFill>
                <a:srgbClr val="7030A0"/>
              </a:solidFill>
              <a:latin typeface="微软雅黑" panose="020B0503020204020204" pitchFamily="34" charset="-122"/>
              <a:ea typeface="微软雅黑" panose="020B0503020204020204" pitchFamily="34" charset="-122"/>
            </a:endParaRPr>
          </a:p>
        </p:txBody>
      </p:sp>
      <p:sp>
        <p:nvSpPr>
          <p:cNvPr id="13" name="文本框 12"/>
          <p:cNvSpPr txBox="1"/>
          <p:nvPr>
            <p:custDataLst>
              <p:tags r:id="rId8"/>
            </p:custDataLst>
          </p:nvPr>
        </p:nvSpPr>
        <p:spPr>
          <a:xfrm>
            <a:off x="6899572" y="4398672"/>
            <a:ext cx="4440872" cy="922020"/>
          </a:xfrm>
          <a:prstGeom prst="rect">
            <a:avLst/>
          </a:prstGeom>
          <a:noFill/>
        </p:spPr>
        <p:txBody>
          <a:bodyPr wrap="square" rtlCol="0">
            <a:spAutoFit/>
          </a:bodyPr>
          <a:lstStyle/>
          <a:p>
            <a:pPr marL="285750" indent="-285750">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风格匹配与语义保真度评估</a:t>
            </a:r>
            <a:endParaRPr lang="zh-CN" altLang="en-US"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完成评价体系构建</a:t>
            </a:r>
            <a:endParaRPr lang="zh-CN" altLang="en-US"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小样本小语种扩展</a:t>
            </a:r>
            <a:endParaRPr lang="en-US" altLang="zh-CN" b="1" dirty="0">
              <a:latin typeface="宋体" panose="02010600030101010101" pitchFamily="2" charset="-122"/>
              <a:ea typeface="宋体" panose="02010600030101010101" pitchFamily="2" charset="-122"/>
            </a:endParaRPr>
          </a:p>
        </p:txBody>
      </p:sp>
      <p:cxnSp>
        <p:nvCxnSpPr>
          <p:cNvPr id="14" name="直接连接符 13"/>
          <p:cNvCxnSpPr/>
          <p:nvPr>
            <p:custDataLst>
              <p:tags r:id="rId9"/>
            </p:custDataLst>
          </p:nvPr>
        </p:nvCxnSpPr>
        <p:spPr>
          <a:xfrm>
            <a:off x="958294" y="3017679"/>
            <a:ext cx="4689797" cy="0"/>
          </a:xfrm>
          <a:prstGeom prst="line">
            <a:avLst/>
          </a:prstGeom>
          <a:noFill/>
          <a:ln w="9525" cap="flat" cmpd="sng" algn="ctr">
            <a:solidFill>
              <a:srgbClr val="825934"/>
            </a:solidFill>
            <a:prstDash val="solid"/>
          </a:ln>
          <a:effectLst/>
        </p:spPr>
      </p:cxnSp>
      <p:pic>
        <p:nvPicPr>
          <p:cNvPr id="15" name="图形 14" descr="集体讨论"/>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6566" y="2067960"/>
            <a:ext cx="687520" cy="687520"/>
          </a:xfrm>
          <a:prstGeom prst="rect">
            <a:avLst/>
          </a:prstGeom>
        </p:spPr>
      </p:pic>
      <p:pic>
        <p:nvPicPr>
          <p:cNvPr id="16" name="图形 15" descr="峡谷场景"/>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1680" y="3269600"/>
            <a:ext cx="570347" cy="570347"/>
          </a:xfrm>
          <a:prstGeom prst="rect">
            <a:avLst/>
          </a:prstGeom>
        </p:spPr>
      </p:pic>
      <p:pic>
        <p:nvPicPr>
          <p:cNvPr id="17" name="图形 16" descr="打开的书"/>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26566" y="4514159"/>
            <a:ext cx="635213" cy="635213"/>
          </a:xfrm>
          <a:prstGeom prst="rect">
            <a:avLst/>
          </a:prstGeom>
        </p:spPr>
      </p:pic>
      <p:pic>
        <p:nvPicPr>
          <p:cNvPr id="18" name="图形 17" descr="钥匙"/>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29488" y="5740742"/>
            <a:ext cx="629368" cy="754244"/>
          </a:xfrm>
          <a:prstGeom prst="rect">
            <a:avLst/>
          </a:prstGeom>
        </p:spPr>
      </p:pic>
      <p:sp>
        <p:nvSpPr>
          <p:cNvPr id="19" name="流程图: 终止 18"/>
          <p:cNvSpPr/>
          <p:nvPr/>
        </p:nvSpPr>
        <p:spPr>
          <a:xfrm>
            <a:off x="1761395" y="5800754"/>
            <a:ext cx="3992198" cy="694232"/>
          </a:xfrm>
          <a:prstGeom prst="flowChartTerminator">
            <a:avLst/>
          </a:prstGeom>
          <a:solidFill>
            <a:srgbClr val="BE9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7030A0"/>
                </a:solidFill>
                <a:latin typeface="微软雅黑" panose="020B0503020204020204" pitchFamily="34" charset="-122"/>
                <a:ea typeface="微软雅黑" panose="020B0503020204020204" pitchFamily="34" charset="-122"/>
              </a:rPr>
              <a:t>2026.11-2026.12</a:t>
            </a:r>
            <a:r>
              <a:rPr lang="zh-CN" altLang="en-US" sz="2000" b="1" dirty="0">
                <a:solidFill>
                  <a:srgbClr val="7030A0"/>
                </a:solidFill>
                <a:latin typeface="微软雅黑" panose="020B0503020204020204" pitchFamily="34" charset="-122"/>
                <a:ea typeface="微软雅黑" panose="020B0503020204020204" pitchFamily="34" charset="-122"/>
              </a:rPr>
              <a:t>：第四阶段</a:t>
            </a:r>
            <a:endParaRPr lang="en-US" altLang="zh-CN" sz="2000" b="1" dirty="0">
              <a:solidFill>
                <a:srgbClr val="7030A0"/>
              </a:solidFill>
              <a:latin typeface="微软雅黑" panose="020B0503020204020204" pitchFamily="34" charset="-122"/>
              <a:ea typeface="微软雅黑" panose="020B0503020204020204" pitchFamily="34" charset="-122"/>
            </a:endParaRPr>
          </a:p>
          <a:p>
            <a:pPr algn="ctr"/>
            <a:r>
              <a:rPr lang="zh-CN" altLang="en-US" sz="2000" b="1" dirty="0">
                <a:solidFill>
                  <a:srgbClr val="7030A0"/>
                </a:solidFill>
                <a:latin typeface="微软雅黑" panose="020B0503020204020204" pitchFamily="34" charset="-122"/>
                <a:ea typeface="微软雅黑" panose="020B0503020204020204" pitchFamily="34" charset="-122"/>
              </a:rPr>
              <a:t>成果整理与总结</a:t>
            </a:r>
            <a:endParaRPr lang="zh-CN" altLang="en-US" sz="2000" b="1" dirty="0">
              <a:solidFill>
                <a:srgbClr val="7030A0"/>
              </a:solidFill>
              <a:latin typeface="微软雅黑" panose="020B0503020204020204" pitchFamily="34" charset="-122"/>
              <a:ea typeface="微软雅黑" panose="020B0503020204020204" pitchFamily="34" charset="-122"/>
            </a:endParaRPr>
          </a:p>
        </p:txBody>
      </p:sp>
      <p:cxnSp>
        <p:nvCxnSpPr>
          <p:cNvPr id="31" name="直接连接符 30"/>
          <p:cNvCxnSpPr/>
          <p:nvPr>
            <p:custDataLst>
              <p:tags r:id="rId21"/>
            </p:custDataLst>
          </p:nvPr>
        </p:nvCxnSpPr>
        <p:spPr>
          <a:xfrm>
            <a:off x="1039921" y="4263549"/>
            <a:ext cx="4689797" cy="0"/>
          </a:xfrm>
          <a:prstGeom prst="line">
            <a:avLst/>
          </a:prstGeom>
          <a:noFill/>
          <a:ln w="9525" cap="flat" cmpd="sng" algn="ctr">
            <a:solidFill>
              <a:srgbClr val="825934"/>
            </a:solidFill>
            <a:prstDash val="solid"/>
          </a:ln>
          <a:effectLst/>
        </p:spPr>
      </p:cxnSp>
      <p:cxnSp>
        <p:nvCxnSpPr>
          <p:cNvPr id="32" name="直接连接符 31"/>
          <p:cNvCxnSpPr/>
          <p:nvPr>
            <p:custDataLst>
              <p:tags r:id="rId22"/>
            </p:custDataLst>
          </p:nvPr>
        </p:nvCxnSpPr>
        <p:spPr>
          <a:xfrm>
            <a:off x="1086883" y="5501792"/>
            <a:ext cx="4689797" cy="0"/>
          </a:xfrm>
          <a:prstGeom prst="line">
            <a:avLst/>
          </a:prstGeom>
          <a:noFill/>
          <a:ln w="9525" cap="flat" cmpd="sng" algn="ctr">
            <a:solidFill>
              <a:srgbClr val="825934"/>
            </a:solidFill>
            <a:prstDash val="solid"/>
          </a:ln>
          <a:effectLst/>
        </p:spPr>
      </p:cxnSp>
      <p:sp>
        <p:nvSpPr>
          <p:cNvPr id="33" name="流程图: 终止 32"/>
          <p:cNvSpPr/>
          <p:nvPr>
            <p:custDataLst>
              <p:tags r:id="rId23"/>
            </p:custDataLst>
          </p:nvPr>
        </p:nvSpPr>
        <p:spPr>
          <a:xfrm>
            <a:off x="1761395" y="3265963"/>
            <a:ext cx="4025540" cy="743052"/>
          </a:xfrm>
          <a:prstGeom prst="flowChartTerminator">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anose="020B0503020204020204" pitchFamily="34" charset="-122"/>
                <a:ea typeface="微软雅黑" panose="020B0503020204020204" pitchFamily="34" charset="-122"/>
              </a:rPr>
              <a:t>2026.03-2026.06 </a:t>
            </a:r>
            <a:r>
              <a:rPr lang="zh-CN" altLang="en-US" sz="2000" b="1" dirty="0">
                <a:latin typeface="微软雅黑" panose="020B0503020204020204" pitchFamily="34" charset="-122"/>
                <a:ea typeface="微软雅黑" panose="020B0503020204020204" pitchFamily="34" charset="-122"/>
              </a:rPr>
              <a:t>第二阶段</a:t>
            </a:r>
            <a:endParaRPr lang="zh-CN" altLang="en-US" sz="2000" b="1" dirty="0">
              <a:latin typeface="微软雅黑" panose="020B0503020204020204" pitchFamily="34" charset="-122"/>
              <a:ea typeface="微软雅黑" panose="020B0503020204020204" pitchFamily="34" charset="-122"/>
            </a:endParaRPr>
          </a:p>
          <a:p>
            <a:pPr algn="ctr"/>
            <a:r>
              <a:rPr lang="zh-CN" altLang="en-US" sz="2000" b="1" dirty="0">
                <a:latin typeface="微软雅黑" panose="020B0503020204020204" pitchFamily="34" charset="-122"/>
                <a:ea typeface="微软雅黑" panose="020B0503020204020204" pitchFamily="34" charset="-122"/>
              </a:rPr>
              <a:t>模型核心构建</a:t>
            </a:r>
            <a:endParaRPr lang="zh-CN" altLang="en-US" sz="2000" b="1" dirty="0">
              <a:latin typeface="微软雅黑" panose="020B0503020204020204" pitchFamily="34" charset="-122"/>
              <a:ea typeface="微软雅黑" panose="020B0503020204020204" pitchFamily="34" charset="-122"/>
            </a:endParaRPr>
          </a:p>
        </p:txBody>
      </p:sp>
      <p:grpSp>
        <p:nvGrpSpPr>
          <p:cNvPr id="55" name="组合 54"/>
          <p:cNvGrpSpPr/>
          <p:nvPr/>
        </p:nvGrpSpPr>
        <p:grpSpPr>
          <a:xfrm>
            <a:off x="6590581" y="5581938"/>
            <a:ext cx="4222565" cy="1051843"/>
            <a:chOff x="7029375" y="3855398"/>
            <a:chExt cx="4304182" cy="2152690"/>
          </a:xfrm>
        </p:grpSpPr>
        <p:sp>
          <p:nvSpPr>
            <p:cNvPr id="56" name="矩形: 圆角 55"/>
            <p:cNvSpPr/>
            <p:nvPr/>
          </p:nvSpPr>
          <p:spPr>
            <a:xfrm>
              <a:off x="7029375" y="3855398"/>
              <a:ext cx="4304182" cy="2152690"/>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endParaRPr lang="zh-CN" altLang="en-US" sz="2000" kern="0" dirty="0">
                <a:solidFill>
                  <a:srgbClr val="768394"/>
                </a:solidFill>
                <a:latin typeface="Arial" panose="020B0604020202020204"/>
                <a:ea typeface="微软雅黑" panose="020B0503020204020204" pitchFamily="34" charset="-122"/>
              </a:endParaRPr>
            </a:p>
          </p:txBody>
        </p:sp>
        <p:sp>
          <p:nvSpPr>
            <p:cNvPr id="57" name="TextBox 49"/>
            <p:cNvSpPr txBox="1"/>
            <p:nvPr/>
          </p:nvSpPr>
          <p:spPr>
            <a:xfrm flipH="1">
              <a:off x="7446092" y="3980977"/>
              <a:ext cx="223783" cy="707885"/>
            </a:xfrm>
            <a:prstGeom prst="rect">
              <a:avLst/>
            </a:prstGeom>
            <a:noFill/>
            <a:ln>
              <a:noFill/>
            </a:ln>
            <a:effectLst>
              <a:outerShdw blurRad="50800" dist="38100" dir="10800000" algn="r" rotWithShape="0">
                <a:prstClr val="black">
                  <a:alpha val="20000"/>
                </a:prstClr>
              </a:outerShdw>
            </a:effectLst>
          </p:spPr>
          <p:txBody>
            <a:bodyPr>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457200">
                <a:lnSpc>
                  <a:spcPct val="100000"/>
                </a:lnSpc>
                <a:defRPr/>
              </a:pPr>
              <a:endParaRPr lang="zh-CN" altLang="en-US" sz="4000" dirty="0">
                <a:solidFill>
                  <a:srgbClr val="FFFFFF"/>
                </a:solidFill>
                <a:latin typeface="Arial Black" panose="020B0A04020102020204"/>
                <a:cs typeface="Times New Roman" panose="02020603050405020304" charset="0"/>
              </a:endParaRPr>
            </a:p>
          </p:txBody>
        </p:sp>
      </p:grpSp>
      <p:sp>
        <p:nvSpPr>
          <p:cNvPr id="30" name="文本框 29"/>
          <p:cNvSpPr txBox="1"/>
          <p:nvPr/>
        </p:nvSpPr>
        <p:spPr>
          <a:xfrm>
            <a:off x="6899568" y="5607428"/>
            <a:ext cx="5063196" cy="85837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撰写论文</a:t>
            </a:r>
            <a:endParaRPr lang="en-US" altLang="zh-CN" b="1"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b="1" dirty="0">
                <a:latin typeface="宋体" panose="02010600030101010101" pitchFamily="2" charset="-122"/>
                <a:ea typeface="宋体" panose="02010600030101010101" pitchFamily="2" charset="-122"/>
              </a:rPr>
              <a:t>准备汇报与结题答辩</a:t>
            </a:r>
            <a:endParaRPr lang="en-US" altLang="zh-CN"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9392495" y="-2433"/>
            <a:ext cx="2589319" cy="800100"/>
          </a:xfrm>
          <a:prstGeom prst="rect">
            <a:avLst/>
          </a:prstGeom>
          <a:solidFill>
            <a:srgbClr val="0070C0"/>
          </a:solidFill>
          <a:ln w="12700" cap="flat" cmpd="sng">
            <a:noFill/>
            <a:bevel/>
          </a:ln>
        </p:spPr>
        <p:txBody>
          <a:bodyPr anchor="ctr"/>
          <a:lstStyle/>
          <a:p>
            <a:pPr algn="ctr" defTabSz="914400"/>
            <a:endParaRPr lang="zh-CN" altLang="zh-CN" dirty="0">
              <a:solidFill>
                <a:srgbClr val="FFFFFF"/>
              </a:solidFill>
              <a:highlight>
                <a:srgbClr val="FFFF00"/>
              </a:highlight>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60" name="直接连接符 24"/>
          <p:cNvSpPr>
            <a:spLocks noChangeShapeType="1"/>
          </p:cNvSpPr>
          <p:nvPr/>
        </p:nvSpPr>
        <p:spPr bwMode="auto">
          <a:xfrm>
            <a:off x="4639601"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1" name="直接连接符 24"/>
          <p:cNvSpPr>
            <a:spLocks noChangeShapeType="1"/>
          </p:cNvSpPr>
          <p:nvPr/>
        </p:nvSpPr>
        <p:spPr bwMode="auto">
          <a:xfrm>
            <a:off x="2524436" y="-2360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70" name="文本框 169"/>
          <p:cNvSpPr txBox="1"/>
          <p:nvPr/>
        </p:nvSpPr>
        <p:spPr>
          <a:xfrm>
            <a:off x="939974" y="1032861"/>
            <a:ext cx="2660478" cy="58477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预期成果</a:t>
            </a:r>
            <a:endParaRPr lang="zh-CN" altLang="en-US" sz="3200" b="1" dirty="0">
              <a:latin typeface="微软雅黑" panose="020B0503020204020204" pitchFamily="34" charset="-122"/>
              <a:ea typeface="微软雅黑" panose="020B0503020204020204" pitchFamily="34" charset="-122"/>
            </a:endParaRPr>
          </a:p>
        </p:txBody>
      </p:sp>
      <p:sp>
        <p:nvSpPr>
          <p:cNvPr id="179" name="等腰三角形 178"/>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ïŝľíḑè"/>
          <p:cNvSpPr/>
          <p:nvPr/>
        </p:nvSpPr>
        <p:spPr bwMode="auto">
          <a:xfrm>
            <a:off x="6096000" y="5392024"/>
            <a:ext cx="233341" cy="359776"/>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7030A0"/>
          </a:solidFill>
          <a:ln w="12700" cap="flat" cmpd="sng" algn="ctr">
            <a:noFill/>
            <a:prstDash val="solid"/>
            <a:miter lim="800000"/>
          </a:ln>
          <a:effectLst/>
        </p:spPr>
        <p:txBody>
          <a:bodyPr/>
          <a:lstStyle/>
          <a:p>
            <a:pPr>
              <a:defRPr/>
            </a:pPr>
            <a:endParaRPr lang="zh-CN" altLang="en-US" kern="0">
              <a:solidFill>
                <a:srgbClr val="FFFFFF"/>
              </a:solidFill>
              <a:latin typeface="Arial" panose="020B0604020202020204"/>
              <a:ea typeface="微软雅黑" panose="020B0503020204020204" pitchFamily="34" charset="-122"/>
              <a:cs typeface="+mn-ea"/>
              <a:sym typeface="+mn-lt"/>
            </a:endParaRPr>
          </a:p>
        </p:txBody>
      </p:sp>
      <p:sp>
        <p:nvSpPr>
          <p:cNvPr id="35" name="ïŝľíḑè"/>
          <p:cNvSpPr/>
          <p:nvPr/>
        </p:nvSpPr>
        <p:spPr bwMode="auto">
          <a:xfrm rot="5400000">
            <a:off x="3017060" y="4212150"/>
            <a:ext cx="233341" cy="359776"/>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7030A0"/>
          </a:solidFill>
          <a:ln w="12700" cap="flat" cmpd="sng" algn="ctr">
            <a:noFill/>
            <a:prstDash val="solid"/>
            <a:miter lim="800000"/>
          </a:ln>
          <a:effectLst/>
        </p:spPr>
        <p:txBody>
          <a:bodyPr/>
          <a:lstStyle/>
          <a:p>
            <a:pPr>
              <a:defRPr/>
            </a:pPr>
            <a:endParaRPr lang="zh-CN" altLang="en-US" kern="0">
              <a:solidFill>
                <a:srgbClr val="FFFFFF"/>
              </a:solidFill>
              <a:latin typeface="Arial" panose="020B0604020202020204"/>
              <a:ea typeface="微软雅黑" panose="020B0503020204020204" pitchFamily="34" charset="-122"/>
              <a:cs typeface="+mn-ea"/>
              <a:sym typeface="+mn-lt"/>
            </a:endParaRPr>
          </a:p>
        </p:txBody>
      </p:sp>
      <p:grpSp>
        <p:nvGrpSpPr>
          <p:cNvPr id="36" name="组合 35"/>
          <p:cNvGrpSpPr/>
          <p:nvPr/>
        </p:nvGrpSpPr>
        <p:grpSpPr>
          <a:xfrm>
            <a:off x="1146928" y="1844054"/>
            <a:ext cx="4222564" cy="2193636"/>
            <a:chOff x="2646940" y="1298059"/>
            <a:chExt cx="4154480" cy="2249626"/>
          </a:xfrm>
        </p:grpSpPr>
        <p:sp>
          <p:nvSpPr>
            <p:cNvPr id="37" name="矩形: 圆角 36"/>
            <p:cNvSpPr/>
            <p:nvPr/>
          </p:nvSpPr>
          <p:spPr>
            <a:xfrm>
              <a:off x="2646940" y="1298059"/>
              <a:ext cx="4111575" cy="2249626"/>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endParaRPr lang="zh-CN" altLang="en-US" sz="2000" kern="0" dirty="0">
                <a:solidFill>
                  <a:srgbClr val="768394"/>
                </a:solidFill>
                <a:latin typeface="Arial" panose="020B0604020202020204"/>
                <a:ea typeface="微软雅黑" panose="020B0503020204020204" pitchFamily="34" charset="-122"/>
              </a:endParaRPr>
            </a:p>
          </p:txBody>
        </p:sp>
        <p:grpSp>
          <p:nvGrpSpPr>
            <p:cNvPr id="44" name="组合 43"/>
            <p:cNvGrpSpPr/>
            <p:nvPr/>
          </p:nvGrpSpPr>
          <p:grpSpPr>
            <a:xfrm>
              <a:off x="2818595" y="1349607"/>
              <a:ext cx="545132" cy="662827"/>
              <a:chOff x="6160075" y="4053607"/>
              <a:chExt cx="1566174" cy="1904314"/>
            </a:xfrm>
          </p:grpSpPr>
          <p:sp>
            <p:nvSpPr>
              <p:cNvPr id="56" name="椭圆 55"/>
              <p:cNvSpPr/>
              <p:nvPr/>
            </p:nvSpPr>
            <p:spPr>
              <a:xfrm>
                <a:off x="6160075" y="4129349"/>
                <a:ext cx="1566174" cy="1566173"/>
              </a:xfrm>
              <a:prstGeom prst="ellipse">
                <a:avLst/>
              </a:prstGeom>
              <a:solidFill>
                <a:srgbClr val="9966FF">
                  <a:alpha val="80000"/>
                </a:srgbClr>
              </a:solidFill>
              <a:ln w="63500" cap="flat" cmpd="sng" algn="ctr">
                <a:solidFill>
                  <a:srgbClr val="EAEEF2"/>
                </a:solidFill>
                <a:prstDash val="solid"/>
              </a:ln>
              <a:effectLst>
                <a:innerShdw blurRad="101600" dist="76200" dir="13500000">
                  <a:prstClr val="black">
                    <a:alpha val="20000"/>
                  </a:prstClr>
                </a:innerShdw>
              </a:effectLst>
            </p:spPr>
            <p:txBody>
              <a:bodyPr lIns="0" rIns="480000" anchor="ctr"/>
              <a:lstStyle/>
              <a:p>
                <a:pPr defTabSz="457200">
                  <a:defRPr/>
                </a:pPr>
                <a:endParaRPr lang="en-US" sz="935" kern="0" dirty="0">
                  <a:solidFill>
                    <a:sysClr val="window" lastClr="FFFFFF"/>
                  </a:solidFill>
                  <a:latin typeface="微软雅黑" panose="020B0503020204020204" pitchFamily="34" charset="-122"/>
                  <a:ea typeface="微软雅黑" panose="020B0503020204020204" pitchFamily="34" charset="-122"/>
                </a:endParaRPr>
              </a:p>
            </p:txBody>
          </p:sp>
          <p:sp>
            <p:nvSpPr>
              <p:cNvPr id="58" name="TextBox 49"/>
              <p:cNvSpPr txBox="1"/>
              <p:nvPr/>
            </p:nvSpPr>
            <p:spPr>
              <a:xfrm flipH="1">
                <a:off x="6626937" y="4053607"/>
                <a:ext cx="642934" cy="1904314"/>
              </a:xfrm>
              <a:prstGeom prst="rect">
                <a:avLst/>
              </a:prstGeom>
              <a:noFill/>
              <a:ln>
                <a:noFill/>
              </a:ln>
              <a:effectLst>
                <a:outerShdw blurRad="50800" dist="38100" dir="10800000" algn="r" rotWithShape="0">
                  <a:prstClr val="black">
                    <a:alpha val="20000"/>
                  </a:prstClr>
                </a:outerShdw>
              </a:effectLst>
            </p:spPr>
            <p:txBody>
              <a:bodyPr>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457200">
                  <a:lnSpc>
                    <a:spcPct val="100000"/>
                  </a:lnSpc>
                  <a:defRPr/>
                </a:pPr>
                <a:r>
                  <a:rPr lang="en-US" altLang="zh-CN" sz="3600" dirty="0">
                    <a:solidFill>
                      <a:srgbClr val="FFFFFF"/>
                    </a:solidFill>
                    <a:latin typeface="Arial Black" panose="020B0A04020102020204"/>
                    <a:cs typeface="Times New Roman" panose="02020603050405020304" charset="0"/>
                  </a:rPr>
                  <a:t>1</a:t>
                </a:r>
                <a:endParaRPr lang="zh-CN" altLang="en-US" sz="3600" dirty="0">
                  <a:solidFill>
                    <a:srgbClr val="FFFFFF"/>
                  </a:solidFill>
                  <a:latin typeface="Arial Black" panose="020B0A04020102020204"/>
                  <a:cs typeface="Times New Roman" panose="02020603050405020304" charset="0"/>
                </a:endParaRPr>
              </a:p>
            </p:txBody>
          </p:sp>
        </p:grpSp>
        <p:sp>
          <p:nvSpPr>
            <p:cNvPr id="45" name="文本框 44"/>
            <p:cNvSpPr txBox="1"/>
            <p:nvPr/>
          </p:nvSpPr>
          <p:spPr>
            <a:xfrm>
              <a:off x="3441729" y="1426714"/>
              <a:ext cx="2377709" cy="473448"/>
            </a:xfrm>
            <a:prstGeom prst="rect">
              <a:avLst/>
            </a:prstGeom>
            <a:noFill/>
          </p:spPr>
          <p:txBody>
            <a:bodyPr wrap="square" rtlCol="0">
              <a:spAutoFit/>
            </a:bodyPr>
            <a:lstStyle/>
            <a:p>
              <a:r>
                <a:rPr lang="zh-CN" altLang="en-US" sz="2400" b="1" dirty="0">
                  <a:solidFill>
                    <a:srgbClr val="9966FF"/>
                  </a:solidFill>
                  <a:latin typeface="微软雅黑" panose="020B0503020204020204" pitchFamily="34" charset="-122"/>
                  <a:ea typeface="微软雅黑" panose="020B0503020204020204" pitchFamily="34" charset="-122"/>
                </a:rPr>
                <a:t>理论成果</a:t>
              </a:r>
              <a:endParaRPr lang="zh-CN" altLang="en-US" sz="2400" b="1" dirty="0">
                <a:solidFill>
                  <a:srgbClr val="9966FF"/>
                </a:solidFill>
                <a:latin typeface="微软雅黑" panose="020B0503020204020204" pitchFamily="34" charset="-122"/>
                <a:ea typeface="微软雅黑" panose="020B0503020204020204" pitchFamily="34" charset="-122"/>
              </a:endParaRPr>
            </a:p>
          </p:txBody>
        </p:sp>
        <p:sp>
          <p:nvSpPr>
            <p:cNvPr id="46" name="矩形 45"/>
            <p:cNvSpPr/>
            <p:nvPr/>
          </p:nvSpPr>
          <p:spPr>
            <a:xfrm>
              <a:off x="3196592" y="2029401"/>
              <a:ext cx="545132" cy="41598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语义</a:t>
              </a:r>
              <a:endParaRPr lang="en-US" altLang="zh-CN" sz="1400" dirty="0">
                <a:solidFill>
                  <a:schemeClr val="tx1"/>
                </a:solidFill>
                <a:latin typeface="微软雅黑" panose="020B0503020204020204" pitchFamily="34" charset="-122"/>
                <a:ea typeface="微软雅黑" panose="020B0503020204020204" pitchFamily="34" charset="-122"/>
              </a:endParaRPr>
            </a:p>
          </p:txBody>
        </p:sp>
        <p:sp>
          <p:nvSpPr>
            <p:cNvPr id="48" name="十字形 47"/>
            <p:cNvSpPr/>
            <p:nvPr/>
          </p:nvSpPr>
          <p:spPr>
            <a:xfrm>
              <a:off x="3921953" y="2113925"/>
              <a:ext cx="232976" cy="252858"/>
            </a:xfrm>
            <a:prstGeom prst="plus">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49" name="矩形 48"/>
            <p:cNvSpPr/>
            <p:nvPr/>
          </p:nvSpPr>
          <p:spPr>
            <a:xfrm>
              <a:off x="4329142" y="2025589"/>
              <a:ext cx="545132" cy="41598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风格</a:t>
              </a:r>
              <a:endParaRPr lang="en-US" altLang="zh-CN" sz="1400" dirty="0">
                <a:solidFill>
                  <a:schemeClr val="tx1"/>
                </a:solidFill>
                <a:latin typeface="微软雅黑" panose="020B0503020204020204" pitchFamily="34" charset="-122"/>
                <a:ea typeface="微软雅黑" panose="020B0503020204020204" pitchFamily="34" charset="-122"/>
              </a:endParaRPr>
            </a:p>
          </p:txBody>
        </p:sp>
        <p:sp>
          <p:nvSpPr>
            <p:cNvPr id="50" name="十字形 49"/>
            <p:cNvSpPr/>
            <p:nvPr/>
          </p:nvSpPr>
          <p:spPr>
            <a:xfrm>
              <a:off x="5061018" y="2116043"/>
              <a:ext cx="232976" cy="252858"/>
            </a:xfrm>
            <a:prstGeom prst="plus">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51" name="矩形 50"/>
            <p:cNvSpPr/>
            <p:nvPr/>
          </p:nvSpPr>
          <p:spPr>
            <a:xfrm>
              <a:off x="5486568" y="2021247"/>
              <a:ext cx="545132" cy="41598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文化</a:t>
              </a:r>
              <a:endParaRPr lang="en-US" altLang="zh-CN" sz="1400" dirty="0">
                <a:solidFill>
                  <a:schemeClr val="tx1"/>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2646940" y="2556861"/>
              <a:ext cx="4154480" cy="75605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提出“语义</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风格</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文化”三位一体转写框架</a:t>
              </a:r>
              <a:endParaRPr lang="zh-CN" altLang="en-US"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总结诗歌跨文化转写的风格维度与文化张力模型</a:t>
              </a:r>
              <a:endParaRPr lang="zh-CN" altLang="en-US" sz="1400" dirty="0">
                <a:latin typeface="微软雅黑" panose="020B0503020204020204" pitchFamily="34" charset="-122"/>
                <a:ea typeface="微软雅黑" panose="020B0503020204020204" pitchFamily="34" charset="-122"/>
              </a:endParaRPr>
            </a:p>
          </p:txBody>
        </p:sp>
      </p:grpSp>
      <p:grpSp>
        <p:nvGrpSpPr>
          <p:cNvPr id="59" name="组合 58"/>
          <p:cNvGrpSpPr/>
          <p:nvPr/>
        </p:nvGrpSpPr>
        <p:grpSpPr>
          <a:xfrm>
            <a:off x="1146928" y="4718509"/>
            <a:ext cx="4222563" cy="1776347"/>
            <a:chOff x="7170541" y="1290427"/>
            <a:chExt cx="4591224" cy="1811590"/>
          </a:xfrm>
        </p:grpSpPr>
        <p:sp>
          <p:nvSpPr>
            <p:cNvPr id="62" name="矩形: 圆角 61"/>
            <p:cNvSpPr/>
            <p:nvPr/>
          </p:nvSpPr>
          <p:spPr>
            <a:xfrm>
              <a:off x="7170541" y="1290427"/>
              <a:ext cx="4591224" cy="1811590"/>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endParaRPr lang="zh-CN" altLang="en-US" sz="2000" kern="0" dirty="0">
                <a:solidFill>
                  <a:srgbClr val="768394"/>
                </a:solidFill>
                <a:latin typeface="Arial" panose="020B0604020202020204"/>
                <a:ea typeface="微软雅黑" panose="020B0503020204020204" pitchFamily="34" charset="-122"/>
              </a:endParaRPr>
            </a:p>
          </p:txBody>
        </p:sp>
        <p:grpSp>
          <p:nvGrpSpPr>
            <p:cNvPr id="63" name="组合 62"/>
            <p:cNvGrpSpPr/>
            <p:nvPr/>
          </p:nvGrpSpPr>
          <p:grpSpPr>
            <a:xfrm>
              <a:off x="7416597" y="1360754"/>
              <a:ext cx="594665" cy="659154"/>
              <a:chOff x="6385258" y="4165848"/>
              <a:chExt cx="1708482" cy="1893759"/>
            </a:xfrm>
          </p:grpSpPr>
          <p:sp>
            <p:nvSpPr>
              <p:cNvPr id="130" name="椭圆 129"/>
              <p:cNvSpPr/>
              <p:nvPr/>
            </p:nvSpPr>
            <p:spPr>
              <a:xfrm>
                <a:off x="6385258" y="4274001"/>
                <a:ext cx="1708482" cy="1534785"/>
              </a:xfrm>
              <a:prstGeom prst="ellipse">
                <a:avLst/>
              </a:prstGeom>
              <a:solidFill>
                <a:srgbClr val="9966FF">
                  <a:alpha val="80000"/>
                </a:srgbClr>
              </a:solidFill>
              <a:ln w="63500" cap="flat" cmpd="sng" algn="ctr">
                <a:solidFill>
                  <a:srgbClr val="EAEEF2"/>
                </a:solidFill>
                <a:prstDash val="solid"/>
              </a:ln>
              <a:effectLst>
                <a:innerShdw blurRad="101600" dist="76200" dir="13500000">
                  <a:prstClr val="black">
                    <a:alpha val="20000"/>
                  </a:prstClr>
                </a:innerShdw>
              </a:effectLst>
            </p:spPr>
            <p:txBody>
              <a:bodyPr lIns="0" rIns="480000" anchor="ctr"/>
              <a:lstStyle/>
              <a:p>
                <a:pPr defTabSz="457200">
                  <a:defRPr/>
                </a:pPr>
                <a:endParaRPr lang="en-US" sz="935" kern="0" dirty="0">
                  <a:solidFill>
                    <a:sysClr val="window" lastClr="FFFFFF"/>
                  </a:solidFill>
                  <a:latin typeface="微软雅黑" panose="020B0503020204020204" pitchFamily="34" charset="-122"/>
                  <a:ea typeface="微软雅黑" panose="020B0503020204020204" pitchFamily="34" charset="-122"/>
                </a:endParaRPr>
              </a:p>
            </p:txBody>
          </p:sp>
          <p:sp>
            <p:nvSpPr>
              <p:cNvPr id="131" name="TextBox 49"/>
              <p:cNvSpPr txBox="1"/>
              <p:nvPr/>
            </p:nvSpPr>
            <p:spPr>
              <a:xfrm flipH="1">
                <a:off x="6948570" y="4165848"/>
                <a:ext cx="581855" cy="1893759"/>
              </a:xfrm>
              <a:prstGeom prst="rect">
                <a:avLst/>
              </a:prstGeom>
              <a:noFill/>
              <a:ln>
                <a:noFill/>
              </a:ln>
              <a:effectLst>
                <a:outerShdw blurRad="50800" dist="38100" dir="10800000" algn="r" rotWithShape="0">
                  <a:prstClr val="black">
                    <a:alpha val="20000"/>
                  </a:prstClr>
                </a:outerShdw>
              </a:effectLst>
            </p:spPr>
            <p:txBody>
              <a:bodyPr wrap="square">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457200">
                  <a:lnSpc>
                    <a:spcPct val="100000"/>
                  </a:lnSpc>
                  <a:defRPr/>
                </a:pPr>
                <a:r>
                  <a:rPr lang="en-US" altLang="zh-CN" sz="3600" dirty="0">
                    <a:solidFill>
                      <a:srgbClr val="FFFFFF"/>
                    </a:solidFill>
                    <a:latin typeface="Arial Black" panose="020B0A04020102020204"/>
                    <a:cs typeface="Times New Roman" panose="02020603050405020304" charset="0"/>
                  </a:rPr>
                  <a:t>2</a:t>
                </a:r>
                <a:endParaRPr lang="zh-CN" altLang="en-US" sz="3600" dirty="0">
                  <a:solidFill>
                    <a:srgbClr val="FFFFFF"/>
                  </a:solidFill>
                  <a:latin typeface="Arial Black" panose="020B0A04020102020204"/>
                  <a:cs typeface="Times New Roman" panose="02020603050405020304" charset="0"/>
                </a:endParaRPr>
              </a:p>
            </p:txBody>
          </p:sp>
        </p:grpSp>
        <p:sp>
          <p:nvSpPr>
            <p:cNvPr id="128" name="文本框 127"/>
            <p:cNvSpPr txBox="1"/>
            <p:nvPr/>
          </p:nvSpPr>
          <p:spPr>
            <a:xfrm>
              <a:off x="8110550" y="1461783"/>
              <a:ext cx="2712881" cy="470824"/>
            </a:xfrm>
            <a:prstGeom prst="rect">
              <a:avLst/>
            </a:prstGeom>
            <a:noFill/>
          </p:spPr>
          <p:txBody>
            <a:bodyPr wrap="square" rtlCol="0">
              <a:spAutoFit/>
            </a:bodyPr>
            <a:lstStyle/>
            <a:p>
              <a:r>
                <a:rPr lang="zh-CN" altLang="en-US" sz="2400" b="1" dirty="0">
                  <a:solidFill>
                    <a:srgbClr val="9966FF"/>
                  </a:solidFill>
                  <a:latin typeface="微软雅黑" panose="020B0503020204020204" pitchFamily="34" charset="-122"/>
                  <a:ea typeface="微软雅黑" panose="020B0503020204020204" pitchFamily="34" charset="-122"/>
                </a:rPr>
                <a:t>数据成果</a:t>
              </a:r>
              <a:endParaRPr lang="en-US" altLang="zh-CN" sz="2400" b="1" dirty="0">
                <a:solidFill>
                  <a:srgbClr val="9966FF"/>
                </a:solidFill>
                <a:latin typeface="微软雅黑" panose="020B0503020204020204" pitchFamily="34" charset="-122"/>
                <a:ea typeface="微软雅黑" panose="020B0503020204020204" pitchFamily="34" charset="-122"/>
              </a:endParaRPr>
            </a:p>
          </p:txBody>
        </p:sp>
        <p:sp>
          <p:nvSpPr>
            <p:cNvPr id="129" name="文本框 128"/>
            <p:cNvSpPr txBox="1"/>
            <p:nvPr/>
          </p:nvSpPr>
          <p:spPr>
            <a:xfrm>
              <a:off x="7612666" y="1958308"/>
              <a:ext cx="3978400" cy="104405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多文化诗歌对照语料库</a:t>
              </a:r>
              <a:endParaRPr lang="zh-CN" altLang="en-US"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情感、意象、修辞等维度的标注体系</a:t>
              </a:r>
              <a:endParaRPr lang="zh-CN" altLang="en-US"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小语种诗歌风格特征库</a:t>
              </a:r>
              <a:endParaRPr lang="zh-CN" altLang="en-US" sz="1400" dirty="0">
                <a:latin typeface="微软雅黑" panose="020B0503020204020204" pitchFamily="34" charset="-122"/>
                <a:ea typeface="微软雅黑" panose="020B0503020204020204" pitchFamily="34" charset="-122"/>
              </a:endParaRPr>
            </a:p>
          </p:txBody>
        </p:sp>
      </p:grpSp>
      <p:grpSp>
        <p:nvGrpSpPr>
          <p:cNvPr id="174" name="组合 173"/>
          <p:cNvGrpSpPr/>
          <p:nvPr/>
        </p:nvGrpSpPr>
        <p:grpSpPr>
          <a:xfrm>
            <a:off x="6977932" y="1805657"/>
            <a:ext cx="4222565" cy="2193637"/>
            <a:chOff x="7012113" y="3943297"/>
            <a:chExt cx="4304182" cy="2152690"/>
          </a:xfrm>
        </p:grpSpPr>
        <p:sp>
          <p:nvSpPr>
            <p:cNvPr id="175" name="矩形: 圆角 174"/>
            <p:cNvSpPr/>
            <p:nvPr/>
          </p:nvSpPr>
          <p:spPr>
            <a:xfrm>
              <a:off x="7012113" y="3943297"/>
              <a:ext cx="4304182" cy="2152690"/>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endParaRPr lang="zh-CN" altLang="en-US" sz="2000" kern="0" dirty="0">
                <a:solidFill>
                  <a:srgbClr val="768394"/>
                </a:solidFill>
                <a:latin typeface="Arial" panose="020B0604020202020204"/>
                <a:ea typeface="微软雅黑" panose="020B0503020204020204" pitchFamily="34" charset="-122"/>
              </a:endParaRPr>
            </a:p>
          </p:txBody>
        </p:sp>
        <p:grpSp>
          <p:nvGrpSpPr>
            <p:cNvPr id="176" name="组合 175"/>
            <p:cNvGrpSpPr/>
            <p:nvPr/>
          </p:nvGrpSpPr>
          <p:grpSpPr>
            <a:xfrm>
              <a:off x="7303563" y="3980977"/>
              <a:ext cx="545132" cy="707885"/>
              <a:chOff x="5999016" y="5357460"/>
              <a:chExt cx="1566174" cy="2033767"/>
            </a:xfrm>
          </p:grpSpPr>
          <p:sp>
            <p:nvSpPr>
              <p:cNvPr id="190" name="椭圆 189"/>
              <p:cNvSpPr/>
              <p:nvPr/>
            </p:nvSpPr>
            <p:spPr>
              <a:xfrm>
                <a:off x="5999016" y="5518957"/>
                <a:ext cx="1566174" cy="1566174"/>
              </a:xfrm>
              <a:prstGeom prst="ellipse">
                <a:avLst/>
              </a:prstGeom>
              <a:solidFill>
                <a:srgbClr val="9966FF">
                  <a:alpha val="80000"/>
                </a:srgbClr>
              </a:solidFill>
              <a:ln w="63500" cap="flat" cmpd="sng" algn="ctr">
                <a:solidFill>
                  <a:srgbClr val="EAEEF2"/>
                </a:solidFill>
                <a:prstDash val="solid"/>
              </a:ln>
              <a:effectLst>
                <a:innerShdw blurRad="101600" dist="76200" dir="13500000">
                  <a:prstClr val="black">
                    <a:alpha val="20000"/>
                  </a:prstClr>
                </a:innerShdw>
              </a:effectLst>
            </p:spPr>
            <p:txBody>
              <a:bodyPr lIns="0" rIns="480000" anchor="ctr"/>
              <a:lstStyle/>
              <a:p>
                <a:pPr defTabSz="457200">
                  <a:defRPr/>
                </a:pPr>
                <a:endParaRPr lang="en-US" sz="935" kern="0" dirty="0">
                  <a:solidFill>
                    <a:sysClr val="window" lastClr="FFFFFF"/>
                  </a:solidFill>
                  <a:latin typeface="微软雅黑" panose="020B0503020204020204" pitchFamily="34" charset="-122"/>
                  <a:ea typeface="微软雅黑" panose="020B0503020204020204" pitchFamily="34" charset="-122"/>
                </a:endParaRPr>
              </a:p>
            </p:txBody>
          </p:sp>
          <p:sp>
            <p:nvSpPr>
              <p:cNvPr id="191" name="TextBox 49"/>
              <p:cNvSpPr txBox="1"/>
              <p:nvPr/>
            </p:nvSpPr>
            <p:spPr>
              <a:xfrm flipH="1">
                <a:off x="6408506" y="5357460"/>
                <a:ext cx="642934" cy="2033767"/>
              </a:xfrm>
              <a:prstGeom prst="rect">
                <a:avLst/>
              </a:prstGeom>
              <a:noFill/>
              <a:ln>
                <a:noFill/>
              </a:ln>
              <a:effectLst>
                <a:outerShdw blurRad="50800" dist="38100" dir="10800000" algn="r" rotWithShape="0">
                  <a:prstClr val="black">
                    <a:alpha val="20000"/>
                  </a:prstClr>
                </a:outerShdw>
              </a:effectLst>
            </p:spPr>
            <p:txBody>
              <a:bodyPr>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457200">
                  <a:lnSpc>
                    <a:spcPct val="100000"/>
                  </a:lnSpc>
                  <a:defRPr/>
                </a:pPr>
                <a:r>
                  <a:rPr lang="en-US" altLang="zh-CN" sz="4000" dirty="0">
                    <a:solidFill>
                      <a:srgbClr val="FFFFFF"/>
                    </a:solidFill>
                    <a:latin typeface="Arial Black" panose="020B0A04020102020204"/>
                    <a:cs typeface="Times New Roman" panose="02020603050405020304" charset="0"/>
                  </a:rPr>
                  <a:t>4</a:t>
                </a:r>
                <a:endParaRPr lang="zh-CN" altLang="en-US" sz="4000" dirty="0">
                  <a:solidFill>
                    <a:srgbClr val="FFFFFF"/>
                  </a:solidFill>
                  <a:latin typeface="Arial Black" panose="020B0A04020102020204"/>
                  <a:cs typeface="Times New Roman" panose="02020603050405020304" charset="0"/>
                </a:endParaRPr>
              </a:p>
            </p:txBody>
          </p:sp>
        </p:grpSp>
        <p:sp>
          <p:nvSpPr>
            <p:cNvPr id="177" name="文本框 176"/>
            <p:cNvSpPr txBox="1"/>
            <p:nvPr/>
          </p:nvSpPr>
          <p:spPr>
            <a:xfrm>
              <a:off x="7931754" y="4142160"/>
              <a:ext cx="2712881" cy="461665"/>
            </a:xfrm>
            <a:prstGeom prst="rect">
              <a:avLst/>
            </a:prstGeom>
            <a:noFill/>
          </p:spPr>
          <p:txBody>
            <a:bodyPr wrap="square" rtlCol="0">
              <a:spAutoFit/>
            </a:bodyPr>
            <a:lstStyle/>
            <a:p>
              <a:r>
                <a:rPr lang="zh-CN" altLang="en-US" sz="2400" b="1" dirty="0">
                  <a:solidFill>
                    <a:srgbClr val="9966FF"/>
                  </a:solidFill>
                  <a:latin typeface="微软雅黑" panose="020B0503020204020204" pitchFamily="34" charset="-122"/>
                  <a:ea typeface="微软雅黑" panose="020B0503020204020204" pitchFamily="34" charset="-122"/>
                </a:rPr>
                <a:t>应用成果</a:t>
              </a:r>
              <a:endParaRPr lang="zh-CN" altLang="en-US" sz="2400" b="1" dirty="0">
                <a:solidFill>
                  <a:srgbClr val="9966FF"/>
                </a:solidFill>
                <a:latin typeface="微软雅黑" panose="020B0503020204020204" pitchFamily="34" charset="-122"/>
                <a:ea typeface="微软雅黑" panose="020B0503020204020204" pitchFamily="34" charset="-122"/>
              </a:endParaRPr>
            </a:p>
          </p:txBody>
        </p:sp>
      </p:grpSp>
      <p:sp>
        <p:nvSpPr>
          <p:cNvPr id="196" name="ïŝľíḑè"/>
          <p:cNvSpPr/>
          <p:nvPr/>
        </p:nvSpPr>
        <p:spPr bwMode="auto">
          <a:xfrm rot="16200000">
            <a:off x="8972545" y="4161628"/>
            <a:ext cx="233341" cy="359776"/>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7030A0"/>
          </a:solidFill>
          <a:ln w="12700" cap="flat" cmpd="sng" algn="ctr">
            <a:noFill/>
            <a:prstDash val="solid"/>
            <a:miter lim="800000"/>
          </a:ln>
          <a:effectLst/>
        </p:spPr>
        <p:txBody>
          <a:bodyPr/>
          <a:lstStyle/>
          <a:p>
            <a:pPr>
              <a:defRPr/>
            </a:pPr>
            <a:endParaRPr lang="zh-CN" altLang="en-US" kern="0">
              <a:solidFill>
                <a:srgbClr val="FFFFFF"/>
              </a:solidFill>
              <a:latin typeface="Arial" panose="020B0604020202020204"/>
              <a:ea typeface="微软雅黑" panose="020B0503020204020204" pitchFamily="34" charset="-122"/>
              <a:cs typeface="+mn-ea"/>
              <a:sym typeface="+mn-lt"/>
            </a:endParaRPr>
          </a:p>
        </p:txBody>
      </p:sp>
      <p:sp>
        <p:nvSpPr>
          <p:cNvPr id="199" name="ïŝľíḑè"/>
          <p:cNvSpPr/>
          <p:nvPr/>
        </p:nvSpPr>
        <p:spPr bwMode="auto">
          <a:xfrm rot="10800000">
            <a:off x="6020200" y="2710459"/>
            <a:ext cx="233341" cy="359776"/>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7030A0"/>
          </a:solidFill>
          <a:ln w="12700" cap="flat" cmpd="sng" algn="ctr">
            <a:noFill/>
            <a:prstDash val="solid"/>
            <a:miter lim="800000"/>
          </a:ln>
          <a:effectLst/>
        </p:spPr>
        <p:txBody>
          <a:bodyPr/>
          <a:lstStyle/>
          <a:p>
            <a:pPr>
              <a:defRPr/>
            </a:pPr>
            <a:endParaRPr lang="zh-CN" altLang="en-US" kern="0" dirty="0">
              <a:solidFill>
                <a:srgbClr val="FFFFFF"/>
              </a:solidFill>
              <a:latin typeface="Arial" panose="020B0604020202020204"/>
              <a:ea typeface="微软雅黑" panose="020B0503020204020204" pitchFamily="34" charset="-122"/>
              <a:cs typeface="+mn-ea"/>
              <a:sym typeface="+mn-lt"/>
            </a:endParaRPr>
          </a:p>
        </p:txBody>
      </p:sp>
      <p:grpSp>
        <p:nvGrpSpPr>
          <p:cNvPr id="200" name="组合 199"/>
          <p:cNvGrpSpPr/>
          <p:nvPr/>
        </p:nvGrpSpPr>
        <p:grpSpPr>
          <a:xfrm>
            <a:off x="6980049" y="4683739"/>
            <a:ext cx="4222563" cy="1776347"/>
            <a:chOff x="7170541" y="1290427"/>
            <a:chExt cx="4591224" cy="1811590"/>
          </a:xfrm>
        </p:grpSpPr>
        <p:sp>
          <p:nvSpPr>
            <p:cNvPr id="201" name="矩形: 圆角 200"/>
            <p:cNvSpPr/>
            <p:nvPr/>
          </p:nvSpPr>
          <p:spPr>
            <a:xfrm>
              <a:off x="7170541" y="1290427"/>
              <a:ext cx="4591224" cy="1811590"/>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endParaRPr lang="zh-CN" altLang="en-US" sz="2000" kern="0" dirty="0">
                <a:solidFill>
                  <a:srgbClr val="768394"/>
                </a:solidFill>
                <a:latin typeface="Arial" panose="020B0604020202020204"/>
                <a:ea typeface="微软雅黑" panose="020B0503020204020204" pitchFamily="34" charset="-122"/>
              </a:endParaRPr>
            </a:p>
          </p:txBody>
        </p:sp>
        <p:grpSp>
          <p:nvGrpSpPr>
            <p:cNvPr id="202" name="组合 201"/>
            <p:cNvGrpSpPr/>
            <p:nvPr/>
          </p:nvGrpSpPr>
          <p:grpSpPr>
            <a:xfrm>
              <a:off x="7416597" y="1360754"/>
              <a:ext cx="594665" cy="659154"/>
              <a:chOff x="6385258" y="4165848"/>
              <a:chExt cx="1708482" cy="1893759"/>
            </a:xfrm>
          </p:grpSpPr>
          <p:sp>
            <p:nvSpPr>
              <p:cNvPr id="205" name="椭圆 204"/>
              <p:cNvSpPr/>
              <p:nvPr/>
            </p:nvSpPr>
            <p:spPr>
              <a:xfrm>
                <a:off x="6385258" y="4274001"/>
                <a:ext cx="1708482" cy="1534785"/>
              </a:xfrm>
              <a:prstGeom prst="ellipse">
                <a:avLst/>
              </a:prstGeom>
              <a:solidFill>
                <a:srgbClr val="9966FF">
                  <a:alpha val="80000"/>
                </a:srgbClr>
              </a:solidFill>
              <a:ln w="63500" cap="flat" cmpd="sng" algn="ctr">
                <a:solidFill>
                  <a:srgbClr val="EAEEF2"/>
                </a:solidFill>
                <a:prstDash val="solid"/>
              </a:ln>
              <a:effectLst>
                <a:innerShdw blurRad="101600" dist="76200" dir="13500000">
                  <a:prstClr val="black">
                    <a:alpha val="20000"/>
                  </a:prstClr>
                </a:innerShdw>
              </a:effectLst>
            </p:spPr>
            <p:txBody>
              <a:bodyPr lIns="0" rIns="480000" anchor="ctr"/>
              <a:lstStyle/>
              <a:p>
                <a:pPr defTabSz="457200">
                  <a:defRPr/>
                </a:pPr>
                <a:endParaRPr lang="en-US" sz="935" kern="0" dirty="0">
                  <a:solidFill>
                    <a:sysClr val="window" lastClr="FFFFFF"/>
                  </a:solidFill>
                  <a:latin typeface="微软雅黑" panose="020B0503020204020204" pitchFamily="34" charset="-122"/>
                  <a:ea typeface="微软雅黑" panose="020B0503020204020204" pitchFamily="34" charset="-122"/>
                </a:endParaRPr>
              </a:p>
            </p:txBody>
          </p:sp>
          <p:sp>
            <p:nvSpPr>
              <p:cNvPr id="206" name="TextBox 49"/>
              <p:cNvSpPr txBox="1"/>
              <p:nvPr/>
            </p:nvSpPr>
            <p:spPr>
              <a:xfrm flipH="1">
                <a:off x="6948570" y="4165848"/>
                <a:ext cx="581855" cy="1893759"/>
              </a:xfrm>
              <a:prstGeom prst="rect">
                <a:avLst/>
              </a:prstGeom>
              <a:noFill/>
              <a:ln>
                <a:noFill/>
              </a:ln>
              <a:effectLst>
                <a:outerShdw blurRad="50800" dist="38100" dir="10800000" algn="r" rotWithShape="0">
                  <a:prstClr val="black">
                    <a:alpha val="20000"/>
                  </a:prstClr>
                </a:outerShdw>
              </a:effectLst>
            </p:spPr>
            <p:txBody>
              <a:bodyPr wrap="square">
                <a:spAutoFit/>
              </a:bodyPr>
              <a:lstStyle>
                <a:defPPr>
                  <a:defRPr lang="en-US"/>
                </a:defPPr>
                <a:lvl1pPr lvl="0">
                  <a:lnSpc>
                    <a:spcPct val="80000"/>
                  </a:lnSpc>
                  <a:defRPr sz="4400" b="1" kern="0">
                    <a:ln w="18415" cmpd="sng">
                      <a:noFill/>
                      <a:prstDash val="solid"/>
                    </a:ln>
                    <a:solidFill>
                      <a:srgbClr val="FFC000"/>
                    </a:solidFill>
                    <a:latin typeface="Agency FB" panose="020B0503020202020204" pitchFamily="34" charset="0"/>
                    <a:ea typeface="微软雅黑" panose="020B0503020204020204" pitchFamily="34" charset="-122"/>
                  </a:defRPr>
                </a:lvl1pPr>
              </a:lstStyle>
              <a:p>
                <a:pPr algn="ctr" defTabSz="457200">
                  <a:lnSpc>
                    <a:spcPct val="100000"/>
                  </a:lnSpc>
                  <a:defRPr/>
                </a:pPr>
                <a:r>
                  <a:rPr lang="en-US" altLang="zh-CN" sz="3600" dirty="0">
                    <a:solidFill>
                      <a:srgbClr val="FFFFFF"/>
                    </a:solidFill>
                    <a:latin typeface="Arial Black" panose="020B0A04020102020204"/>
                    <a:cs typeface="Times New Roman" panose="02020603050405020304" charset="0"/>
                  </a:rPr>
                  <a:t>3</a:t>
                </a:r>
                <a:endParaRPr lang="zh-CN" altLang="en-US" sz="3600" dirty="0">
                  <a:solidFill>
                    <a:srgbClr val="FFFFFF"/>
                  </a:solidFill>
                  <a:latin typeface="Arial Black" panose="020B0A04020102020204"/>
                  <a:cs typeface="Times New Roman" panose="02020603050405020304" charset="0"/>
                </a:endParaRPr>
              </a:p>
            </p:txBody>
          </p:sp>
        </p:grpSp>
        <p:sp>
          <p:nvSpPr>
            <p:cNvPr id="203" name="文本框 202"/>
            <p:cNvSpPr txBox="1"/>
            <p:nvPr/>
          </p:nvSpPr>
          <p:spPr>
            <a:xfrm>
              <a:off x="8110550" y="1461783"/>
              <a:ext cx="2712881" cy="470824"/>
            </a:xfrm>
            <a:prstGeom prst="rect">
              <a:avLst/>
            </a:prstGeom>
            <a:noFill/>
          </p:spPr>
          <p:txBody>
            <a:bodyPr wrap="square" rtlCol="0">
              <a:spAutoFit/>
            </a:bodyPr>
            <a:lstStyle/>
            <a:p>
              <a:r>
                <a:rPr lang="zh-CN" altLang="en-US" sz="2400" b="1" dirty="0">
                  <a:solidFill>
                    <a:srgbClr val="9966FF"/>
                  </a:solidFill>
                  <a:latin typeface="微软雅黑" panose="020B0503020204020204" pitchFamily="34" charset="-122"/>
                  <a:ea typeface="微软雅黑" panose="020B0503020204020204" pitchFamily="34" charset="-122"/>
                </a:rPr>
                <a:t>技术成果</a:t>
              </a:r>
              <a:endParaRPr lang="en-US" altLang="zh-CN" sz="2400" b="1" dirty="0">
                <a:solidFill>
                  <a:srgbClr val="9966FF"/>
                </a:solidFill>
                <a:latin typeface="微软雅黑" panose="020B0503020204020204" pitchFamily="34" charset="-122"/>
                <a:ea typeface="微软雅黑" panose="020B0503020204020204" pitchFamily="34" charset="-122"/>
              </a:endParaRPr>
            </a:p>
          </p:txBody>
        </p:sp>
        <p:sp>
          <p:nvSpPr>
            <p:cNvPr id="204" name="文本框 203"/>
            <p:cNvSpPr txBox="1"/>
            <p:nvPr/>
          </p:nvSpPr>
          <p:spPr>
            <a:xfrm>
              <a:off x="7612666" y="1958308"/>
              <a:ext cx="3978400" cy="108148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训练文化中立的诗歌语义编码器</a:t>
              </a:r>
              <a:endParaRPr lang="zh-CN" altLang="en-US"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构建文化风格向量</a:t>
              </a:r>
              <a:endParaRPr lang="zh-CN" altLang="en-US"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完成跨文化可控诗歌转写模型</a:t>
              </a:r>
              <a:endParaRPr lang="zh-CN" altLang="en-US" sz="1400" dirty="0">
                <a:latin typeface="微软雅黑" panose="020B0503020204020204" pitchFamily="34" charset="-122"/>
                <a:ea typeface="微软雅黑" panose="020B0503020204020204" pitchFamily="34" charset="-122"/>
              </a:endParaRPr>
            </a:p>
          </p:txBody>
        </p:sp>
      </p:grpSp>
      <p:sp>
        <p:nvSpPr>
          <p:cNvPr id="207" name="文本框 206"/>
          <p:cNvSpPr txBox="1"/>
          <p:nvPr/>
        </p:nvSpPr>
        <p:spPr>
          <a:xfrm>
            <a:off x="7381382" y="2486304"/>
            <a:ext cx="3658947" cy="138366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论文 </a:t>
            </a:r>
            <a:r>
              <a:rPr lang="en-US" altLang="zh-CN" sz="1400" dirty="0">
                <a:latin typeface="微软雅黑" panose="020B0503020204020204" pitchFamily="34" charset="-122"/>
                <a:ea typeface="微软雅黑" panose="020B0503020204020204" pitchFamily="34" charset="-122"/>
              </a:rPr>
              <a:t>1–2 </a:t>
            </a:r>
            <a:r>
              <a:rPr lang="zh-CN" altLang="en-US" sz="1400" dirty="0">
                <a:latin typeface="微软雅黑" panose="020B0503020204020204" pitchFamily="34" charset="-122"/>
                <a:ea typeface="微软雅黑" panose="020B0503020204020204" pitchFamily="34" charset="-122"/>
              </a:rPr>
              <a:t>篇</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跨文化文学研究的技术支持</a:t>
            </a:r>
            <a:endParaRPr lang="zh-CN" altLang="en-US"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为小语种教学提供实用工具</a:t>
            </a:r>
            <a:endParaRPr lang="zh-CN" altLang="en-US"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参与南大基础学科论坛等学术活动</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6"/>
          <p:cNvSpPr>
            <a:spLocks noChangeArrowheads="1"/>
          </p:cNvSpPr>
          <p:nvPr/>
        </p:nvSpPr>
        <p:spPr bwMode="auto">
          <a:xfrm>
            <a:off x="0" y="1"/>
            <a:ext cx="12192000" cy="800100"/>
          </a:xfrm>
          <a:prstGeom prst="rect">
            <a:avLst/>
          </a:prstGeom>
          <a:solidFill>
            <a:srgbClr val="7030A0"/>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a:solidFill>
                <a:srgbClr val="FFFFFF"/>
              </a:solidFill>
              <a:latin typeface="Nexa Light"/>
              <a:ea typeface="微软雅黑" panose="020B0503020204020204" pitchFamily="34" charset="-122"/>
            </a:endParaRPr>
          </a:p>
        </p:txBody>
      </p:sp>
      <p:sp>
        <p:nvSpPr>
          <p:cNvPr id="39" name="矩形 20"/>
          <p:cNvSpPr>
            <a:spLocks noChangeArrowheads="1"/>
          </p:cNvSpPr>
          <p:nvPr/>
        </p:nvSpPr>
        <p:spPr bwMode="auto">
          <a:xfrm>
            <a:off x="9392495" y="-2433"/>
            <a:ext cx="2589319" cy="800100"/>
          </a:xfrm>
          <a:prstGeom prst="rect">
            <a:avLst/>
          </a:prstGeom>
          <a:solidFill>
            <a:srgbClr val="0070C0"/>
          </a:solidFill>
          <a:ln w="12700" cap="flat" cmpd="sng">
            <a:noFill/>
            <a:bevel/>
          </a:ln>
        </p:spPr>
        <p:txBody>
          <a:bodyPr anchor="ctr"/>
          <a:lstStyle/>
          <a:p>
            <a:pPr algn="ctr" defTabSz="914400"/>
            <a:endParaRPr lang="zh-CN" altLang="zh-CN" dirty="0">
              <a:solidFill>
                <a:srgbClr val="FFFFFF"/>
              </a:solidFill>
              <a:highlight>
                <a:srgbClr val="FFFF00"/>
              </a:highlight>
              <a:latin typeface="Nexa Light"/>
              <a:ea typeface="微软雅黑" panose="020B0503020204020204" pitchFamily="34" charset="-122"/>
            </a:endParaRPr>
          </a:p>
        </p:txBody>
      </p:sp>
      <p:grpSp>
        <p:nvGrpSpPr>
          <p:cNvPr id="40" name="组合 7"/>
          <p:cNvGrpSpPr/>
          <p:nvPr/>
        </p:nvGrpSpPr>
        <p:grpSpPr bwMode="auto">
          <a:xfrm>
            <a:off x="1826685" y="141817"/>
            <a:ext cx="1773767" cy="601895"/>
            <a:chOff x="0" y="0"/>
            <a:chExt cx="1329556" cy="451276"/>
          </a:xfrm>
        </p:grpSpPr>
        <p:sp>
          <p:nvSpPr>
            <p:cNvPr id="41" name="圆角矩形 8"/>
            <p:cNvSpPr>
              <a:spLocks noChangeArrowheads="1"/>
            </p:cNvSpPr>
            <p:nvPr/>
          </p:nvSpPr>
          <p:spPr bwMode="auto">
            <a:xfrm>
              <a:off x="0" y="0"/>
              <a:ext cx="1329556" cy="384051"/>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42719B"/>
                  </a:solidFill>
                  <a:bevel/>
                </a14:hiddenLine>
              </a:ext>
            </a:extLst>
          </p:spPr>
          <p:txBody>
            <a:bodyPr anchor="ctr"/>
            <a:lstStyle/>
            <a:p>
              <a:pPr algn="ctr" defTabSz="914400"/>
              <a:endParaRPr lang="zh-CN" altLang="zh-CN" sz="2135">
                <a:solidFill>
                  <a:srgbClr val="FFFFFF"/>
                </a:solidFill>
                <a:latin typeface="Nexa Light"/>
                <a:ea typeface="微软雅黑" panose="020B0503020204020204" pitchFamily="34" charset="-122"/>
              </a:endParaRPr>
            </a:p>
          </p:txBody>
        </p:sp>
        <p:sp>
          <p:nvSpPr>
            <p:cNvPr id="42" name="TextBox 15"/>
            <p:cNvSpPr>
              <a:spLocks noChangeArrowheads="1"/>
            </p:cNvSpPr>
            <p:nvPr/>
          </p:nvSpPr>
          <p:spPr bwMode="auto">
            <a:xfrm>
              <a:off x="291773" y="135955"/>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p>
              <a:pPr defTabSz="914400"/>
              <a:endParaRPr lang="zh-CN" altLang="zh-CN" sz="2135">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43" name="TextBox 16">
            <a:hlinkHover r:id="rId1" action="ppaction://hlinksldjump"/>
          </p:cNvPr>
          <p:cNvSpPr>
            <a:spLocks noChangeArrowheads="1"/>
          </p:cNvSpPr>
          <p:nvPr/>
        </p:nvSpPr>
        <p:spPr bwMode="auto">
          <a:xfrm>
            <a:off x="2748705" y="239185"/>
            <a:ext cx="1670049"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rPr>
              <a:t>研究背景与现状</a:t>
            </a:r>
            <a:endParaRPr lang="zh-CN" altLang="en-US" sz="1465" dirty="0">
              <a:solidFill>
                <a:prstClr val="white"/>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TextBox 17">
            <a:hlinkClick r:id="" action="ppaction://hlinkshowjump?jump=nextslide"/>
            <a:hlinkHover r:id="rId1" action="ppaction://hlinksldjump"/>
          </p:cNvPr>
          <p:cNvSpPr>
            <a:spLocks noChangeArrowheads="1"/>
          </p:cNvSpPr>
          <p:nvPr/>
        </p:nvSpPr>
        <p:spPr bwMode="auto">
          <a:xfrm>
            <a:off x="4872355" y="239395"/>
            <a:ext cx="1907540"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wrap="square">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研究内容与技术路线</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extBox 18">
            <a:hlinkHover r:id="rId1" action="ppaction://hlinksldjump"/>
          </p:cNvPr>
          <p:cNvSpPr>
            <a:spLocks noChangeArrowheads="1"/>
          </p:cNvSpPr>
          <p:nvPr/>
        </p:nvSpPr>
        <p:spPr bwMode="auto">
          <a:xfrm>
            <a:off x="7305676" y="239185"/>
            <a:ext cx="1792816"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创新点与项目特色</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Box 19">
            <a:hlinkHover r:id="rId1" action="ppaction://hlinksldjump"/>
          </p:cNvPr>
          <p:cNvSpPr>
            <a:spLocks noChangeArrowheads="1"/>
          </p:cNvSpPr>
          <p:nvPr/>
        </p:nvSpPr>
        <p:spPr bwMode="auto">
          <a:xfrm>
            <a:off x="9733069" y="239185"/>
            <a:ext cx="1902884" cy="31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bevel/>
              </a14:hiddenLine>
            </a:ext>
          </a:extLst>
        </p:spPr>
        <p:txBody>
          <a:bodyPr>
            <a:spAutoFit/>
          </a:bodyPr>
          <a:lstStyle/>
          <a:p>
            <a:pPr algn="ctr" defTabSz="914400"/>
            <a:r>
              <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前期准备与总结展望</a:t>
            </a:r>
            <a:endParaRPr lang="zh-CN" altLang="en-US" sz="146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直接连接符 24"/>
          <p:cNvSpPr>
            <a:spLocks noChangeShapeType="1"/>
          </p:cNvSpPr>
          <p:nvPr/>
        </p:nvSpPr>
        <p:spPr bwMode="auto">
          <a:xfrm>
            <a:off x="7013152"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 name="直接连接符 25"/>
          <p:cNvSpPr>
            <a:spLocks noChangeShapeType="1"/>
          </p:cNvSpPr>
          <p:nvPr/>
        </p:nvSpPr>
        <p:spPr bwMode="auto">
          <a:xfrm>
            <a:off x="9388263" y="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7" name="直接连接符 27"/>
          <p:cNvSpPr>
            <a:spLocks noChangeShapeType="1"/>
          </p:cNvSpPr>
          <p:nvPr/>
        </p:nvSpPr>
        <p:spPr bwMode="auto">
          <a:xfrm>
            <a:off x="11981815" y="-10160"/>
            <a:ext cx="0"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pic>
        <p:nvPicPr>
          <p:cNvPr id="8" name="图片 7"/>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144639" y="141528"/>
            <a:ext cx="2151277" cy="537818"/>
          </a:xfrm>
          <a:prstGeom prst="rect">
            <a:avLst/>
          </a:prstGeom>
        </p:spPr>
      </p:pic>
      <p:sp>
        <p:nvSpPr>
          <p:cNvPr id="60" name="直接连接符 24"/>
          <p:cNvSpPr>
            <a:spLocks noChangeShapeType="1"/>
          </p:cNvSpPr>
          <p:nvPr/>
        </p:nvSpPr>
        <p:spPr bwMode="auto">
          <a:xfrm>
            <a:off x="4639601" y="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61" name="直接连接符 24"/>
          <p:cNvSpPr>
            <a:spLocks noChangeShapeType="1"/>
          </p:cNvSpPr>
          <p:nvPr/>
        </p:nvSpPr>
        <p:spPr bwMode="auto">
          <a:xfrm>
            <a:off x="2524436" y="-23600"/>
            <a:ext cx="2117" cy="821267"/>
          </a:xfrm>
          <a:prstGeom prst="line">
            <a:avLst/>
          </a:prstGeom>
          <a:noFill/>
          <a:ln w="9525" cap="flat" cmpd="sng">
            <a:solidFill>
              <a:srgbClr val="F2F2F2"/>
            </a:solidFill>
            <a:bevel/>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latin typeface="Nexa Light"/>
              <a:ea typeface="微软雅黑" panose="020B0503020204020204" pitchFamily="34" charset="-122"/>
            </a:endParaRPr>
          </a:p>
        </p:txBody>
      </p:sp>
      <p:sp>
        <p:nvSpPr>
          <p:cNvPr id="170" name="文本框 169"/>
          <p:cNvSpPr txBox="1"/>
          <p:nvPr/>
        </p:nvSpPr>
        <p:spPr>
          <a:xfrm>
            <a:off x="885702" y="1070582"/>
            <a:ext cx="3356098" cy="584775"/>
          </a:xfrm>
          <a:prstGeom prst="rect">
            <a:avLst/>
          </a:prstGeom>
          <a:noFill/>
        </p:spPr>
        <p:txBody>
          <a:bodyPr wrap="square" rtlCol="0">
            <a:spAutoFit/>
          </a:bodyPr>
          <a:lstStyle/>
          <a:p>
            <a:pPr defTabSz="914400"/>
            <a:r>
              <a:rPr lang="zh-CN" altLang="en-US" sz="3200" b="1" dirty="0">
                <a:latin typeface="微软雅黑" panose="020B0503020204020204" pitchFamily="34" charset="-122"/>
                <a:ea typeface="微软雅黑" panose="020B0503020204020204" pitchFamily="34" charset="-122"/>
              </a:rPr>
              <a:t>总结与展望</a:t>
            </a:r>
            <a:endParaRPr lang="zh-CN" altLang="en-US" sz="3200" b="1" dirty="0">
              <a:latin typeface="微软雅黑" panose="020B0503020204020204" pitchFamily="34" charset="-122"/>
              <a:ea typeface="微软雅黑" panose="020B0503020204020204" pitchFamily="34" charset="-122"/>
            </a:endParaRPr>
          </a:p>
        </p:txBody>
      </p:sp>
      <p:sp>
        <p:nvSpPr>
          <p:cNvPr id="179" name="等腰三角形 178"/>
          <p:cNvSpPr/>
          <p:nvPr/>
        </p:nvSpPr>
        <p:spPr>
          <a:xfrm rot="5400000">
            <a:off x="-53416" y="998725"/>
            <a:ext cx="820567" cy="706373"/>
          </a:xfrm>
          <a:prstGeom prst="triangl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圆角 19"/>
          <p:cNvSpPr/>
          <p:nvPr/>
        </p:nvSpPr>
        <p:spPr>
          <a:xfrm>
            <a:off x="725878" y="2948810"/>
            <a:ext cx="6287646" cy="664340"/>
          </a:xfrm>
          <a:prstGeom prst="round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1" name="矩形: 圆角 20"/>
          <p:cNvSpPr/>
          <p:nvPr/>
        </p:nvSpPr>
        <p:spPr>
          <a:xfrm>
            <a:off x="725878" y="4178666"/>
            <a:ext cx="6287645" cy="664340"/>
          </a:xfrm>
          <a:prstGeom prst="round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3" name="文本框 22"/>
          <p:cNvSpPr txBox="1"/>
          <p:nvPr/>
        </p:nvSpPr>
        <p:spPr>
          <a:xfrm>
            <a:off x="857903" y="3077236"/>
            <a:ext cx="5961242"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 前期准备扎实 → 理论、数据、技术路径均已明确</a:t>
            </a:r>
            <a:endParaRPr lang="zh-CN" altLang="en-US"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875446" y="4314470"/>
            <a:ext cx="6138077"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 团队协作完善 → 文学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小语种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技术紧密融合</a:t>
            </a:r>
            <a:endParaRPr lang="zh-CN" altLang="en-US" dirty="0">
              <a:latin typeface="微软雅黑" panose="020B0503020204020204" pitchFamily="34" charset="-122"/>
              <a:ea typeface="微软雅黑" panose="020B0503020204020204" pitchFamily="34" charset="-122"/>
            </a:endParaRPr>
          </a:p>
        </p:txBody>
      </p:sp>
      <p:sp>
        <p:nvSpPr>
          <p:cNvPr id="29" name="矩形: 圆角 28"/>
          <p:cNvSpPr/>
          <p:nvPr/>
        </p:nvSpPr>
        <p:spPr>
          <a:xfrm>
            <a:off x="2904929" y="1925838"/>
            <a:ext cx="1929541" cy="566525"/>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总结</a:t>
            </a:r>
            <a:endParaRPr lang="zh-CN" altLang="en-US" sz="2400" b="1" dirty="0"/>
          </a:p>
        </p:txBody>
      </p:sp>
      <p:sp>
        <p:nvSpPr>
          <p:cNvPr id="2" name="矩形: 圆角 1"/>
          <p:cNvSpPr/>
          <p:nvPr/>
        </p:nvSpPr>
        <p:spPr>
          <a:xfrm>
            <a:off x="710054" y="5408523"/>
            <a:ext cx="6287645" cy="664340"/>
          </a:xfrm>
          <a:prstGeom prst="round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微软雅黑" panose="020B0503020204020204" pitchFamily="34" charset="-122"/>
                <a:ea typeface="微软雅黑" panose="020B0503020204020204" pitchFamily="34" charset="-122"/>
              </a:rPr>
              <a:t>* 项目可行性高 → 数据可控、方案成熟、资源充足</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0" name="矩形: 圆角 9"/>
          <p:cNvSpPr/>
          <p:nvPr/>
        </p:nvSpPr>
        <p:spPr>
          <a:xfrm>
            <a:off x="7950202" y="1475517"/>
            <a:ext cx="3155949" cy="1405286"/>
          </a:xfrm>
          <a:prstGeom prst="roundRect">
            <a:avLst>
              <a:gd name="adj" fmla="val 20475"/>
            </a:avLst>
          </a:prstGeom>
          <a:solidFill>
            <a:schemeClr val="accent1"/>
          </a:solidFill>
          <a:ln w="12700" cap="flat" cmpd="sng" algn="ctr">
            <a:noFill/>
            <a:prstDash val="solid"/>
            <a:miter lim="800000"/>
          </a:ln>
          <a:effectLst>
            <a:outerShdw blurRad="304800" sx="102000" sy="102000" algn="ctr" rotWithShape="0">
              <a:prstClr val="black">
                <a:alpha val="25000"/>
              </a:prstClr>
            </a:outerShdw>
          </a:effectLst>
        </p:spPr>
        <p:txBody>
          <a:bodyPr rtlCol="0" anchor="ctr"/>
          <a:lstStyle/>
          <a:p>
            <a:pPr algn="ctr">
              <a:lnSpc>
                <a:spcPct val="150000"/>
              </a:lnSpc>
              <a:defRPr/>
            </a:pPr>
            <a:r>
              <a:rPr lang="zh-CN" altLang="en-US" sz="2000" b="1" kern="0" dirty="0">
                <a:latin typeface="Arial" panose="020B0604020202020204"/>
                <a:ea typeface="微软雅黑" panose="020B0503020204020204" pitchFamily="34" charset="-122"/>
              </a:rPr>
              <a:t>实现跨文化诗歌的可控转写新范式</a:t>
            </a:r>
            <a:endParaRPr lang="zh-CN" altLang="en-US" sz="2000" b="1" kern="0" dirty="0">
              <a:latin typeface="Arial" panose="020B0604020202020204"/>
              <a:ea typeface="微软雅黑" panose="020B0503020204020204" pitchFamily="34" charset="-122"/>
            </a:endParaRPr>
          </a:p>
        </p:txBody>
      </p:sp>
      <p:sp>
        <p:nvSpPr>
          <p:cNvPr id="13" name="矩形: 圆角 12"/>
          <p:cNvSpPr/>
          <p:nvPr/>
        </p:nvSpPr>
        <p:spPr>
          <a:xfrm>
            <a:off x="7950203" y="3239444"/>
            <a:ext cx="3155950" cy="1405286"/>
          </a:xfrm>
          <a:prstGeom prst="roundRect">
            <a:avLst>
              <a:gd name="adj" fmla="val 20475"/>
            </a:avLst>
          </a:prstGeom>
          <a:solidFill>
            <a:schemeClr val="accent1"/>
          </a:solidFill>
          <a:ln w="12700" cap="flat" cmpd="sng" algn="ctr">
            <a:noFill/>
            <a:prstDash val="solid"/>
            <a:miter lim="800000"/>
          </a:ln>
          <a:effectLst>
            <a:outerShdw blurRad="304800" sx="102000" sy="102000" algn="ctr" rotWithShape="0">
              <a:prstClr val="black">
                <a:alpha val="25000"/>
              </a:prstClr>
            </a:outerShdw>
          </a:effectLst>
        </p:spPr>
        <p:txBody>
          <a:bodyPr rtlCol="0" anchor="ctr"/>
          <a:lstStyle/>
          <a:p>
            <a:pPr algn="ctr">
              <a:lnSpc>
                <a:spcPct val="150000"/>
              </a:lnSpc>
              <a:defRPr/>
            </a:pPr>
            <a:r>
              <a:rPr lang="zh-CN" altLang="en-US" sz="2000" b="1" kern="0" dirty="0">
                <a:latin typeface="Arial" panose="020B0604020202020204"/>
                <a:ea typeface="微软雅黑" panose="020B0503020204020204" pitchFamily="34" charset="-122"/>
              </a:rPr>
              <a:t>推动小众语种诗歌更公平地被全球理解</a:t>
            </a:r>
            <a:endParaRPr lang="zh-CN" altLang="en-US" sz="2000" b="1" kern="0" dirty="0">
              <a:latin typeface="Arial" panose="020B0604020202020204"/>
              <a:ea typeface="微软雅黑" panose="020B0503020204020204" pitchFamily="34" charset="-122"/>
            </a:endParaRPr>
          </a:p>
        </p:txBody>
      </p:sp>
      <p:sp>
        <p:nvSpPr>
          <p:cNvPr id="16" name="矩形: 圆角 15"/>
          <p:cNvSpPr/>
          <p:nvPr/>
        </p:nvSpPr>
        <p:spPr>
          <a:xfrm>
            <a:off x="7950202" y="5036224"/>
            <a:ext cx="3155949" cy="1405286"/>
          </a:xfrm>
          <a:prstGeom prst="roundRect">
            <a:avLst>
              <a:gd name="adj" fmla="val 20475"/>
            </a:avLst>
          </a:prstGeom>
          <a:solidFill>
            <a:schemeClr val="accent1"/>
          </a:solidFill>
          <a:ln w="12700" cap="flat" cmpd="sng" algn="ctr">
            <a:noFill/>
            <a:prstDash val="solid"/>
            <a:miter lim="800000"/>
          </a:ln>
          <a:effectLst>
            <a:outerShdw blurRad="304800" sx="102000" sy="102000" algn="ctr" rotWithShape="0">
              <a:prstClr val="black">
                <a:alpha val="25000"/>
              </a:prstClr>
            </a:outerShdw>
          </a:effectLst>
        </p:spPr>
        <p:txBody>
          <a:bodyPr rtlCol="0" anchor="ctr"/>
          <a:lstStyle/>
          <a:p>
            <a:pPr algn="ctr">
              <a:lnSpc>
                <a:spcPct val="150000"/>
              </a:lnSpc>
              <a:defRPr/>
            </a:pPr>
            <a:r>
              <a:rPr lang="zh-CN" altLang="en-US" sz="2000" b="1" kern="0" dirty="0">
                <a:latin typeface="Arial" panose="020B0604020202020204"/>
                <a:ea typeface="微软雅黑" panose="020B0503020204020204" pitchFamily="34" charset="-122"/>
              </a:rPr>
              <a:t>为文学研究、文化传播与诗歌创作提供智能工具</a:t>
            </a:r>
            <a:endParaRPr lang="zh-CN" altLang="en-US" sz="2000" b="1" kern="0" dirty="0">
              <a:latin typeface="Arial" panose="020B0604020202020204"/>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5" name="http://photo-static-api.fotomore.com/creative/vcg/400/new/VCG211313685102.jpg?uid=386&amp;timestamp=1764675875&amp;sign=d8e031e654b835c23090cad5bb9053b6" descr="&amp;pky210_sjzg_VCG211313685102&amp;2&amp;src_toppic_inpsrchzd1&amp;"/>
          <p:cNvPicPr>
            <a:picLocks noChangeAspect="1"/>
          </p:cNvPicPr>
          <p:nvPr/>
        </p:nvPicPr>
        <p:blipFill>
          <a:blip r:embed="rId1"/>
          <a:stretch>
            <a:fillRect/>
          </a:stretch>
        </p:blipFill>
        <p:spPr>
          <a:xfrm>
            <a:off x="-530860" y="-111125"/>
            <a:ext cx="17698720" cy="6923405"/>
          </a:xfrm>
          <a:prstGeom prst="rect">
            <a:avLst/>
          </a:prstGeom>
        </p:spPr>
      </p:pic>
      <p:sp>
        <p:nvSpPr>
          <p:cNvPr id="8" name="矩形 7"/>
          <p:cNvSpPr/>
          <p:nvPr/>
        </p:nvSpPr>
        <p:spPr>
          <a:xfrm>
            <a:off x="-1002665" y="-450850"/>
            <a:ext cx="14080490" cy="7442200"/>
          </a:xfrm>
          <a:prstGeom prst="rect">
            <a:avLst/>
          </a:prstGeom>
          <a:solidFill>
            <a:srgbClr val="FEFAEE">
              <a:alpha val="5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993979" y="1185585"/>
            <a:ext cx="10205885" cy="4695887"/>
          </a:xfrm>
          <a:prstGeom prst="rect">
            <a:avLst/>
          </a:prstGeom>
          <a:solidFill>
            <a:schemeClr val="bg1">
              <a:alpha val="81000"/>
            </a:schemeClr>
          </a:solid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圆角 27"/>
          <p:cNvSpPr/>
          <p:nvPr/>
        </p:nvSpPr>
        <p:spPr>
          <a:xfrm>
            <a:off x="4749323" y="846537"/>
            <a:ext cx="2576513" cy="694351"/>
          </a:xfrm>
          <a:prstGeom prst="roundRect">
            <a:avLst/>
          </a:prstGeom>
          <a:solidFill>
            <a:srgbClr val="7030A0"/>
          </a:solidFill>
          <a:ln>
            <a:solidFill>
              <a:srgbClr val="8259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4962197" y="924804"/>
            <a:ext cx="2151277" cy="537818"/>
          </a:xfrm>
          <a:prstGeom prst="rect">
            <a:avLst/>
          </a:prstGeom>
        </p:spPr>
      </p:pic>
      <p:sp>
        <p:nvSpPr>
          <p:cNvPr id="30" name="TextBox 10"/>
          <p:cNvSpPr txBox="1"/>
          <p:nvPr/>
        </p:nvSpPr>
        <p:spPr>
          <a:xfrm>
            <a:off x="3218488" y="4613227"/>
            <a:ext cx="5756684" cy="782744"/>
          </a:xfrm>
          <a:prstGeom prst="rect">
            <a:avLst/>
          </a:prstGeom>
          <a:noFill/>
        </p:spPr>
        <p:txBody>
          <a:bodyPr wrap="square" rtlCol="0">
            <a:noAutofit/>
          </a:bodyPr>
          <a:lstStyle/>
          <a:p>
            <a:pPr algn="ctr"/>
            <a:r>
              <a:rPr lang="zh-CN" altLang="en-US"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rPr>
              <a:t>指导老师：尹海燕</a:t>
            </a:r>
            <a:endParaRPr lang="en-US" altLang="zh-CN"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endParaRPr>
          </a:p>
          <a:p>
            <a:pPr algn="ctr"/>
            <a:r>
              <a:rPr lang="zh-CN" altLang="en-US"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rPr>
              <a:t>成员：王锦榕、刘璐毓、闵振昌、谢真婷</a:t>
            </a:r>
            <a:endParaRPr lang="en-US" altLang="zh-CN"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endParaRPr>
          </a:p>
          <a:p>
            <a:pPr algn="ctr"/>
            <a:endParaRPr lang="en-US" altLang="zh-CN" sz="2400" b="1" dirty="0">
              <a:solidFill>
                <a:srgbClr val="461E66"/>
              </a:solidFill>
              <a:latin typeface="宋体" panose="02010600030101010101" pitchFamily="2" charset="-122"/>
              <a:ea typeface="宋体" panose="02010600030101010101" pitchFamily="2" charset="-122"/>
              <a:cs typeface="汉仪青云简" panose="00020600040101010101" charset="-122"/>
              <a:sym typeface="+mn-ea"/>
            </a:endParaRPr>
          </a:p>
        </p:txBody>
      </p:sp>
      <p:sp>
        <p:nvSpPr>
          <p:cNvPr id="11" name="PA_库_矩形 11"/>
          <p:cNvSpPr/>
          <p:nvPr>
            <p:custDataLst>
              <p:tags r:id="rId4"/>
            </p:custDataLst>
          </p:nvPr>
        </p:nvSpPr>
        <p:spPr>
          <a:xfrm>
            <a:off x="2807073" y="2670109"/>
            <a:ext cx="7295778" cy="1200329"/>
          </a:xfrm>
          <a:prstGeom prst="rect">
            <a:avLst/>
          </a:prstGeom>
          <a:effectLst/>
        </p:spPr>
        <p:txBody>
          <a:bodyPr wrap="square">
            <a:spAutoFit/>
          </a:bodyPr>
          <a:lstStyle/>
          <a:p>
            <a:pPr algn="ctr"/>
            <a:r>
              <a:rPr lang="zh-CN" altLang="en-US" sz="7200" b="1" dirty="0">
                <a:solidFill>
                  <a:srgbClr val="7030A0"/>
                </a:solidFill>
                <a:latin typeface="黑体" panose="02010609060101010101" charset="-122"/>
                <a:ea typeface="黑体" panose="02010609060101010101" charset="-122"/>
              </a:rPr>
              <a:t>恳请批评指正！</a:t>
            </a:r>
            <a:endParaRPr lang="zh-CN" altLang="en-US" sz="7200" b="1" dirty="0">
              <a:solidFill>
                <a:srgbClr val="7030A0"/>
              </a:solidFill>
              <a:latin typeface="黑体" panose="02010609060101010101" charset="-122"/>
              <a:ea typeface="黑体" panose="02010609060101010101" charset="-122"/>
            </a:endParaRPr>
          </a:p>
        </p:txBody>
      </p:sp>
    </p:spTree>
    <p:custDataLst>
      <p:tags r:id="rId5"/>
    </p:custDataLst>
  </p:cSld>
  <p:clrMapOvr>
    <a:masterClrMapping/>
  </p:clrMapOvr>
</p:sld>
</file>

<file path=ppt/tags/tag1.xml><?xml version="1.0" encoding="utf-8"?>
<p:tagLst xmlns:p="http://schemas.openxmlformats.org/presentationml/2006/main">
  <p:tag name="PA" val="v4.0.0"/>
</p:tagLst>
</file>

<file path=ppt/tags/tag2.xml><?xml version="1.0" encoding="utf-8"?>
<p:tagLst xmlns:p="http://schemas.openxmlformats.org/presentationml/2006/main">
  <p:tag name="PA" val="v4.0.0"/>
</p:tagLst>
</file>

<file path=ppt/tags/tag3.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4.xml><?xml version="1.0" encoding="utf-8"?>
<p:tagLst xmlns:p="http://schemas.openxmlformats.org/presentationml/2006/main">
  <p:tag name="TYPE" val="vector"/>
</p:tagLst>
</file>

<file path=ppt/tags/tag5.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6.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7.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8.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9.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0.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1.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2.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3.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4.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5.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6.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7.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8.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19.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20.xml><?xml version="1.0" encoding="utf-8"?>
<p:tagLst xmlns:p="http://schemas.openxmlformats.org/presentationml/2006/main">
  <p:tag name="KSO_WM_DIAGRAM_VIRTUALLY_FRAME" val="{&quot;height&quot;:331.58102362204716,&quot;left&quot;:28.68968503937008,&quot;top&quot;:119.85653543307087,&quot;width&quot;:886.0689763779526}"/>
</p:tagLst>
</file>

<file path=ppt/tags/tag21.xml><?xml version="1.0" encoding="utf-8"?>
<p:tagLst xmlns:p="http://schemas.openxmlformats.org/presentationml/2006/main">
  <p:tag name="OP_SCP_SHAPE_TYPE" val="Body"/>
  <p:tag name="OP_SCP_ITEM_INDEX" val="2"/>
  <p:tag name="OP_SCP_DEFAULT_TEXT" val="单击此处添加文本，单击此处添加文本。"/>
</p:tagLst>
</file>

<file path=ppt/tags/tag22.xml><?xml version="1.0" encoding="utf-8"?>
<p:tagLst xmlns:p="http://schemas.openxmlformats.org/presentationml/2006/main">
  <p:tag name="OP_SCP_SHAPE_TYPE" val="Title"/>
  <p:tag name="OP_SCP_ITEM_INDEX" val="2"/>
  <p:tag name="OP_SCP_DEFAULT_TEXT" val="添加标题"/>
</p:tagLst>
</file>

<file path=ppt/tags/tag23.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24.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25.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26.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27.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28.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29.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30.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31.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32.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33.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34.xml><?xml version="1.0" encoding="utf-8"?>
<p:tagLst xmlns:p="http://schemas.openxmlformats.org/presentationml/2006/main">
  <p:tag name="KSO_WM_DIAGRAM_VIRTUALLY_FRAME" val="{&quot;height&quot;:994.5459842519685,&quot;left&quot;:365.93661417322835,&quot;top&quot;:72.59944881889763,&quot;width&quot;:503.95732283464565}"/>
</p:tagLst>
</file>

<file path=ppt/tags/tag35.xml><?xml version="1.0" encoding="utf-8"?>
<p:tagLst xmlns:p="http://schemas.openxmlformats.org/presentationml/2006/main">
  <p:tag name="PA" val="v4.0.0"/>
</p:tagLst>
</file>

<file path=ppt/tags/tag3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38.xml><?xml version="1.0" encoding="utf-8"?>
<p:tagLst xmlns:p="http://schemas.openxmlformats.org/presentationml/2006/main">
  <p:tag name="COMMONDATA" val="eyJoZGlkIjoiY2Q0ODk2Njg0ZWY5NjY1ODVkNjdiMGNjNzg2MGZjZG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Nexa Light"/>
        <a:ea typeface="微软雅黑"/>
        <a:cs typeface=""/>
      </a:majorFont>
      <a:minorFont>
        <a:latin typeface="Nexa Light"/>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2">
      <extobjdata type="ECB019B1-382A-4266-B25C-5B523AA43C14" data="ewoJIkZpbGVJZCIgOiAiNDcyMDU2ODcxNjg1IiwKCSJHcm91cElkIiA6ICIyNTEzNzA3Nzg5IiwKCSJJbWFnZSIgOiAiaVZCT1J3MEtHZ29BQUFBTlNVaEVVZ0FBQnJBQUFBTmxDQVlBQUFBMEdia2NBQUFBQVhOU1IwSUFyczRjNlFBQUlBQkpSRUZVZUp6czNXZDhWRVhmeHZGcnp0WTBJQ0gwRmlCVUtRR2tpRXF4Z0NLaW9tQUh2TEZnNzloUlZPeGllZXpZRzRLSVVoUVVBUVZwSWkxVUlmVGVXL3FXODd3Z1diTWtRQUJsby95K0wyNzN6TXlaODk4bGR6NjRsek1qQV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UGczTVpFdUFBQUFBQUJ3WWxWTVRpN25ka1ozc1dRbFJib1dBQ2pJdG9NYmNnS1pvN2VrcFcyUGRDMEFBQ0N5bkpFdUFBQUFBQUJ3WW5rY01SY2FtY0hHcUhTa2F3R0Fnb3d4NlI3RjJKSStqSFF0QUFBZ3NnaXdBQUFBQU9Ba1k0eXBSbmdGb0dReXNjYW9XcVNyQUFBQWtVZUFCUUFBQUFBbnNTWk5XNmhKU290SWx3SGdKSmM2ZjQ1U0Y4eUpkQmtBQUtBRUljQUNBQUFBZ0pOWWs1UVd1cWIzalpFdUE4Qko3bk85UjRBRkFBRENXSkV1QUFBQUFBQUFBQUFBQUNpSUFBc0FBQUFBQUFBQUFBQWxDZ0VXQUFBQUFBQUFBQUFBU2hRQ0xBQUFBQUFBQUFBQUFKUW9CRmdBQUFBQUFBQUFBQUFvVVFpd0FBQUFBQUFBQUFBQVVLSVFZQUVBQUFBQUFBQUFBS0JFSWNBQ0FBQUFBQUFBQUFCQWlVS0FCUUFBQUFBQUFBQUFnQktGQUFzQUFBQUFBQUFBQUFBbENnRVdBQUFBQUFBQUFBQUFTaFFDTEFBQUFBQUFBQUFBQUpRb0JGZ0FBQUFBQUFBQUFBQW9VUWl3QUFBQUFBQUFBQUFBVUtJUVlBRUFBQUFBQUFBQUFLQkVJY0FDQUFBQUFBQUFBQUJBaVVLQUJRQUFBQUFBQUFBQWdCS0ZBQXNBQUFBQUFBQUFBQUFsQ2dFV0FBQUFBQUFBQUFBQVNoUm5wQXNBQUFBQUFBQ1JzV25EV20zYXNGYW50bWtYa2VmbjV1UW9FQXhJa3FLaW9nODcxdS8zSytEM3krLzNLVGMzUno1ZnJueTVPY3JKemxadVRyYXlzN09VbFptaHpJeDBaV2FtcThNNUZ5cXVkSmxDejF1eWNJNXExV21vVW5sOTJkbFpXclB5VDYxZnUxSnQyM1ZTVEd6Y1AvaU9BUUFBVUZ3RVdBQUFBQUJRd2lVbkozdlMwdEp5SWwwSC9sNFR4MzJyUDJiK3FsVXJsdXFXZXdlcWFZczJ4elhmR3k4TjBMVEo0eVZKbjR5Y0tyZkhjOWp4djB3WW8vZmZlRlpPaDFNdnZEVlU1U3RXMGN6Zkp1cTFaeDhxOWpOalM1WFdrS0VUd3RvK2VXK3d4by82cXNpK2c3Myt3aU9hTTNPS0pHbm85NytIMmpldVg2Tkg3KzZqWURDZ1lDQWd2OTlmN0pyeWVUeGVkZXJhSTZ4dCtHZnY2UHR2djVBazliN3BYcDNYN1hKdDI3eEJBL3ZmS0VuYXRYMmJMdTk5ODFFL0N3QUFBSDgvQWl3QUFBQUFLT0ZpWW1JZWJ0YXNXVG5idG9mbjV1Wk9YN0prU1c2a2E4THgyN1Z6dStiL01WMlNOR1hpMk9NT3NJNVczUVpOSkVrNU9kbDY5N1duOWVnemJ4M3pYQ3VXTGRUY1diL3AwcXR2S05RM2IvWTBCWU5CTlcxeG1uSnpzalhpaXlHNitQTHJRaXVnaWxLNWFnMjVYRzd0Mzdmbm1HdWFPMnRxV0lDMWZHbXFmdmp1eTlCMTJwK0w5UDcvclpJa3hjYVZVdnIrZlJvLytxdERQclA3VmRjcm9XeTVZNjRIQUFBQVI0Y0FDd0FBQUFCS09NdXk2aGhqcmpURzNPejFldGMzYTlac3VLU3Zzckt5Vmx1V3RaOUFxK1RLenM2U2JkdEY5alZ0MFVZamg3NHZTWm96YzRyMjd0a2x0OGRiNUZpWHl5Mm4wNm5KUDQ1U2JtN1JpL0UyYjFnWGVqMXgzRWhaRGtlUjQrbzNhcVlhTmV1b2N0VWE2dHI5R28wYS9yR1dwTTdSaEIrKzBWbWRMOWI3d3laS2t0TCtYS3puQnR3aFNlcDF3OTFxZDA3WFFuTVpZeVJKRTc3L1JsTW4vYUQ2alpvVkd2UDE1KzlwZGRwUzNmSEFJUDN3M1ZDbC9ibElzNmRQMXYyUHYxeGtmZm56OXV6VlQ5dTNicGJiN1piTDdaSEw1WmJiN1pFdFc2Ty8vbFJObXJYV2FlM09sZHZqa2NjYkphODNTbTZQVjhGQVFQRmx5NFZxazZRdG05YnI5ZWNmQ2Z1em1QYkxqNFdlbTUyZHBZbmp2eTJ5cGs0WDlpREFBZ0FBT0lFSXNBQUFBQURnMzZXYU1lWmVTYmQ0dmQ1VVNWT2FObTA2TXhnTXpsKzRjT0dxU0JlSGNIMTdkRlF3R0R6aXVKeWNiUFc3K3J4RDl2ZnBkNTg2WDloVFgzNzhodEwzN1QzaWZKOE9lZVd3YzlXb1dVZVMxTzJ5WHBvNGJxUktsVTVRdlFaTjVIUTZ0VzNQTHZuOVBpMWRORGQwVDZreUNkcTVZMnVodVNwVnFTRkpPdlcwOXBvNjZRZk5uajVacmdKYkYyN2V1RTZyMDVZcVBpRlJMZHQyVkU1T3R0YXNYS1lkMjdmbzhmdXVWK240c29lczg1enp1MnZOeWo4VkRBWlZxMDZEVVB0VEQ5MnM3VnMzYWNuQ09lcHo4LzF5T3YvNmF1T0g3NzdVNks4L1ZkOWJIMVRMdGgwa1NSdldyZEl6ajl5bTNidDJTSG1yclY3L2FIVFlzMTU5NWtHbHpwMnBha25KR3ZqUyswWFc0emxFdUFnQUFJQi9CZ0VXQUFBQUFQdzdSVm1XMWRxMjdWYkdtRDBPaDJOalNrcktVbVBNc1AzNzkwOUlTMHZiRitrQ1VmSkZ4OFRxbmtkZlVLM2todko0RHdRMHp6NTZ1M1pzM3hJMjdvMFhIeXZ5L3BmZkdhN0sxWkxVS0tXVkhFNm41dncrVlczT1BDZlVQK25IVVpLazl1ZDJrOVBwVklkekwxUkMyZko2K2VuNzFPcjBzNVMrZjYrMmJ0NVE1TnlUZnhxdEQ5OTZYckZ4cFRYbzFVOUNxNTlTVG0yckphbHp0SG5qT3YwMmVadzZuSHVoSkdudHF1VWErdkdiOHZ0OEd2cnhHMG81dGExY2JyZCtHanNpRkY1SlV2citmYnI1b0xEUTV6dXdpSEhEMnBXRitwUzNmV0MzeTNvVjgxTUZBQURBMzRFQUN3QUFBRUJKNGtoT1RuYjYvWDVUakxFbkV5di9SUkhiMFJsalRMeWtlTXV5R2tucUVSY1hsOTZzV2JQUEE0SEF4NW1abVV1enM3TjlHelpzeURyaFZVUGRMdXV0UURBZ1Nacjg0M2RLMzM4Z1YrelV0WWM4M3FoQzQyZE1tYUFkMnpaTGt1bzJiS3A2RFp0S2ttb20xNWNrdmZiK3QwVnVTZmptU3dNMGIvYTAwTFhUNmRRamc5NVV0YVRrUW1NUDNxYXdRYVBteC9rdXBlam9HSFc3ckxjU3kxWFEydFVyUXUxSnRlcXFZZVBtT3JkTDkxQmJrK2F0OWZRckg2dEt0Wm9hUEtqL0llZE1MRmRSZnA5UGUzYnQwSnN2RGRDano3d2xZNHpPUHIrN3ZodjJrVEl6MGpWcStNYzY4Nnd1Q3ZqOStyOFhIcFBmNTVQRDZkVHQvWitXeSsyV0pKM1I4VHhOK0g1RWFGNlgyNjMyZWFGWHZybS8vNllkMnpZck5xNjBUbXQzYnFGYWF0U3NlOXlmRVFBQUFJNE9BUllBQUFDQWtzS1JrcEx5ckdWWkRXemI1dDlWd2pVNVhHZCtvSkYvNW84eEpsWlNQNGZEY1dOY1hOek91TGk0WlFrSkNaL1l0djM3d29VTGw1eVlraUZKbC9lK09mUTZJMzJmSm8zL1Rzb0xwRG9jRktKa1oyZHB3dGl2UTlmWDlMMURkZW8zRGhzVEhSTmI2QmxUSi8wUUZsNUprdC92MTRkdnY2aW5CMzhrZDRFdC9mS3RYYjFDajkvYk4zVHQ4bmcwWk9nRVNkS2p6NzZsN1ZzM2E5QWp0MHA1WVZ2bnJqMUNZOGVOK2tvL2p4c1pOdCs2MVN0VXQrR0JIOU41Znh5b0plRDNLeWF1bEM3czBWdWJONjFYcVRJSmV1ZlZKOVdxYlVlMWF0dnhzSitiSkRWdTFrcm5YM1NseG8wYXFpV3BjL1R6dUpFNnQ4dWxpbzZPVWZ0ekx0U0VIMGFvMHdXWHliSXNqUmoya1RhdVh5MUo2blhqUGFIQVQ1THExRytzNmpYcnFGVHBNbG8wZjdZODNpaGQwZWZXc0dkdDJiUmVPN1p0VnBtRXhFSjl5anVERENlT1VUQTJKU1VseGJadFk5dTIwWUhmYzBZSHd0bXc2NFAvS2NrNEhJNUNiZm12RDlkMzhEL3p4MG9xcWovMDJ1bDBxbUN0QmZzY0I4NmlLL1NNZytjOHFLNUR2amZMc29xOHYyQmZNQmdzOGdBOHk3SjI3ZHUzNzZlMHRMU2lEOUlEQUtDRTRWOEtBUUFBQUpRSVRaczJiWkYzdHBPVkg4VGdnSU5YM0JUOGZBcjIyYllkMW1lTXNTU1ZzMjA3MGVGd05KTzBxWG56NXNzemN3SjJUbEQ1MzMvaUJHbmJybE1vd0JvL2VwamFuOU0xN00vcmw1OUdLenY3d0VLNWFrbkpoY0tyb214WXQwb2Z2ZjJpbFBkemtmL3o0UFo0dEg1Tm1qNSs5eVhkZU1jamhlNnpnMEhsNUdTSHJ2TlhpVWxTaFVwVnRXTHB3dEIxODFabnFuSzFwTkIxYkZ6cFF2T04vdVl6VFpzOFBxd3RLek5EencrNFU1SVVYN2FjV3JSdXAybVR4MnZhNVBHNitQTC82ZkplL1k3NC9xN3NjNnNXcC82aHNvbmwxZXpVMHlWSlBwOVBPN1p0Vm5MZFJvcUpLeVZqakxwY2ZLVldyVmlpK0xMbDFPbUN5OExtTU1ibzhSZmUwNWNmdks1Rm1xMzBmWHYxdjhzNkZQbTg5V3ZTaXV6cmNlMU42bjVGM3lMdndkOHYybVUxc0N4cmFNSGdKMDhvckRIR0hQaWY4UGF3QUNpdk8zL1l3V1BENWlvd1o2RXgrVFdZZ3lZcytOeTh0ckJhOC80L2VkaWFpd2lwRHZtY2c4T3Z2TkNxVUwyV1pSVVpZTm0ydmNIcjlWNGdLYldvZmdBQVNob0NMQUFBQUFBbGdqR21jbDdnSWtrQlNiNElsMVNTdUNRVitZWGt3UTVlalZWQXRER21tbTNic1E2SFdhV0FUWDUxZ3AzUzlGUlZyMWxINjFhdjBOcFZ5L1hiNVBFNjg2enpKVW1aR2VrYS9mVW5vYkVYOSt4enhQbjI3TjZwNXgrL1cxbVpHYXBRcWFxcUpkWFdIek4rbFNUMXVPWW1mZkhCNjVyODR5aVZUU3l2UzYrNkllemUwdkZsZGVGbHZiUm8vdTlhbmJaTWtoUUlCSFQ3ZGQya3ZQQXAzenV2REpTeFFydFlodlU5K1dBL2RleDhzU3hqS2UrTGRBV0R3VkIvZnB2RGNxaGJqMTVha2pwSG16YXMwWGZEUHBUYmMraFZUVE9tL2h6YVNyRjV5ek1VSFJ1ckdWTVByQkFMK1AyYVBlTVhTVkpPVHBiMjd0a1YrbnlEZ1lER2ZQTlphSjdHS2EyVVZMdWVvcU5qUW0wZWoxZmRldllPZTk1dms4ZHI4NGExS2hOZlZ1ZDJEUS9BSktuaDM3RE5Jb3JQV0ZhMHBQb3ErbmZaNGU4dDV2aWptZmVmbVBPZnJPTXdZcDFPWjhMeFRnSUF3SWxDZ0FVQUFBQ2d4TEZ0ZTZadDJ5OUZ1bzZTd2hoemo2UXo4NitMT2dOSlJYeTVhUjhZdUVQU1VrbnovWDcvejd0MjdmclpHWnZZM3hoenhqOWZPUTdXL2NxK2V2V1pCeVZKbnc0WnJFWXBMUldma0toUDN4dXMzYnQyU0pLcTE2eWpObWVlYzloNTl1M2RveGVldUZzN3RtMldNVWI5N25wTVA0Ly9OdFIvYnBmTE5HLzJOQzFKbmFNUlh3eVJOeXBhRjF4eWRhZy9QaUZSVjExM216NTYrOFZRZ0dYYnRuYnYzRjdvV1h0Mjd6eGtIWHYzN0ZKbXhuN2RjdThUdXVYZUo3UnQ2eWJkYytObEN2ajlpaTFWT3JRdFliNG5YbmhQVHoxOGk5eHVqenAzN2FtM0JqOVI1THdUeDQzVTRnVi9IUFl6a0tUVmFjdEM5UmVsVDcvN2xGUzdYbGhiSU9EWDhzVUx3dHJTOSsyVjhyWnhQTGhQa3BZdlhxQ3o5KzFWeTdaRnI5ekMzeXNySjdESTZUV3ZHV05zWTR4OVlORmcwSmFVZjYzZ2dhUTBkSjAvTGhBSTJQbjNHV05zdjk4ZmRwMS9UeUFReVA5RmFsdVdGY3lmbzZoN2ZENWZ3ZnRsakxFZERrZlE1L01WL2N1NGhIRTZuYTJNTVMvbC9jY1FBQUQ4YXhCZ0FRQUFBQ2h4akRHYjVzMmI5MTJrNnlncG1qVnIxdU53L1VVRVYzNUp2OXEyL2EweFpwYlA1MXUvYU5HaUhYa3IyNVJVUC9FZnJoaUgwdnIwczlTNFdTc3RuUGU3MHZmdDFZc0Q3MVhyMHp2cTE1L0hTbmwvbHRmZjltQm81VkpSZHUzWXBrR1AzS1pORzlaSWtycjE2SzM2alpxRkJWakdHTjNlLzJrOWRNZTEyck5yaHo1Ly96WHQzTDVOMTk1dzF5RlhjVGlkVHIzMzVVOUgvWjVjQmM3WSt2cXpkeFh3K3lWSndVQkFINzcxZ3M0Ky94TFZxRmxIa2hSWHVvd2VmZVpOV1phajBIbGVQcDlQZTNidlVIeENPWGs4WG5rODNrTFB5czNOS1RMQWRibmRza3poejh6cExQeDl2ZC92MStLRmN3cVBkYm5rOS91SzdKT2tacTNJZkUrVWdNek8rZlBuajRwMEhmOFZLU2twRlkweEFRSXNBTUMvRFFFV0FBQUFBUHlMSEdLVlZVQlNqbTNiMnlTOUsrbXplZlBtYllwWWtUaXM2MjkvV0kvYzJVdnArL2RwZGRwU3JVNWJHdXE3cUVlZnc1NTl0WHhwcWw1Ly9oSHQzTDVWa3RTaVRUdjF2TGJvczZUS3hKZlZQWTg4cjBFUDM2cWNuR3lOR3pWVTY5YXMwRTEzUGFaeTVTc1ZlVTljNlRMNmNjeHcvVGoyNjJLOWwzWm5kZEhGbDE4blNWcTFZcW1tL2ZMWE9WaVpHZW1hOFAwSXpaanlrKzU5OU1BNVhidDM3OVNlWFR1MFovZE83ZDI5VXl2L1hCd2EzK3ZpQTJkY3ZmVE9NTjMvK09CQ3ovcDkrbVM5L3R6RENnUUNoZnBxMXpsRjl6OHhPR3lyd0VNNWVHWFludDA3dFcvdmJobGpWSzFHN1dLOWJ3QUFBUHp6Q0xBQUFBQUFvT1FyYXNtTVQ5STZZOHd5MjdablNwbzRiOTY4V1pLQ1JZeEZDVksrUW1YZGVNZWpHanlvZjFoN3d5WXQxT1BhbXc1NTMrU2ZSdXZETjUrVFAyK0ZVNW1FUkhYdGZvM1dyVjRoU2NyWXZ5ODBkdDJhRlhJNlhYSzUzT3JacTUrR2Z2VEdnWlZIQy83UUkzZjIxaXREdmxGTWJGelkvRG5aMlZxeWNJNzI3OXVyelJ2V0Z1dTk3TjI3VzVMa3k4M1YyNE1IaHEyT2Nuczhpb3FLMGQ0OXUvVGNnRHVWazVOZHJEbjM3ZDJ0S3RWcWhyVk5uVFJPNzczMmxBS0JnS29sSld2OW1qUkpVdVdxU2RxMlpZT1dMWjZuUVEvZnFuc2VlVjVseTFVSXUzZlA3cDFhdFdLcDZqZHFwbHAxR3NoWWx1YisvbHVvZjhyUFl6VnIyaVFaWTNUZmdKY1BXWmRsV1VvNXRXMngzZ01BQUFDT0h3RVdBQUFBQVB5TDJMYTlROUpFMjdiSFc1YTFNQ2NuWi9YaXhZdDNSYm91Rk4vdjB5ZnJzL2RlS2RTK2ZNa0NEZi9zSFYzVXM0K2lvcUlMOWRldTAwQk9sMXQrdjE4MWsrdXIzaWtwR3RqL3hpS2Y4ZGc5L3d1OXJsQ3BxdTU4OEZtOS9zSWo4dVhtcXRlTjl4UUtyMlRiR3ZUSXJVcXUxeWhzYTc4SG4zeGQwVEhocTVvQ2dVQ2g1NDRlOFlrMnJGc2xTYXFaM0VDcjA1Yks3Zkhxb2FkZTEzT1AzNlZiNzN0U3p6NTZtdzRjV3lRNW5FN0Z4eWNxSTJPL3NqSXpKRWs5ZS9WVG1maEVWYXhjUFRTdnorZlQ4RS9mMXRpUm4wdVM0c3VXMDkwUFA2ZDdicnpzd0xQcTFGZlg3bGZydmRjSGFkV0tKWHJvam12VjcrNEJhbDVndTc4VlN4Y1dDZ3VMWXR1MlhoeDR6eUg3blM2WFB2dHUyaEhuQVFBQXdOK0RBQXNBQUFBQVNyNHMyN1luQlFLQnQzYnMyREZ1MDZaTm1aRXVDRWNuRUFobzdxeXArbmJZUjJGYkJpcnY3Q20vM3krLzM2OVJ3ei9XeEhFamRWNjN5OVd4MDBWS1NDd2ZHbGU5WmgzZGNzOFQrdUc3b2JyLzhaYzFmc3l3WWovLzFOUGE2NkduWHRmU1JmTjBSc2Z6Q3ZYNy9YNnRXTFpRRlNwVkRRdXdhaVhYVjF6cE1vWEdIaXc2NWtBZzF2cU1zeFZmdGx6b1BkYW9WVmV2RGhrcGo5ZXJod2U5cWRpNFVvcFBLS2RTZVhPKzlOUjltak56aWlUcGtzdi9GemJuc2tYejlNR2J6NGVDc1RJSmlYcGswSnNxa3hCK2hsdkh6aGNwS3l0VG53MTVSZnYzN2RHTEErL1JxYWUxMTFYWDNhNUtWYXFyVXRYcXV2Q3lYbUgzYkZ5L1duTm5UVDNrNTFXNlRJTGF0dThzcCt1dkk0TWNEcjVDQVFBQU9KSDQyeGNBQUFBQWxIQ2JObTI2WSt2V3JSbVJyZ05IYjlQNk5abytaWUorblRCR083WnZDZXVMam9uVmRmM3VWNTBHamZYR2l3T1U5dWNpU1ZMNi9uMGE4Y1VRalJ6NmdScWx0RlNMMXUzVXJOVVpLbGUra2xxMjdhQVdiZHJKc2l4MTdIU1Jtclk0TFRUZjE1Kzlxd1Z6WmtpU25uaHhTQ2g4Y2JuY2txUUdqWnFyUWFQbVlUWGtyMzdLRnd5R255LzE1NUlGaWlvUWFFbVNIU3k4UzJXTDFtZHE1RmNmcVBkTjkycjBpRS9EK2p4ZXJ5VHBsQ1l0aXZXWlpXVmw2clZuSHdxOUYwbXFWS1c2K2oveGlpcFdycWFzck1MNWJaZUxyMVJjcWRKNi80MW5sWnVUb3o5bS9LbzVNNmZvbkM2WDZuKzM5TmRWMTkybVFDQ2dSZk5uYStLNGtacVh0NFZnbWZpeXFscWpsaGJObnkzTHN0VHRzdDc2YnZoSDJydG5sMlpPbmFCMjUzUlY2OVBQVWxMdGVvWE9ud01BQU1BL2l3QUxBQUFBQUVvNHdxdC9KMTl1cmw1K3VyODJiVmhUcUsvOU9WMTFlZTliRkorM211aUpGNGRvNHJpUit2cUw5NVMrYjY4a0tSZ01Lblh1TEMxZThJZXFWSytsY3VVclNYbG5NVWxTZkVKaTZINUppaTFWT3ZTNlp1MzZjbnM4aDYwdkVBaG8wWUxab2V1V3AzWFFEWGM4b3JIZmZCNXFlL25wKzR2MVhzdFhyS0w3Qjd3Y1ZzK3hpb3FLRGp2SHFubXJNM1RyZlUrR3JRd3J5cGxuZFZHTm1uWDAybk9QYU5PR05iSnRXeTFQNjZCRjgyZHJ5c1R2TmYrUDZkcS9iMDlvZkt1MkhkWG41dnMxYnRSWFdqVC93T2R3ZWUrYlZhdE9BMzMwem92YXZYTzdSZzMvV0tPR2Y2eFNwZU5WcDBGajNYTHZRRVZIeHh5bUNnQUFBUHhkQ0xBQUFBQUFBUGdIdU54dTNkNy9LVDE2ZHg4RkFnRVpZOVRtekhOMDhlWFhxWHBTY3RoWWg4T2hUbDE3Nkl5TzUydkM5eU0wZnZRdzdkbTlVNUowNVhXM0ZYdjEwdEZ3T0J4cTF2SjBUUnIvblRwZjJGTzliN3EzMENxamFqVnF5K1FGWmdXdFc3MmlVRnZkQmszK3R0cXV2ZUZ1clZ5K1JPZDJ1VlJubjM5SnNlK3JYck9Pbm52akM0MzU1bE5sWjJXcGNiTldXclo0dnFaTytpRTBwbUhqNXJya3l1dlZxT21wUmM3UnNtMEhOV3JXU2hQR2ZxM3hZNFpyOTg3dDJyZDN0MHFYU1NDOEFnQUFPSUVJc0FBQUFBQUErSWNrMWE2bm5yMXVWbVpHdXM0Ky81TFFLcXBEaVk2SjFVVTkrK2lDN3RkbzN1Ky9hZVdLSmVweThWWC9XSDNYWEgrWEtsU3NvbTQ5ZWhmWi85aXpieGQ1QnRhMUY3VTk1SnlXc1dSWmxoeVc0NWpyOG5xajlPenJueDNUdG4wdWwwdmRyK2didXE1L1Nvck92ZUF5R1dQVS9weXVxbFdud1JIbmlJcUtWcmNldmRYbGtxdTFlTUVmbWoxOXNucGNlOU5SMXdJQUFJQmp4d2JPQUFBQUFFcUVsSlNVaXkzTCtqYnY4dXU1YytmMmpIQkovMWxKOVZNZU4wWlBTTkkxdlcvVU5iMXZqSFJKS0VHQ3dhQ0NlZWRjT1ozOGQ2ODRNVDcvNUQxOS9zbDdraVRiMWhOcmxzMGZHT21hL2l0U1VsSTZXSlkxMUxadHIyM2JsOHlmUC8rWFNOY0VBRUJ4OERkUkFBQUFBQUFRWWxsVzZKd3RBQUFBSUZMNEd5a0FBQUFBQUFBQUFBQktGQUlzQUFBQUFBQUFBQUFBbENnRVdBQUFBQUFBQUFBQUFDaFJDTEFBQUFBQUFBQUFBQUJRb2hCZ0FRQUFBQUFBQUFBQW9FUWh3QUlBQUFBQUFBQUFBRUNKNG94MEFRQUFBQUFBQUFDQXZ5UW0xb3Z6bG5aV2NGcDJyTzJ3b28yYzdralhCQ0J5QXNGZ3dBVHNUTXVoakV5ZnZYdmI2a1ZiSTEzVGlVQ0FCUUFBQUFBQUFBQVJWcU5Pb3diR1lWMHNXVzFrN05xUzhSckpKVnRPR1p1ZHRJQ1RtTU95Yk9Pdy9iWXRmN1JIdVVuMW0yNjJiVFBiRGdaK1dyZGk0YytScnUrZlFvQUZBQUFBQUFBQUFDZWVxVkM3U1Rtdnl6N0hzcTJiWlprekNuVEo3WExKWVZteUhKWXNZeUpaSjRBSXMyMHBHQXdxRUF6SzUvTXBhTnYxakZFSFdZNzdrK28zWFN2WjcwclcwRFhMNW0rVTVJdDB2WDhYQWl3QUFBQUFBQUFBT0lHcUpEZXA2blRxQ2lOenBURldjeG5KWVZtcVc3T0dhbGV2cGxwVnE2aEMyYktLaVk1U1RKUlhMcGNyMGlVRGlLQkFJS0Nzckd4bFpHZHIrNjVkV3J0cGk5WnMzS1NsSzFjcFBUT3JobVNlc1czN3BocjFtNDZRWDErc1RWdXdRRkl3MG5VZkx3SXNBQUFBQUFBQUFEaEJxdFpxVU1mcE5POUphbU9NOFphS2pWSFhEdTNVdFdNN1ZVeE1VRnhNakdLam95TmRKb0FTTENzblIra1ptZHE3UDExVC9waXJyOGRQMEpxTm0yckkxbDF5MmhmV3FOL2s0YlhMVXIrSmRKM0hpd0FMQUFBQUFBQUFBUDV4TFZ4SjlYeG55NWhoeHBoU1hvOWJLUTNxNjRIcmU2dGV6U1FadGdrRVVFeFJIbytpUEI2VlM0aFhjbzFxdXZpY2pucnppMkVhTzNtS1kxOUdSbDNaK3JwNjNhWlBaTzMyRGQ2K2ZVbDZwT3M5VmdSWUFBQUFBQUFBQVBCUGF0alFuUlR3OVpObERUQlNxVHBKMVhYZEpkMTBZY2QyY2pyNWloYkE4VWtvWFVxUDNYS0RPcDl4bXQ3Lytsdk5tSjlxL0g3L3c3RUo3bXF1K0xvUGJWcStmRWVrYXp3Vy9IWUVBQUFBQUFBQWdIOVFVc0IxdHl6em9KSEsxSytWcE9mdnUxTzFxMVdWdytHSWRHa0Eva05hTmo1RnRhcFYwZUNQdjlDM0V5WjVKUHRhdDZMTFNjbVhTMms1a2E3dmFGbVJMZ0FBQUFBQUFBQUEvcU1jMWVzMzZXMHM4NXpEc3NvMHJWZFhuejcvdE9vbTFTQzhBdkMzTThZb01UNWVnKzY2VlZkMDZTeVAyKzB4bGk2cVVTOW1TRkpTa2pmUzlSMHRBaXdBQUFBQUFBQUErUHVaYXZXYm51T1FlZG95UmgxYXR0RGdoKzVWWEV4MHBPc0M4Qjluak5IOWZYdXJiNDlMRk9YeHlMSjBpVHhsN2xCeXNpZlN0UjBOdGhBRUFBQUFnSlBZMmpXck5PWFhueU5kQm9DVDNObzFxeUpkQXZDM3ExeTNibG1IekZPMjdDcFZLMVpRLyt0N3ExSzV4RWlYQmVBa0VSM2wxWFhkdTJuMWhvMGFOMlZhckRIMmZkVWRubW5ycEdtUnJxMjRDTEFBQUFBQTRDUTJjL29VemYxalpxVExBSENTeTgzTmpYUUp3Ti9ONGJLaUJoaWpsakZSMFhydDBmNnFVYVZ5cEdzQ2NKS0pqWTdXMDNmZHFwVnIxMnY1Mm5YbExEbmZLMWV1WWV2dDI1ZWtSN3EyNGlEQUFnQUFBSUNUalIzY0syTnlKZVAyK1hMbDgvSEZNWUFTd3k4N3VEZlNSUURISzZsK2syc2tjNHZiNWRSZHZhOVMvWnBKa1M0SndFa3EydXZWRTdmMzA5M1B2YXl0TzNZMmpFNXd2WllVazNUcm1qVnJzaU5kMjVFUVlBRUFBQURBU2NidkQ0eDF1QjJWTGR2VWpIUXRBRkNRTFh0OUlCQWNFK2s2Z09OUnVYYWpha2JtUGhrNVdqWnVwUFBPUEQzU0pRRTR5WjFTcDdZdU9xdTlQaGp4bld3RnVnZThwWWRMK2pIU2RSMEpBUllBQUFBQW5HUTJyRnljSnVuaHBLU1UyRWpYQWdBRnJWbXpJRjJTUDlKMUFNZkJ1QnhXWjBuSk1WRlI2bm4rdVVxTUx4UHBtZ0NjNU53dWx5N3RkSTRtVEorbDFSczJsbkVxZUdubHlwV25idHEwS1RQU3RSME9BUllBQUFBQW5KejhhOWJNM3hQcElnQUErQytwV3ZXVWVPTXd2U1RqYmRhZ250cWQyaUxTSlFHQUpLbDY1WXE2dE5QWmV1bkRUMlViYzZFak5uNkl0R2wycE9zNkhDdlNCUUFBQUFBQUFBREFmNEVyeHB4alpOcEkwaDI5cnBMWDQ0NTBTUUFRY25tWFRxcFVMbEd5VmNFeXpwc2pYYytSRUdBQkFBQUFBQUFBd1BGS1R2Yll4dkdVSk5kNVo3UlY0N3JKa2E0SUFNTEVSa2ZydHF1dmtHVlp4aGpUcTNMTkp2VWlYZFBoRUdBQkFBQUFBQUFBd0hGS2NzYjBNY2JVTFIwWHF6N2R1MFc2SEFBb1VzZldwNnBCclpveVJnNjNSeStVNUp5b3hCWUdBQUFBQUFBQUFQOFNUc20rU3BKYU5XNms1QnJWSWwwUEFCU3BWRnlzT3AzZVJrNkhRekttVmRYYXA5U0tkRTJIUW9BRkFBQUFBQUFBQU1laGVuTERlc1pZU1I2M1M2ZWxORkZNVkZTa1N3S0FJamtzUzZjMWE2cXlaVXBMTXFXY0xrZkxTTmQwS0FSWUFBQUFBQUFBQUhBOExGZHoyMWE1bU9pelBpS0NBQUFnQUVsRVFWUm90V3g4U3FTckFZRERxbGV6aHFwV3JDRFpkcFF0YzVxU2t6MlJycWtvQkZnQUFBQUFBQUFBY0l5U2twSzh4dGh0Sk50Ym8zSWwxYXhhT2RJbEFjQmhlZHh1bmRtaW1Zd3h4aGkxcW1yRkpFYTZwcUlRWUFFQUFBQUFBQURBTWNweWxDcGxqSFdHTWNhY2YyWmJPUnlPU0pjRUFFZDB6dWx0Wkl5UnNaVWkrYXBFdXA2aUVHQUJBQUFBQUFBQXdERnlPdFhJR0RWMHU1enFmR2JiU0pjREFNVlNxMm9WblpKY1N6TEc0NUNyWjZUcktRb0JGZ0FBQUFBQUFBQWNJNmN4WFNVNVQyMTBpc3JGeDBlNkhBQW9GbU9NdXAzVi9zQnJTeGRFdXA2aUVHQUJBQUFBQUFBQXdMRXlhaWxKcDZVMGtURW0wdFVBUUxHMWJkYjB3RGFDeHRSWDFhcFJrYTduWUFSWUFBQUFBQUFBQUhCc25KWnRta2hTL1ZvMUkxMExBQnlWdUppWTBNclJhdEVKcDBhNm5vTTVJMTBBQUFBQUFPREVLbCt6VVlVb2w3bk1PQnpKa2E0RkFBb0tCb05yczNPRFE3ZXRYclExMHJVQXhWR2xmdjFhTWlvVkUrVlZoY1NFU0pjREFFZkY3WGFwWXJteTJyWnJsNHhSYzBsVEkxMVRRUVJZQUFBQUFIQ1NpWEk3TGpER0RESlM2VWpYQWdBRk9TeVRIdVYyN0pQMFlhUnJBWXJEWWJ1YnlFamxFdUlWN2ZWR3Vod2NwYXpzYkVYOVEzOXVxOWV2MTY0OWU5U2ljZU9qdW0vdi92MHl4cWhVYkd5Ui9WdTJiMWNnRUZDbDh1VmxXWWZmWU8zMko1NVFwZkxsOWZBdHR4eFZEY2RxMHZRWmlvMk9WcXVVcGlma2VUaCticGRMRlJMTFNuK3VrSFVnd0NwUkNMQUFBQUFBNENSampLbG1ET0VWZ0pMSXhCcWphcEd1QWlndWg3R2FTVkw1aElSL0xBakI4Ym5xenJ0MFFjZU91dnJpaXdyMTNUcGdnSndPcDk1OVp0RGZmbjdaOE85LzBDOHpaMnJjeHg4ZGR0eXVQWHUwYTg4ZUpTY2xTWkx1Ry9TTXZGNlAvdStKSnlSSmN4WXVWUG15WlZXdGNtVkowa2RmajlDWWlSTTE1djMzVlRhK3pCSG0zcXRvNzEvSEdtM1p2bDFidG04djluc29YN2FzS2xlb1VLeXgyVGs1ZXVQVFQ3VXZQVjF2UGZXazZ0WmtTODEvQTdmTHBjcmx5dVZkV1NsNXgwNEZJMXhXQ0FFV0FBQUFBSnpFV3JROFRhZTJQQzNTWlFBNHlmMHhlNGJteko0UjZUS0FveGFVM2RTU1VXSkN2S0s4bmtpWGd5THMzcnRYMlRrNWhkb1hMVit1WlN0WDZlcUxMaXBXZUpXZWthR2xhU3NMdFh1OUhqV3VWMDl6Rmk1VU1HaUgybmZzM2lWL0lLRFpDMUxEeGxjc2x4Z0tveVJwNEd1dmErM0dqZnJ3aGVlVlVDWThrTnF3ZWJNZWV1RkZKU2ZWMEZ0UFBTVkpXcEsyUW5WcjFqeGllRldVY2IvOHFpRmZmVlhzOFQwdnVFQjMvZSs2MEhWT2JxNENnY0FoeHcrNDQzYmRPZkJKamZ2bEYxV3RXUEdRNDl3dWw1eE9vb21Td0dGWnFsaXVySndPaDN6K1FOa0t0WnNrYmwyWnVpM1NkZVhqcHdRQUFBQUFUbUlOR2piV0paZGRGZWt5QUp6a01qTFNDYkR3YjJTTU1WVWtxVng4dkx4dWQ2VHJ3VkVZOGNNUGtxUVdqUnRwK2VyVmh4d1g1ZkdvV3VYS1NsdTdWbmMrK1dTaC91cVZLK3VyLzN0ZEQ3M3dvdndGd2gyZjM2OUFJS0FIbm44KzFKYWRrNk1ydTEybzIzdjNEclhkYzMxZlhYZC9mejAyK0JYOTN4T1BoNDE5K01XWDVQVjQ5TVJkZDBtU2R1N2VvMVhyMXV1YUlsYVRIWTF2M243cmlHUDYzSGQvb2JZQmcxL1IxTm16ajNqdnNMSGZhOWpZN3cvWmY4TVZWK2k2SHBjVm8xTDgwNHd4cWxDMnJMd2VqL3orREpmWENwYVZSSUFGQUFBQUFBQUFBQ2RTMWFwVm94SVNFbXFucHFZdU9kNXRzcXBXcmVvMXR1MTBPQndxRlJ2enQyOUJoMk8zYTg4ZStmeCtTVkl3R0ZSNlpvYTI3dGdoU1NwYnBveDI3OXVuU1RObVNwTHVlWHJRWWVkS2FkaEFiejMxbEJvbUo0Y0ZQK04vbmFJaFgzMmxzOXUybFNUOTlObW5ZZmM5Lzg2N2hiWVFQTC9QZFRwWWpTcFZkTy8xZlNVcDdFeXJyT3hzSlpRcG93ZHZ2bG5seTVhVkpQMDZhNlpzMjVZeFJwT21Gdzc5SzFjb0w3ZkxwYm1MRmt1UzlxZW5hL08yYlJyeHd6aDVDZ1NzbGNxWFAreDdQcmlXZ3B4T3AyNjk5cHBDN1JzMmI1SEg3VmE1c2dsSG5MdFIzWHBISElNVEp5NG1XaTZYVTdhTXczYVk2RWpYVXhBQkZnQUFBQUFBQUlDVFFueDhmRU9uMHprckpTVmxoMjNiUHdRQ2daRzV1Ym56bGk5ZnZsV1MvMmptc3F4NHIyMk13N0lzVmwrVk1IYzkrWlRTMXE0TlhSZGNFZlRaNEpmMThZaHY1SFE0OU5KREQ4bnRkaDF5bmtkZWVpbTAxWjNiN1E0RlA2bkxsdW5qRVNQVXZuVXJYZGZqTXYwNmExYWhlN2RzM3k2ZjN4L1c1L1A3dFdIekZ2MDZhNWJLeHNjck56ZFg4eFl2Q2ZWL01HeTR0dTNjS2FmVHFaSGpmMVRqZXZVMFkrNWNiZHk2UmVlZWNZWituREpWa3ZUcHlHK0xyTGZyMldlcFFlM2FHdnpCQjZHMkhidDNhL0FISDZoMFhKeDZYbkNCSkdubXZIbEgvQXo5aDlncTBPbHc2UEt1WFF1MTMvcllBS1grK2FlK2VmdXRVT0NHZndlM3l5V0haVW5HdGhTd29vcHh5d2xEZ0FVQUFBQUFBQURncEdEYnRyRnQyMkZaVmdYYnRxOXpPQnk5WEM3WHptYk5tcVVHQW9HUmtzYWtwcVp1S001Y0pzYnZOYktjeGhoNVBBUllKVW4vZmpjcEt5dGJ1VDZmN24vMldaM1hycDNPNzlCQmtyUmh5eFpObkQ1ZGZYdjJWS3VVcHZMNWZISzVEaDFpZVE0S0p6ZHYyNjZIWG5oQk5hdFYwK04zM2ltZjM2K0JyNzFlNkw3OExRUUw5bVhuNUdqR3ZIbWFuWnFxMDVvM1U5TUdEVFIreXBSUWYyWldwbmJ2M1NlUDJ4M1czckpKRTFVc1YwNEwvL3hURjNmcXBCdXZ2Q0xVOSsyUFAybklWMS9weFljZVVyTlRHc3J0Y3FsenUzYVNwTDRQUEtpcWxTcHE0RjEzeVJpanI4YU1sWXF4NnV4SWJOdFdlbVptNkhyZHhrMmF0MlNKMnJkdXBTaXZWL3N6TWc1NXI5ZnRQdXpualJQUDQzYkxzaXdaMjFoeStBbXdBQUFBQUFBQUFDQ1M4cmI4Y3hoanl0dTJmWTdENFRqYkdQTnlzMmJONWdhRHdlY3lNakltcEtXbDVSeHlncURMYXhzNUxNdXdBcXVFYVZTM3JpVHA5L2tMSkVsVktsWlV5NlpObEp1YnE2dnZ2a2NWRXhOMTFVWGRKRW52RGYxSzArZk8xV3VQRDFCaWZIellQRDZmWHk3blgxK2haMlJtcXY5eno4b3lscDUvOEFGNVBSNUowcVF2dnloVXc2RzJFT3pTc1VQWUdWajVxNkpXckZtakI1NTlUcExVTURsWlhjOCtXK2UxYnhmYW12S3VKNStTOHNLak1xVktoZTdmbjVFdVNhcGRvN3Fpb3c1a0QvbXJ4aXpMa21Xc1VIdStIejc2TU94NjQ1YXRHdlh6QkhYdjNGa1Z5NVdUSkwzNDNudEtxbHFseU04M1BUTlRuWHYxTHRUKzY2emY5ZXVzMzR1OEo5ODlmZnZxc2k3bkgzWU1UaXlQKzY4VldJNGdLN0FBQUFBQUFBQUFJS0pzMno2NHlVaUtNc2FjN25BNHhzVEd4bWFrcEtSTURBUUN3ek16TTJkbFpXVnQyclJwMDEvTFRvSkJyNXhPaDJVc1ZtQ1ZVTlBtekpFa2JkbXhYVXRXcEtsKzdWcTY3UHp6VkxOcU5VVjV2Y3JJek5Tb0NSTlV2WExsUXVHVjhsWlJ1UXVzRm5yK25YZTFjdTA2M1hUVlZWcTNjWlBXYmR5a3FDaXZHdFd0cTUrblRRdjdtZHE0ZFl0OGZyOG0vUFpiMkh4RitXbnFWRDMzOWp0cVVyKytZbUtpdFdyOWVnMTY4MDM5T0dXS0hyL3pEczFadEVpL0x6Z1F4bTNldGkzczNzM2J0c25wZEI3VnRuMEZBekJKV3JWdW5jWk9uS1F1SFRxRStnYmRkOThoNy9lNjNici94aHVrdkJWdFEwZVBVY3NtVGRTaFRlc2pQcnRwZ3diRnJoTW5odHQxWUFXV0xXTUZiQkZnQVFBQUFBQUFBRUNrNWE5dUtSZzg1TDgyeHNRWVk3b1pZeTRzVmFyVW5yaTR1T1dKaVluakxjdjZidjc4K1F0a083eXliYWV4akx4dVQ4VGVBNHJtOS92MTg3UUQ0ZEdFcWI5cDB2UVplcTUvLzdEem0wYU1HNi8wekV6ZGNPVVZzbTA3OVBPUUwvZWc3UVZYcmxzblNYcjN5eTlEYmJXcVY5Zm5yd3pXVzU5K3BrQXdHR3JmbjVHaG5OeGN2ZkhKcDZHMnJPenNzUG0zYk4rdWw0ZThyMmx6NXFqVG1XZm8wZHR1MDgyUFBxYmtwQnJxM2IyN0hodjhpdjdYL3dGMWJuZW1LaVltcW41eWJjMWZzalJzamo5WHJsTE5xbFZsV2RZaFA0dXM3R3h0MjdremRQMzlwRWxoL1dzM2JwSWt6Wm8vWHh1M2JBbnJxMUt4b2xJYU5neHJjN2xjdXFSelowblNReSs4S0tmVHFmNDMzYWdxRlN0S2tvYU5IU3RqVEdoMUdVcTIwQW9zMjNZNExFT0FCUUFBQUFBQUFPQ2ZsNXViNjNDNzNWR1NvaVVOYU5hc1diOUkxeFJKdG0wWFhtWlRJTWdxWW54ZXQ0bVgxTnJoY0xTVzlIRFRwazNYNS9qMVhYWkFEaU1qbDlQeEQxZU9velY1NWt6NWZIN0ZSRWVyZStkT1dyRm1yZTU3NWhrTnZQc3VkV2pUUnVrWkdmcHF6QmlkMnFTeGF0ZW9vZDczM3FmYmV2VlNxNVNtVWw0QVp0dDIyQmxZTHoveXNQd0ZWbEU5OU9LTEtoVWJKMGthK2U0N1ljL1AzMEp3MUpEM1FtM2ZqQnV2bXRXcmhhNGZmK1ZWclZpelJ2ZmRjTDI2bjNmZWdlZDVQUEo2UERxMVNSTzlPMmlRbm5uckxWM2NxWk11UGY5OFRaNHhRNy9NbktXMUd6ZXFScFVxMnJWbmo3YnMyS0UyelpzWGV2OTc5dTFUZGs2TzVpOVpvZ3YrMTFmdFdyVU1iUTg0Nk0yM2l2ek1QdmxtWktHMkxoMDZoQVZZRHNkZlArdC9wS2JxMTFtemRNV0ZYVVBobFNTTi9ubWlISlpGZ1BVdjRYSTZaVmxHUmpLMjdCSzFuSlFBQ3dBQUFBQUFBUGlQY3JsY3RZMHhjY1lZUzFMSFNOZnpiM1hRQ2kyblpWa1ZYWTVneCt5QUxkdTJsZXNyZW1zNFJJWnQyL3BzNUxkcTM2YTFmcHY5aDl3dXQ1NjUvejdkOC9UVCtuMUJxanEwYWFQUHYvdE8rek15ZEdlZlBpcGJwb3drNmJXUFA5YW5MNzhraDhPaG5OeGNLZS9MZlVuS3pzblJUMU9ucW5talJtcFV0NjVzMjlhbXJkdDBTcDI2MnJOdm41YXRYQmxXdzdhZE8rVVBCRFJ6M3J4UVc1V0tGZVF2OExQeThLMjN5R0ZacWxxcGt2YnMyNmZyN3UrdnF5KzZLSFJHVlBVcWxmWE9vS2RENDV1ZjBraVNOT1gzMzNYdEpaZG8rcHk1a3FRbTlldUh4a3o0N1RjTkgvdTlscVNseWJadGVUMGVkV2pUV2wzUFBsdVRaOHhRYkhSMG9UT3c1aTlab2pzR1BxazNuaHlvSnZYcWhmVVZYTm1WblpPanFMeHp2L3grdjU1Lzl6MTVQUjZkM3FLRmxxYWxoY2JsK255eWpBbHJ5MWNoTVZFSmVaODNTZ1ovSUtDZ2JjdVdiTW5rUnJxZWdnaXdBQUFBQUFBQWdQK3VUR05NMExidFErOHZkaElwYXBzNGhXOGJHTlp1akZFd2IxdTR2TmNaa2o3SXpjMzlZbDlXSU52bGpSb2R0SVBLenNrNVFlOEF4VEgrMXlsS1c3dFdEL1RycDk5bS95Rko4bm84ZXVuaGgrWDFlTFJ4eXhaOU5XYXN1bmZ1ck5vMWFraVNicnJxS3QzLzdMTWFOV0dDdXA5M25uSjl2dEI5a3VSME9QVGxxTkhhdG5Pbkd0V3RxODNidGlrck8xc05rbXRyMWJwMWV2akZsOEpxOFBuOUNnUUNoZG85YnJmR2ZmeVJsTGVGNE5idE96UjMwV0xOVGszVjFoMDd0R25iVm8yZThIUFlQZWVjY2JxaW82S1VuRlJERmNzbDZxZXBVM1h0SlpkbzR2VHBjam1kT3VQVUZxR3h5MWF1MU9vTkc5VHB6RFAwUitwQ05heFRSd1B1dUVPU05QYm5pU29iSHkrbk16d1d5QStwTEdNSzlSV1VsWjB0ci9mQTU1R2VtUm5hYnZEMkp3WVdPYjd2QXc4V2Fydnp1ajVoMnpnaThySnpjaFFJQkNWamdvR0FuUlhwZWdvaXdBSUFBQUFBQUFEK3V6YmF0cjFMa2xkU3YvVDA5Rm1STGlpU29xT2pteHBqUXZ1a0ZWeFpsYTlnaUJVOGtGNU50MjM3dlp5Y25KaytueThyTFMxdGl5Ui94ZnIxazV5MkhRZ0diV1VSWUpVb24zMzdyVklhTk5BcGRldUV0VWRIUlNrck8xdFB2djUvS2hVYnF4dXZ2Q0xVMTdaRmN6Vk1UdFlIdzRmcnZQYnRReXV3M0s0RE82bzVuVTYxYjkxYXY4NmNwVHQ2OTlhTXVRZFdWcVUwYktnYVZhcG8wcGRmaEQwcmZ3dkIvTENxS04vKytKTitYN0JBZ1VCQVByOWZicGRMMy8wMElkVHZEd1RrOS92VnNtbFRSVWNkT0pyby9QWWQ5TkdJRWZwaTFDak5tajlmN1Z1M1VteE1UT2llbmhkY29CdXZ2RklldDF0WDMzVjMyUE0yYk5taXhJUUVwYTFab3o5WHJRcTFIK29NcklaMTZxaG10YisyUEV6UHpGUk1WTFFrS1RZNldxOE5HRkRrKzNyMjdiZmxjRGpVLzhZYkMvVlZxMXpwa0o4SElpTTdKMWVCUUVCR2RzQnBDTEFBQUFBQUFBQUFuQURHR0R0dkJWYlF0dTNOSzFhc1dGV00yLzZ6R2pWcWxGQndTN1Q4c0NvL3lMSnRPeWdwM1JpejFPLzNmMm1NK1diQmdnVWJpNW9ya0cxbEc2LzhOaXV3U3B4bXB6VFUrUjA2Rk5uMzRmQ3Z0ZkRQUCtYMWVIVFZuWGNwSnpkWHVUNWZLTENTcEtHangranMwOXRLZVN1bThsM1N1WlBHVEp5b2tULytwSW5UcHFsR2xTcXFVYVdLZnArL1FFRTdHUGFjb3JZUXpPZHlPdFdpY1dNOTkwQi9LVzhGMC9wTm0vVDVLNE5EWVpSdDIrcjN5S1BLek01U2hjU3lvWHN2N3R4Slg0d2FwVGMvL1V5U2RQWEZGNGZOWFNFeHNjajNiZHUyVnE1YnA0dk9QVWZUNTg3Vk8xOThHZG9lTWIrbUwwZU5EbDM3L0g3ZGVWMmZVSUFWQ0FTMGNjc1duZG15cFpRWDZMVnMycVRJWjBWNXZYSlkxaUg3VWJMazVPWXFFQXhLdGdrR2dzSE1TTmRURUFFV0FBQUFBQUFBZ0pPT01hWmdjTFhiR0RNckdBeE9rRFI1Nzk2OVM5ZXNXWk45dVB0amxKbHRteko1SzdCSzFMRXhKNzFicjcwMnRHTHBZT2UxYjZmRks1YXJldVVxS2xNcVRyRXhNWXFMaVZGTWRMVGlZbUkwWk9oWG1ydDRzVTVyM2x5UzVQWDhGV0RWcjExYnA3ZG9vUStHRDFkR1pxWnV2ZlphU2RManI3NGFGb0RwTUZzSVNsSkNtVElhOGRhYmtxVHZKMDNTbklVTDFhRk42d01oUXA1aFk3L1h3ai8vMVBNUFBoQjJEbFc1aEFSMWFOTmFQMDM5VFkzcTFsV2p1bldMOVptc1dyZE9XZG5aYXRxZ2dkWnVQSkRKVHZ6aTh5SzNETXpNeXRJNTExd2Ixclp4eTFiNS9IN1ZyRjVOdjg2YVZlak1yNEoyNzkwcnl4aTkrK1dYUmZhM2JkRkNqUTg2YXd1Ums1MmJvMkF3S052WVFWbEJWbUFCQUFBQUFBQUFRS1RrQlZmK1lERDRZekFZSExKLy8vNVpmcjkvNzRZTkc0cjk1ZTBhS2J1bWJmdURRVlpnbFRTSENxOGtxWGFOR25ycnFhY08yZCt3VGgzRnhjUm8rcHc1ZVhORmgvWGZjMzFmOWJ6dGRrbFM2NVNta2xUa05vSEYyVUpRa3RxM2JxMnRPM2RxMkppeHV1U21mdXA2MWxtcVVyR0NYdi80WTExNi9ubWhGVS81NWk5Wm9ra3paa3FTRmkxZnJuRy8vS3J6TzdRLzdETWs2ZWRwMCtSMnVkVHNsRk5DQWRiUitHTmhxaVNwVGxLU1pxZW02dnRKa3c4NU5qL01HemIyK3lMN0UrTVRDTEJLa0FOYkNBWmxiQk13bG9NQUN3QUFBQUFBQUFCT3RNek16RzJsUzVlZTZQZjd2M002bmNNV0xGaXcvWmduVzdNbTIyNlFFZ2phbklIMVh4S1h0NFhmN05RRGdVM2xDdVhEK24vNDVSY0ZBZ0U1blU3ZDlNaWp1dXFpYnJxZ1kwZFZMRmZ1bUo0WEd4T2ovL1hvb1o1ZHV1ampFZC9veTlFSHR2SHplanpxY3RBMmlJdVdMOWY5eno0bmgyWHBqcjU5OWU3UW9ScjA1cHR5dTF5aExROEx5c2pNbEdWWjh2djkrdkhYS1RybjlOTlZLamIybU9xY09IMkdQRzYzV2pacG9uYXRXdW5lNjY4LzVOaXI3N3BiRHN2U3A0TmZQcVpuNGNUS3pzbFZJQmlRWkFkTndHWUxRUUFBQUFBQUFBQTQwVmF0V3JXK1ljT0dYWllzV2ZLMzdQbG4yL1lHWTB6S3Z2UU01ZnA4Y3J0Y2Y4ZTBPSUgrU0UzVis4T0dxMHlwVW9xSmlwTGxzTFIrMDJhbExsdW1Db21KYXBpY0hCbzdjdng0ZlRCc3VEcWRlWVp1dU9JS1BmZk91L3BnMkhCOU1HeTRxbFNzcUxvMWs1UlFwb3hpbzZOVnBsU2NMdTUwcmo3NVpxUWtLUkFNS0JnSXloL3dLOWZuVSttNFV1cDlhWGRKMHA1OSt6VGloM0VhL2ZQUGNqZ2NhdCtxbGFiUG5hdStEenlvOXExYjY1bjc3OVBrR1RQMTlCdHZLQkFJNklXSEhsVHJsQlRWcWw1TmR6LzF0QjRiUEZoekZ5L1M3YjE3YTg3Q2hSb3pjWkoyNzkycmJUdDNxdU5wYmZURnFOSGF0bXVYTHIrd2E5aDc3M0RsVmNYNmpKYXNTTk84eFl0MTFtbW5LY3JyL1ZzL2YwU1diZHZhczIrL2NuTjlzaVZmVmlCelY2UnJLb2dBQ3dBQUFBQUFBTURKd3Y2N3dpdEpNckxuU0ticjFoMDdsWm1kVFlEMUwxU3BmSGt0WDcxYXVUNmZnbmxuVUxsZExyVm8zRmgzOU9rZE9pTnF6c0tGZW1uSSsycmVxSkVldXVVV2VkeHUvZDhUajJ2NTZ0V2FOSDI2RnE5STA5SzBOTzFMejFCMlRvNXMydzZkc1ZhVXZwZjMxRmRqeG1yS3JGbEsvZk5QQllOQm5YSHFxYnJwcWl0VnUwWU43ZGk5T3k4WXE2Q1gzMzlmSThmL3FMaVlHRDNiLzM2MVRrbVJKRFZ2MUVndlBmeXdIbi8xVlgzNzQwL2F0V2V2TGoydnMxS1hMWk14MHFsTkd1dUtDeS9Vd0ZkZjB6VVhYNlE2U1VsaE5UeDIrMjFoNTJ2bHkvWDVOT2lOTjBQWFE3NzZTcEowV1pmei82WlBIU1ZGMExhMWNkczI1Zmg4c3FXdFcxZXVQUFpWcWY4QUFpd0FBQUFBQUFBQU9BYitvRm5nY2tqYmR1NVNWbmEyeXNURlJib2tIS1VxRlN0cTBwZGZTSkw4ZnIvOGdZQzhIaytoY1NrTkc2cnY1VDNWNjVKTDVDb1FWTmF0V1ZOMWE5WTg0blB5QTYzOFVNdXlMRDM1K3V2YXNtTzdlbDdRUlJlZGU2NXFWS2tTR3A4WUg2OEgrdDJrWURDb3gxOTVWYWZVcWFNbjc3bEhsY3FIYjFYWXNta1RmZlRpQzNycS85NVEzNTQ5bEp5VXBCOCsrakJzekd1UER3aTc3dFc5dTNwMTczN1llaS9vMkRIMCtxcHUzUlJmcXBSU0dqWTg0dnZFdjB1dXo2Zk4yM2RJa295dCtaSU9uYnBHQUFFV0FBQUFBQUFBQUJ3RFI0NDkzNDZTdlczbkxwT1psUjNwY2xDRWNSOS9WT3l4VHFjenRPTHFZQTZIUTMxNzlqem1Pb3d4TXNhRXRUMTQ4ODN5dU4ySHZjK3lyTkJLcVVQVlZpRXhVVzhNZk9LUWM3aU9jMlZneTZaTjFPeVU0b2RYWDd6NnluRTlEeWRPYnE1UG03Y2RXSFJsMjJaT3BPczVXT0gxZ1FBQUFBQUFBQUNBSTFxN05uV3RMYk5yWDBhR3R1ellHZWx5OEM5enBQQXFuOXZ0UG1SNGRhSkUrdm40WitUNGNyVXBMOEFLR3YvdmthN25ZQVJZQUFBQUFBQUFBSEJzZ2xKd25pUXRXN1VtMHJVQXdGSEp5TXpTOXQyN0pjbS8vczlnYXFUck9SZ0JGZ0FBQUFBQUFBQWNJeVBObHFTWkMxSkQ1eHNCd0wvQnRIa0xGQXphc29QMkltbEpicVRyT1JnQkZnQUFBQUFBSjdGSjQ3L1Rrb1Z6bEw1LzMzSFA5ZnYweVhweDREM3k1WmE0N3o4T3krZnpoVjM3L1g0RkFvR0kxUVBnMzhXV1BVYTJuZnQ3Nm1KdDNia3IwdVVBUUxIWXRxMXZKMHc2OEZvYUUrbDZpc0xHbFFBQUFBQlE4cmtrK1lveERnZVpPTzViL1RIelY2MWFzVlMzM0R0UVRWdTBPYXI3MTY1YXJoY0czcU5XYlR2cXpMTzZxRmFkQnRxNWZhdHU2M09oSktsQm8rWWE4UHc3aDd5LzM5WG5hZStlNC84eTg5Rm4zOVlwVFZvb0p6dGJRVHRZNUpndjNuOU5FOGQvSzBsNisvTng4bmlqaWh6bmN2MTFqc2JhMVNzMDVQK2VrU1QxdU9aR2RiL3krbU91Y2R4M1EvWHBrQU9IdG4vK3dXdTY3dWI3SlVrM1hIbXUwdmZ0UGVMOXNhVkthOGpRQ1pLa0g4Y00xOGZ2dkhUTXRVaFNwNjQ5UWpYczJMWkY0MFo5cFN1dnV5M3NESS9mSm8zVDJHKy8wSVoxcS9UczY1K3BXbzNha3FUdmhuMms3MGQrcmxwMUd1aUtQcmVxVHYzR2hlWi84b0YrV3Jwb3JwbzJiNk1IbjNvOTFMNWkyVUs5L3R3amlpdGRScGRjL2orMWJOdmh1TjZISkUzNDRSdDkrT2J6a3FSUFJrNlYyK001N2prQi9IMXkvRmxwWG1mTTBseWZyK21FYVROMDdmK3pkOS9oVFZaZkFNZS85MDNTdllBQ0JRcVV2VWNyVXhHWlRsQlJFVVVFUVJGeDc3MXcrM1BoVmhBVlVHVElFRUZBUVBZZVpkWXlDNldVMFZKSzkwamUrL3VqYldoSUNnWFJvSnpQOC9pUTk2NzNKTFV0NU9TZWUwTXZiNGNraEJCbmxKQjBrUGk5Q1dpdDh4eWFXZDZPeHhOSllBa2hoQkJDQ0NIRUJTNDZPbm80RUtxMW5tdXhXRFp0MkxCQmtsbmxsSFlzaFUzclZ3S3dkT0dzczA1Z0xaZ3puYlRVbzh5ZE9ZbHFOV3BSdDBHVHZ5blM4bm5rN2h2TGxSQWJQdUNhTXZzR0RuMk1hMjY4SFlDTmE1YzUyNlBiZG5JYm0zNzhHRzgrLzhCcDcvWENXNThUVnFFU25icGV3ODhUUnBPVG5jWHZzNllRMCs3eXMzNjkvdzc1ZVhrOC84aEFNalBTQ2ExUWtldHZHZWhNQkViVmIwUnkwajRjZGp2VEozN0wwSWRmSUNNOWpWbFR4NU9mbjBkaFlTRTFhdFloTnpjSEh4OWZMQmJMR2U4M2I5WVVVbE1PazM0OGxmcU5tNTkyN0txbDgxa3kzLzBEejQrKzhDNkxmNS9KL29SZEFDUW43WGYyZmZ2RnV5ampaRUVkZi85QUJ0NzcyRm0rS2tLSTgrbXczWjVaMjhweXRHNDVhL0Z5MWIvWE5lWDZlU0dFRU40MGYrVWFURk9EWWpOdzBOdnhlQ0lKTENHRUVFSUlJWVM0OEhWUVN0MnVsSHJOTk0yRW1KaVlNVXFwYnpkczJIREkyNEZkQ1BMeWNzczhjNlRWSlIyWTl0TTNBR3hZdlpRVDZXbjQrUHA1SEZ0Nlp4SkFUbllXS3hiUEJTQWdNSWpPUGM3OGlmcmphYWtFQkFUaDYxZDBqOC9IelhhTGJjbjhYL25tczdlcFVLa3luM3o3Q3dBL2p2bVl1VE1uMFRLbVBVKzk4cEhidWlWdmhFYldya3RvaFVxZTczMHNoY3lNZEFCcVJ0VkhLZVZ4WEZCSW1QUHgrcFZMbkk5SFBIMnZ5N2pna0RCZWZXODBTWWw3VC91Y0hYWjcwZmpRTUc3dVA1VHh4YnV3Zmh6ek1TMWoyanZIMWEzZmhONTlCN3JOLzNYS09QYnUvclBNOVFjT2ZZeXExV3NDc0hyWkFwYjk4UnNBQSs1NWhHbzFhcnVNemMvTDVaTjNYM0JwOC9YejQrb2IrakZsL05kTW0vQU43Uy9yeG9kdlBrTmljWEtveEtxbDgxbTFkTDVMMjY3NHJkeDlhemNBbm4vak0xcEV0enZ0YTNFczVRaXJseTBBd0RSTm5udG9nTWR4ZnY0QmpQeG1Ha2NQSDJUenh0VnUvUTY3blMwYlZ4Tzdib1ZiMzVJRnJoK1FEZ29KbFFTV0VONjJiMStlYnRScXRWSnF5SUhEaC8xMzdrdWtTYjA2M281S0NDSEtsSnVYeDZJMTY5QkZmMUZkazJSbXAzbzdKazhrZ1NXRUVFSUlJWVFRL3lKS3FUckFHNlpwUGhjZEhiM0tOTTNmbEZKckNnb0s5c2JGeFIzMmRuemVjSGZmcnBpbTU3SjZwZVhuNTNIZkhWZVgyWC9YZlU5eVZlOWJuZGR6ZnZtSjNKeHNBSzdxM1ErL01rcnlsY2c0a2M0Yno5MlAxV2JqOFJmZXBXcTFTQUFLQzEzUGczSTRpaEkrV210blg4bDVTNlpwdW8yM1dxeW80c1Rha3k5L3dHOHpKbmk4Zit6YUZjNEVWcHNPVjJDMXVmK1R2MkhqbGpSdjNSYUF6UnRXdXlTTzh2UHpYTWJhOG5OZHJxdEhSaEZacStnTjJhVEVCSktUOXJtdGYyV3Z2aXljTTUyUTBBbzg4T1FJbHlSYWFJV0tkT2pVM1czTzBnV25yMWpUc0ZrcjZqVm95dEhEQjUwN3hxcEYxcWJiMVgzY3hwWjE5bGJ2bXdleVl0RThrcFAyTWVYSFVmZ0hCQklRR0lURGJzZXdXSnhmWnovL0FBb0xDM0RZN1Znc0ZuejkvTEhiQzdGYWJWaXNGdXpGaVNXQXJNeWlzb2daR2Vsc1hMdWNxdFZxTUhIc0Y4NkVubW1hWmU2V3k4OHJlbTFiWGRLUmdLQmdjbk95bWZqOTUyaXRxVm90RWw4L2Z4NTQ4alVLQ3ZJQldQYkhiL3owM1djQWZQTGRMMWl0Tm1MWExuZVdmeFJDZUorSlk0dEZXVkt6YzNKcnhzYkZTd0pMQ0hGQjI1MTRnTU1wcVlES003VmV4KzdkK2Q2T3lSTkpZQWtoaEJCQ0NDSEV2NUJTS2hEb1lSaEdkK0NRcjY5dmZIUjA5Q2F0OVZ6VE5GZHUyYklsMjlzeC9wdmxaR2N4ZCtZa0tONTlkVjJmL3FjZG41ZVh5M3NqSG5jbWRWNTlhaWdmanA3S3R0aTFmUGptMHg3bnBLZWxNbTRwb0FrQUFDQUFTVVJCVk9RVzEvT1J0bTFhNTlaMldkZXJlZkRKMXdESXpjbG15dml2enhqLzlJbGpQTFpmMStjT1p3SnI2b1RSQUZpc1ZucmZkQ2N6Sm44SFFKdU9WOUMwZVF5MlU4NVphbmRwVi9vTkdnN0F6eitPZHM0dnpXcTE4c3hySXdtdkhJRlJxc3pkWDVWNUlwMzNSanhCZGxZbUFJZVM5cnU5VGdEREhuM0o0M3liemNhUUI1NWhXK3hhcnI5MUVQbDV1WHp4d1N0b3Jibi9pUkhjZitlMUFMejl5WGptelpyQzNGOG0wcnJ0WmR3NllCaXZQRFdVanBmM3BFbnpHTEl5VHZEZWlNZGQxazdZSGM5N0l4Nm5lbVNVOCt0L1NZZk9OR2prWGo1dzQ3b1Y3SXpiRE1XSnZhaDZqWWlxMTRndlB4eUIxaHFMeGNJRFQ0N2dpdzllSVg3N0p1ZThrb1FYd0N0UEZwMVRWbGljM01yT3pPRCtnZGZ4enFjL0VCSmE0UnhlWFNIRStaQzBZMXRjVk9OV3lRV0ZoVFZYYjluS0RUMjZFT2gvK2c4K0NDR0VONWlteWNyWXpSeExQd0ZLWjlpMVh1ZnRtTW9pQ1N3aGhCQkNDQ0dFdVBBNWE5QnByVjEydGFpaWkrcEFkYTExRjhNd2hpdWwwcUtqbzhmYjdmYXhXN2R1amZkVzBQK1U2MjhaaE1NczJzRzBhTjRNc2pJem9IZzNrSytIWFZPcmxzNG45V2hSOWNXR1RWdlJxR2tyQU9yVWIrd2NNK1dIcjUzck5Hdlpoc0NnNERMdm41MlZ5YnV2UE1ydUhkdWdPQ0UwN05HWDhQY1BjQmxYb1dJNEtFVkJmaDdaV1prWWh1RXNCNWliblVWZVhpNVdtNDNnNGhKL0dTZU9PM2Z6bEFnSUNHTG9RODk3akdQRmtubkViZGtBd09EaFQyRzEydHpHMUtwVHYraCt1VG5PMTZCVDEydm9ldFgxemdSVzArWXh6ak95anFVY0tmTjVsL2JMNU85WldhcjhYbEJRTUMrOTgxVzU1cDVKV3NwUnZ2N29kV2Nwd3hvMTYxQ2pacFN6Zjl2bWRlUmtaNkdVb2tMRnltV3UwNnpsSlRScmVRa0FQajYrRkJZVUVyODlsamt6ZnZJNDNuUTQrUGlkRjhqTHphRlduYUtTakJyd0xTNUJXYkpqelRBTXJEYWJNM2xWdFZva2R3MTdFaDlmWDdlRVV2cnhZK3lNMit6eVBieHU1V0tXTHB3TlFKL2JodENnY1FzbWpmdVM0OGRTUE1aMWFydldtdVBIVXB5NytJUVFYbVBYbUQ4b0xPM1hiTjdHam9UOXhEUnRYSTVwUWdqeHowclB6R1RlOGxYWUhRNjBxVGNrNzlpeTI5c3hsVVVTV0VJSUlZUVFRb2dMUW1GaG9jWEh4NmZrc21kMGRIU3NkeU82b0xnYzlGUFdlVTlLS1FQd1YwclZBSjYxV3ExUFIwZEhad0c3VE5OOHlqQ01IYkd4c2YrNU1vTWx1NElBc3JNeStHUHVEQ2hPU0hYcDJkdGxiRjVlTHZOblRYRmVEN2o3WVJvMGJ1RXlabi9DTHViUC90bDVYZFpaVWdCWldSbTg5dXg5enZPVUxCWUxqenp6RnEzYlhPbzI5dDNQSmhBY0dzWWZjMmN3K3RPM0NLMVFpUy9HRlNVdXhvNzZrTG0vVEtSWmkwdDQ5dlZQQUhqdG1mdjRjOXRHNS95cEUwWXpmL2JVTW1QSnk4MHBOZmFiMDhiOThaZ1pQUGowNi96dmxjZm8wMjl3bWVQS0srMVlpc3VaVWtFaG9YOTV6UktUeDM5RlV1SmVna0pDeWNvNFFlclJRMXh6dzIxRXQ3Mk1DZDkvUms1MkZnQ0RoajFCL1ViTjNPWi85ZEZyYkZxLzBubjkzQnVmc21ITlVtclVqT0o0V2dxbHY1dCtuL1V6ZTNac0IrRElvWVBVYmRDRTNKd3Nzckl5V0Robk90MnY2Y1AzMDVhU2xMaVhwNGJmQmtDTDF1MTQ2dFdQR1BuMnMyeFl2WlQ3SG4ySmhYTm5NR3ZhZUM3dGZDVjNEbjJNb09BUWw1aEt2amI1ZVhsODg5bmJBRVJVcjBtN3k3cVJmR0FmajcvNG5zdlhiOUc4WDV4bmkzMDk0WGRzUGo1c1dMV0V6ejk0aGFDUVVENzU5cGN6bHJqOEYxT0FVZnluYXRxMHFRSW9LQ2hRZHJ0ZDJlMTJaWnFtQ2c4UFYzYTdYVkZVa2xNNUhBNFZHaHFxSEE2SG91aDNqRkhTWjVxbUNnd01kUGFacHFsTTAxUmFhMldhcHZMejgxTVUvYXhWcG1rcVgxOWZsLzZTUHEyMTh2SHhjZmFWYnRkYUs1dk41dFpuczltYy9mL2dhMWhmM2dQOForUWNjM3dmR0c0OG1aR1ZWWHZDcjc5SkFrc0ljVUZhdW40ak94TDJvN1UydFYyL0RGeXduNEtSWDE1Q0NDR0VFRUtJQzRMVmFvM2k1QnU3WVVCcmI4ZDBvVGcxWVZYNmplM1NmUjUyWnhsQWlOWTZ4bUt4VE5aYWIybmR1dlg2M0FJenNrQ3I0dmVELzFzdTdYeWxNNEUxZCtZa3J1alJ5K1UxV2Z6N1RQS0t5N0hWaktydmxyd3FMQ3praXc5ZUxmZHVsZ1A3VG41ZzFXS3hNUHp4VjJsN3FYdHBPNENQMzMwZXE4WEtzZFNqQUdSbXBQUE9TdzhEY1BCQTBlNmR2YnZqblcySiszYTV6TGNYMmwyU1ZBQU8wNEc5c05CNWJmUHh3VkNHUzhtNWtqT2NTdE5vVEZQVDk4NWhIRW8rUUhyYXlYTzdEeDdZeDZZTnF3RGNkcEY1dzkwUFBzdjJ6ZXU0cW5jL1ZpOWZ3SmpQM25FbWZRRDhBd0o1NE1uWHVLVDk1YzRTZzZWbFpXVzRuRVYxUEMzVnBRempyS25qblkvbi9ISnlOMVp5MGo3bnJxb3A0Nzhtc2xaZHVsOVRkTzdXOGtWem5lUDI3bzdueUtFa0hucnFEVll0bTAvOXhpMzQ1TjBYc0JjV2tyQTdub0RBSU9mWWt1L1hrdktLT1RsWlpKdzREc0RoNUFNOGZYL1J6cmZQdnYrVkZVdm1zVy9QanVLK0pPY2EzMzd4TG9aaE9QOC80Z0w1T3AxUC9qYWF4Y1RFVEtjNDZRTVk2dVEzc3RKYUs5K2lFcGZPSDJSS0tXVzFXbFdwT2NvMHpaSnB5dGZYMTZVUFVCYUxCY0J0WHNsOWlpZXI0cStiVWtvNTU1VDBVZlQxTEoyUWNvbkpZckc0OUpVOE5nempuL3dCSEZEOGV6VlRLWFhtQXdQRk9VdEppY3Z5cjlEeVpZdEZqWm05WkxuMW5yNTlhRnhYenNJU1FsdzQ4dkx6K1hUOFJCd09od1k5T1hIUDFnM2VqdWwwSklFbGhCQkNDQ0dFdUZDRW4yN0hpUENzNURVcmVXTzg1RThQWlFiRGxWTGRsRkp0YlJhOXZhQlFPOC9oK1M5cDFxb050ZW8wSURGaEYvdjM3bVQ1b3JsYzN1MGFLRDdYYXVhVXNjNnhOOTU2bDl2OGFSTytjZGxKVkY0QmdVRTgrdHc3dElodVYrYVk3WnZYdTF6YkN3dlp2SEcxUzF0bVJycGJXNGwrZzRiVGI5QndNak5PRUw4dGxnMXJsckoyNVNLVVVzUzA3VVNYSzYrblJYUjc4dlB6eU1uS1pOZU9iY3laOFJQN0UzWnkvNU1qYUhkcFY1ZjFQdnZmaXk2Sm5SSUw1MDVuNGR6cEFQUytaV0M1bnY4dC9ZZHl6UTIzTWViemQ5aTJ5Zk14Q3JrNU9jNkV6S250cDdOdnp3NThmUDBZOWZFYkxqdlNUczdQWnZ6b2oxaTliQUZWSW1xNDlVZTN1UXliellmVnl4WkFjU25IL2tNZUt0ZnpLcTJrdEtOcG1xd29sY0RLekVqbjllZUc4OHE3WDNORmoxNHMrMk1PeDRzVGd2MEczYytLeFhOeE9CeDA2ZG03MVBmbm1jOEhpOThXUyt5NkZXN3RhNVl2UE92WS8yMHNoaEVPZEtYNFo1a3VVbnFJMnpiVTB2MUtLYy9iVlA5QzM2bjNQRk04blB4UWdUN043N1p5MzgvejhtVU84ZFNSQnlRV0ZoYTZmeE9LODhyTWNjeXlCS3ZWb0RwOThPMTRQbjNwR2Z4T09WTlFDQ0c4WmR3dnMwZyttZ0tLb3c2SDQwTnZ4M01ta3NBU1FnZ2hoQkJDWEJCS3YzRm9tdVlSdTkzZXk3c1JYVGhzTnR2cndOVWwxNmNwSWVoeVhmenVaZzZRcXJYZUFVd3BLQ2lZbUdQNlBLR1U2dkQzUis0ZE45MStOeVBmZWhhQWNhTS9wSG5ydGxTb0dNNjRVUjg2RXd1MTZqU2d3K1U5M09hV25HdGs4L0doc0tEQXJUL3RXQW8valBuWXBTMjhTaldlR2ZFUmtiWHF1bzF2MGlLRzF6NFk0OUtXazUzTmV5TWV3K0Z3VUw5UmN3YmUrOWhwbjgrcDV5aDk5dDVMYkNtVjVLcGFMWktFUFR2WS92N0w1R1JuWVpvbk4xZ1loa0hqNXRFZW44djVGQndhUm5Cb21NY3p4MHJFYjQvbHVZZnZQT3UxTjYxZnllYmlIV0VBZGVvM29WUFhxNmhSc3k2cmx5OWc3WW8vT0hJb2lTT0hrb2hwMThsdGZ2ZHIraEJWdjVFemdSVVNXb0hlTjk5SmJtNE85bksrTHY2QlFWaXRSVytockZnOGo5UVUxMHFjNldtcHZQSDgvWXg0N3h0K0xkN1IxYmhaTlB2MzdtREtENk1JRGdtamZhZnV6cTlOOFM0ZWdrUENlSFBrV0FyeTgwallzNE54b3o1RUtVVkFVREJQdi9xUmMvMzV2MDNsMjgvZkJXRHN0R1g0L01mZkRMZmJ6Y00rRnVQNzBrMWFhN040OTVEV1d1dVN4MG9wMHpSTlhmSzRPTmxsRnY5TzBWcHI1N2lTNjlQMGFjQlVTbW5UTkV2ZlE1dEYyN25NNG9TVUNlalM5eTBaZityYVJiL1Npc1laaGxFeXo3bU9Va283SEE3blk3UG9meEpkMHU5d09MUmhHS1pTU3R2dGR1ZmprcjZTZFpWUzJqQU1zMlJNWVdHaExta3pERVBiN1hieitQSGorNU9Ta25KUDg5S0w4eUFwYVh0NlZLT1dFNVNpN2FiNG5iNHJZemZUclVQWkgyNFFRb2gvU3RMaG84eGN1S1RvUXZOYndRbExuTGRqT2hOSllBa2hoQkJDQ0NFdUNLWFBBMUZLRlc3YnRtMzk2V2RjUEtLam85MjN5WlRpNGRQOURpQU9XS09VV2dlc3pzL1BqNCtMaXlzQWlHcjgzNjdPMlA2eWJyU0lic2ZXMkxWa1paemd2UkZQMFA2eXJpeFpNQXVLWDY5N0hueldXY2F0dExvTm1nQXdlUGpUalByNERXZTczVzVuN3N5SlRQMXh0TE1FSVVCNDVRaGUvL0Jid2lwVWNsdkxicmVqVFpPSWFqVmQyaGZPbmU0c1VkajltajV1L1o3azVlVTZ6emk2b2tjdjl1M1pRWVZLbFFrSkRjTm04MkhQemppeU1qT2M0NHNTZE4xSlROaE4vUFpOQko1eUJoUEEyNS8rZ0ZrY3g3U0pZNXlsRjE5NTkyc3FWNjN1dk8rdlA0ODdZM3gvcDk0MzMwbk4ydldvVWFzT1g0OThuVU5KKzFqMnh4d2lxdGNrb25vdDdoejZHQVg1ZVRqc2R1bzNiczdHdGN2THRlNzNYNzdIMG9Xenl6WDJtZGMrcHZVbEhYRTRIRXo3NlJ1WHZycjFtNUJ5OUJEMUdqUmwrNWIxenJLU3R3OStnTENLNFV6N2FReVpHZW5NbVRFQlhaekFNb29UV0t1WExlREhNUjl6ZWJkcjhmWHpBNkI2WkJUKy9nSGNlZU5senE5UDZhVDE0RnV1Y0xsL2NFZ1lYLzA0bC8rU1BBYzc0amR1SE9IdE9JUTRSNmFHdWNBaldUazVqU2IrOWpzdEd6VWt2RUtZdCtNU1FsekVDZ29MK1huZWZQWWRUQWF0TTdWeVREMXlaRnUydCtNNkUwbGdDU0dFRUVJSUljUy9rS2VTVkZyckU4QlBXdXRwU3FtZERvY2pkY3VXTFJmOFAwei9EdmM4OUR3dlBES1FyTXdNRW5iL1NjTHVQNTE5Ti9TOXkrM3NxeEwxR3pYanhsc0gwNlo5WjBZVnQyVmxaZkRjUXdOSVN0enJOcjV5MWVvdXlhdjlDYnZ3OWZVam9ucE5kc1J0NW8zbmhwODJ6cTlIdmw2dTUzTmxyNzRNSHY0VUFKZGVjU1ZSOVJyeDU5YU5iRnk3akMyeGE3QVhGbEtyVGdQYWQrcEcrOHU2VXlXaUJrY1BKN0ZtK1Ira3A2WHk3c3VQY0dXdnZ2UWYvSkF6VVZLaFlyaHovZmh0bTV5UDkrNk9wM0h6YUFDT3BSd3BWM3hsU2R5M216Yy8raDdUTk1uS1BFRlFjS2hMdjJtYTVPZmw0aDhRNkRHaENPQVhFTUFkZHovTTBTUEp0SXhwejZHREIwaE0yT1ZTamxBcHhaZ3BpNXdKbjdOaEdBYWhuaEtRaFlWa1pxUzd0TzNmdTVQRHlRZXdXSzFVallna09Xa2Z3U0doREhuZ2FTcUdWK1dGUjRwS0xyYnBlQVVObTdRRTRQSnUxN0o0L3EvTW5qNkJwaTB2QWNCaUtYbzd4dUd3azM3OEdJdm4vMHFseWxVQmFOQzRlZEdmalZyZ01JdWV6NG5qeHpoeXFPZ2NyUHFObXJ1VS93d3NkY2FXRU9MQ3NIL0hsb1JhalZ1K2JXZzFadldtTFphZjV5M2d2dHR1OFhaWVFvaUwyTWE0ZUtiK3ZoQ0hhYUpSdnpveTAvL3dka3psSVFrc0lZUVFRZ2doaExqd2xkNmRCa1hKS3JPNFBHQ0cxbm9OTUc3VHBrMnpBTHMzQTcxUVZLbGFuWHNmZnBFUDMzemFwYjFweTB2b2UrZXdNdWRGVks5SjN6dUhrVjFxTjFOUVVBZ1ZLMVZ4SnJDQ2drTmNkanVWdG56UlhHWk5IVS8xeUNoNlhIc1RBYVdTQzZacGtwZGJkTjZUeFdMeFdHNHZKenZMK2JqMFhGL2ZvcVRUOGovbU1QNmJrV1NjT080eXIwTEZjTFRXTEp3em5abVR4enBMSVpiMis2d3BiTis4bm9lZWZwM2FkUnM2MitPMmJpQTVhWi96ZXZ6b2ovRDNENkRyVlRlVStUcVZ4NnhwUHpCdjVtUSsvWDRtSjlMVGVPMlpZVFJyMVpaQnc1NGdLRGlFcE1TOWpQcjRUWlJoOE9LYm4yUHo4U2x6clprL2oyTkgzR1lpYTlXalRjY3VoRmVPUUJrR3VUblpKQjlJSUNjN0czLy9BTEt6TXNzVlcra3lpeUZoRmZuZzZ5bHVZM2I5dVpXM1gzSTlLNnRhWkcwQU9sN2VrMk1wUjV5dlc3Mkd6ZmprM1JlY0pTb1BIenpBQzQ4TUlqczcwM25PV0U1MkZodFdMd1Z3bGlOc2UybFh2dnZpZjJSbXBEdVRaWmQwdUlMQ2dnS2Vldlhrc1JTTDV2M0MrTkZGSlFXZmVPbDl0OWVxc0xBUW04MVdydWN1aFBobkpNWnZtUkRWdU5VVmhYYjc0RzkrbnM0bHpaclF0a1V6YjRjbGhMZ0lIYy9JNEkwdlJwTjZQQjBOZXdvejh4NCtlUERmVVZKV0VsaENDQ0dFRUVJSThlK1NDY1FwcFRZQXEreDIrNG90VzdZa2VEdW9DODNhbFlzWVArb2p0L2FkY1p1WlBQNHJicmoxTHZ6OUF6ek85YlFUYVBEd3A0amZGa3ViamxmUTQ5cWJlUEsrZmg3blpoVW5JWktUOWxHMVdpUmpKcC84Y091b1Q5NWswYnhmQUxqM2tSZnAzUDA2bDdtVHhuN0pqTW5mQWRCL3lFUDB2dG45dktncTFXcTRKYThzRmdzT2g0UGM3Q3pTVW85Q2NVS2xSczBvZlAzODhmUHp4Mkt4TW5mbVJBNGVTT0NITVIvei9CdWZvWlRDTkUwbWpmdkt1WlovUUNDNU9kbU0vdlF0ZlAzOGFkUzBsY2ZuZVNaWkdTZjRjY3duVUp5NCtmejlsem1lbHNyeVJYT29VREdjL2tNZVl2ckViOWtWdnhXQTBaKyt4ZjFQdkZybWVzdi9tTU9CL1h2YzJuMThmWW1vWG9zYU5hT1lNZWs3ZWw1MzVoME84MzZkN0xKckxqMHRsU0czZENuWDgvTDNENkJxdFVoNjNUeUFzVjk5NE5KWG8yYVU4N0duM1hxVUtnVm90UlVsb0FJQ0F1bDUzUzNNbXZZREZKY0RiTjNtVXI3NDRCVldMWjN2Y1kxaC9hOTBheXU5UTA4SWNjRW96TTRyZkQ3UTM2ZERWblpPNDZmKzk1SDY1czFYcUZjejB1TXVhaUdFK0R0a1ptZno5UDlHc3VkQUVtaWRhWnA2Mk1HRDhjZThIVmQ1U1FKTENDR0UrSnZVcXRXaWd2SXhvakFjVVlaaERkZmFETlNLQUlVaEg0OFY0anpUbUlYSzFMbktJTXRVUmlyby9UcGJKeVFtYmoxZWp1bEMvQ3RvcmVPQktWcnJQNEI5V1ZsWmgzYnYzcDN2N2JndUpBNkhnNDFybGpGOTBuY3VKUU1wM3ZGaXQ5dXgyKzM4TXZsN0ZzNlp4dFhYOTZQcmxUZFFNYnpLR2RjT0NBemkvYThtNCt2bjUxSldyL1RaUkFBcFJ3ODVIMGRVaTNRK1hyNW9Mb3QvbittOC92TERFVXdaL3pYMUdqYWxYcU5tYk5tNG1tMmIxZ0Z3eXgxRFBTYXZBQm8wYnNHd1IxK2lRc1hLaEZXb1NHNU90clBjMzU1ZGNiejQ2RjBBOUxqMkpycjA3TzB5dDlVbEhWZzRkd1pESDNyZStlYnA5SWxqMkJtM0dZQ2F0ZXR4OTRQUDh2cXo5K0Z3T1BqaWcxY1llTy9qenZrekpuL0h6Si9Id2lrN21Fb3JMQ2h3dWE1YnZ3bVR4My9GMXRpMXp1dStBNHAyd04zOXdMUHMzckdkbzRjUHN1eVAzNGlzWFpmcmJ4bm9jZDBoOXovTmtjTUhTVGx5aU1QSmlTUW5KWEk0T1pIY25Hd1NFM2FSbUxDTHRHTXA1VXBnL1RMNWUyN3NOOFI1YmJGYXFWT3ZzZHU0M0p4c0RoNXd6dzMzR3ppYzJuVWF1TFYzN0h3bE8vL2NTbVN0dWxTdFZvT0tsYXBRb1ZJNHdhRVZ5TS9MWmZiMENTVHNqaWN4WVJjMjI4a2RWRFdqNmprZjIzeDgyTE56TzNVYk5LR2c0T1MzZDhxUlF5UW03QUlncGwwbjFDbEoxbHBSOWMvNHZJVVEvN3lVZlhGSC9SdTBldHF3OE5YUnRPTTEzdnp5RzE1NWNCaFJOYXA3T3pRaHhFVWdNenVia1dNbnNIYnJOalJrYTlRN1JzR0pGZDZPNjJ4SUFrc0lJWVE0djJ5MUc3VzhIT2l2bE9xZ2xBcldXSUkwK0NtVUZiQXFoZWNESG9RUTUwNHJVMW1VWGFQc0NwMm5VTmtFcUJOUmpWdXRNeDNHaE1SZHNZdWxySnI0Tnp0Ky9QajkrL2J0U3kvSDBJdFM4b0Y5ckZ3Nm55WHpmeVUxNWJCTFgwQmdFSVB2ZTRvR1RWcncyWHN2czN2SE5nQ3lNalA0K2NmUlRQdHBETTFidCtXUzlwMkpidGVKeWxXcWxYbWZrck9qZkh4OG5XMEhEeVNRblpWSllGQXdxVWNQczJkbkhCUW56S3FVU21CMTZubzFNZTB2WisvT09MWnYyY0R5UlhOSVBYcUkxSlREckZseGNwZFdhRmhGbEdFUXYzMFQ5UnMxZDVhYUs2R1U0cEwyblZrMGJ3YWpaazBoNDhSeFJyejNEWFViTlBFWTgrZnZ2MExhc2FOYzJ2bEsybDNXalFlZUhPSHNtelBqSjM3K2NiVHordnErZzJqVXRCWDlCdDNQaEc4L3hUUk5zck5kUy9LVmxiZ0NzTnZ0N04rNzAzbmR1ZnQxMUs3YmdQR2pSMEp4NmNWSG5uL2JXZjR1SURDSWg1OTlrMWVldkFlSDNjN0U3eituZW1RVWJUcDBkbGwzNjhZMVZJbW9nYzNtUS9YSTJsU1ByRTFNdTZLKzFLT0hPTEIvTHdtNzR3a01DbWJ0eWtVZVk4dk1PT0Z5blplWDQzd2NIQkxHODI5KzVqYkhVd2xCZ0k2ZGUzcThSL1hJMmp6MytpZGx2ajczUFBnY0R3MitIb0NLNFpVQjJMaDJPYU0rZWRNNUppMzFLSzgrTlpSYWRSclF0T1VsUk5hc1EyQndDSDl1M2VoTVlIVzk4Z2FVWVdBNkhOZ2RkclJwWWpvY0hFOUxkVG5YVEFoeFFUQVRkMjJlRjlXbzFSdGE2eS9YYnQzTzArOTl6S2pYWGlRc0pOamJzUWtoL3NOTTArU2RVZDh4ZThseUNncnRZT3JaMmVSOW1ycHZuM3VkNlF1WUpMQ0VFRUtJOHlDOFVhTmdmNGV0bzhWbUhhbkE1UjBrVlhKc2lWSklvUWdoL2g1S0tRUHdVZUFES2dDb2lLS21ndVlXcXg0YzFhVDFueHI3VTlsbTRkTFVIVHZLZDBDS0VCY1FTVjZWcmJDZ2dBL2VlTnJsREtjU1YvVG9SYjlCOXp2ZjFILzF2ZEVzbkRPTktUK09JcXM0b1dHYUpsczJybUg3NXZYVXFGWDN0QW1zRXNHaFlmajVCNUNYbTBObVJqcjNEN3lXZ01CZ1Rody81dHlSVmFkK0U2eFdLMzl1MjBqQzdoMWtacHdnUFMyRnc4bEpIRHlRNER6dmlPTHpyUUtDZ2psK0xJVVQ2V2xNR2YrMXM3MVJzMWIwdU9abTJsN2FoYjI3L3VUMzJUK3phdW52Rk9RWDdjNnBVREdjeEgyN3FWR3pEZ2NUVCs0V1Vrb1ZKZmFXek1NMFRlSzJiT0M3cjk0anBtMG5MdTkyTFkyYlJ6TngzQmZPOFEwYXQrQ3lMbGNCME91bUFjUnYzMFNiOXAxcEdkT0J5Y1VsQmhzM2k2WlpxellBeEczWndKL2JOcnE4TGxhcmxjYk5vMW16ZkNIOUJnNm5hclZJUHYzZmkxQmM1dkRoWjk2aVNsWFhYUWYxR2pTbC8rQ0hHRC82STdUV2ZQN2VTNHo0WUl6TG1Fbmp2anpqMTRUaVpPTEdOY3M4OXNWdFh1OTgzQ3FtQTMwSERHUHNWKy9EV1pZUVBCdFRKNHdtNDBRNmZ2NEJHTW9nYnR0RzBvdlB5S3BkcCtnTXNtMmIxdUd3Mi9IekQrQ3g1OTlsd1c5VFdiZHFzWE5YbVNjZnZPRzVWT0JYUDg0OTc4OUJDSEZlRk83YnNmbXJxTVl0cXpwTW50NjZjMWZBWGMrOXpNam5ucUptOVFnc0hzcldDaUhFdWRKYWN5SXJpL2UrR2N1MCtYOEEyRTNONHYwN3NnZkN2Njk2Z3lTd2hCQkNpTC9HV3J0Qjg2dVVzdDZyYkZ4YituZXJVb3JLbFVLb1V6T0NHdFVyRVJ6b1Q0Qy9IejQrOHV0WGlQT3RvS0NRbk54OE1ySnlTVDU4akgySlJ6aDY3SVR6aldRRlRSU1c2Y0hLOG50Z3d4YWY3OS9wV0FoeEJXZGNXQWh4d2JQNStQRFEwNi96NG1OMzRYQTRVRXJSNGZJZTNOaHZzRnRaTll2RndwVzkrdEtwNnpYTW4vMHpjMmRPSXYxNDBSRUF0dzkra0dZdEx5bjNmYS9zMVplWlU0cks2UlhrNXpzVFNoU2ZvWFY5MzBFQXBLY2RZL3hvOTdPNExGWXJqWnUxcG4ybjdseDJ4Vlg0QndTeVorZDIxcTVjek5vVmYzRGtVQkw1K1hsczJiaUdQc1hsN3BLVDlyTmsvcTlRdkd2b2hsc0gwYW5yTlR3dzhEcStIdm02eS9vVktsYW1lczBvUHZuMkZ4YlBuOG5pK2JOSVBYcUlkYXNXVTVDZlI5dEx1M0RsZFgyWk5lMEhmSDM5R1Bib1M4Nnlna29wSG4vaGYxZ3NGcGR5aVkyYnRlYVdPNFlDOERPNEpiQW9QdHVyYmNjdVhOYmxLZzRlU0tCUzVRaFNqeDdpcnVGUDBTSzZuY2ZYOHRvYmJ5ZHU2d1kyckY1SyswN2RxVnkxT245dVBibTJqNjh2Wi9NeG9QeDg5dzhXZDd2NlJ1YitPb21ZdHAxNDhPazMzSGEyQlFRR3VjMHhIUTd5OHM3OWZQUDA0MmtzK0cycVc3dC9RQ0E5cnIwSmdKajJsN05nemxRZWVmWXRXc2EwcDJWTWV4TDM3V2Jad3QvWUViZVp3OGtIWEpLZFphbFp1eDZoWVJYUE9WWWh4Tjl2bnozbm5TZ2pNRU5iZUhGSHd2NktENzd4RG5mMHZwYWJlM2JIeDBlcXpBc2gvanF0TmNzM3hQTGR0Sm1zM2JvZHRDNHdOWlB5N0ZsUHdwNS9YZklLU1dBSklZUVFmNG10ZHFOV0x5dkZNTkNWUUJrQXdVSCtkT3ZVaW10N3RLVnVyUWhDZ2dJSUNQREZaclZnc1Zya0UzWkMvQTBjcG9uRDdxRFE3aUFuSjUvTTdCeDI3enZFNzRzMnNHRFpKakl5Y3dGbDAraHJsV0cwaldxb3h1emJ5Y3RTVmxDSS80YW9lbzI0ZGVCd2NyS3o2SDVObnpQdW9nb0lET0tHVysvaXVwc0dFTHQyT1h0MnhYSHRqZjNQNnA3OUJnNm5VbmdWTnE1ZFR0cXhGTkFhUC84QUlxclhwTnZWTjlLNFdXc0EyblM0Z2xwMUdoQWNFa3JsS3RXSXJGMlhxSHFOcWRld0tYNSsvaTVyMW0vVW5QcU5tdE4vOElQczNmVW5xNVl0SUQwdDFYbkdWYWV1VnhPN2JqblZJMnR6elkzOUNRZ0lCQ0N5ZGoxbjZUNkwxVXE3UzdzNmQwcFZxbHlWbS9zUHBjOXRkN05wL1VvVy9EYVYyd2MvQ01DMWZmcnorK3dwREh2MEpXclVqSEtKeFdLeG5OWHI0WHh0QXdLZE83bHExS3pENng5K3krcGxDK2h4elUybm5YZmZveThUdnkyV05oMnZjT3Q3K2QydnFkZWdhYm51bjUyVnlUMzl1cnUxUjFTdnljUFB2RVdybUE1dXlhc0tsU3J6eGJqWmJuUGl0OFV5NHBsaDVicXZKM1hybnp4WHkyS3g0T3ZuVDRQR0xlZy8rRUhDS2xTQzRxVGdDMjkrVHFPbXJaeGphMFhWNTQ2N0gzWlpxN0N3RUgyYThvM0dPWDY5aEJEL29OMjc4KzJSa1Y5Wi9Tc2UxaGJHN0VsTThuOS96RGorV0xXV1liZmRUSFRUSnZKdlJTSEVPZEZhYytEUVliNmQrZ3Z6VjY0aDdVUnhwUUg0ckRBejkrMGp5WHRTdlIzanVaSktSa0lJSWNRNXFCelZOQ0xBMTJlTVlYQnRTVnRJY0FDOWVyYmppZnY2VUNGTTZwa0xjYUhJek1ybDdVOG5NMmZoZWs1a1pKL3NNUFhDN0FMSEhVY1R0aDA1M1h6eHoyblZxdFhiRm92bFdZcitFWllVR3h0YjA5c3gvVmRGTlc3OWlsSzhDakJnMEwwTUdIU3Z0ME1TZjBGK1hoNE8wNEhWWXNYbTQrUGNTVlVlQ2J2anFWTXEwWElxaDhQaExIdm5IeERvY2FmUzMwRnJqY1BoZ09MU2hPSy83NGV4by9oaDdDZ0F0T2JWZmZHYlJweHhraEQvVXBHTm1yZTBLc3QzU3FtV2dOVnFzWEJaVEN1RzNOeUgrclVqQ2ZEenc4L1h0eHdyQ1NFdVZnV0ZoZVRtNTVOeUxJMEpzK1l3ZS9FeU1ySnowRnFid0ZIVDFNOGs3dHd5enR0eC9sWHl0MEFoaEJEaUxFWFdiZDNBNnFNL1Y0cXVBRGFibGE2WHRXREFMZDNvRU5NWXExVStBU3ZFaFNRNHlKOFJUdzJnZDg5Mi9EaHRNZk9YeEZKWWFFY3IxU1hBMXpLdVpyMldUeHpZczJXYnQrTVVRb2h6NWV2bmQ4NXpUNWU4b25qblVLWEtWYzk1L1hPbGxKTEVsUkRpUHl0cHg3WXQxZW8wdWNuSHgrZHVaYWliN1E1SDB5WHJOckpzd3licTFZeWtVWjBvNnRhc1FkVktsUWdNOENmUTN3K2JUY29NQ25FeHN6c2M1T1hta1oyWFIwcGFHdnNQSG1aUFVoTGJkdTZtb0xDd2FKRFdLVnFyWDVUREhKTzRlOHRhYjhkOFBzamZCb1VRUW9pelVLVk9uYW8ySHoxVlF6UEE4UE8xOGNpOU45SzNkeWNxeXE0cklTNVlOcXVGam0yYTBMUmhMVm8wcnMzbjM4NGlLeWZQb2pVOUxEWTFLYngya3g2cCsvODg1TzA0aFJCQ0lIc2pEUUFBSUFCSlJFRlVDQ0hFeGVGUXdwLzdvZWtiTmVzYlk1WFYwc1BRRERFeDIrM2FuOGl1L1lrb3dNL1BGNXZGaXNWcXdWQlNYbENJaTFuSjduUzd3MEZlZmo2T1VxV0Z0YWtQYUJpclREVTFKNzFnZDBwS1hKWlhnejJQSklFbGhCQkNsRk5FL2ZxVi9heEJrMUMwVUVCZ2dCK3ZQVE9BUHRkYzZ1M1FoQkRsRkJvU3lMQ0IxeEpScFFJdnZqT2U3Snc4QTJnYTZPYzcwN2RHNDZzUEhvdy81dTBZaFJCQ0NDSEV4U0t1NE1CdTlnQjdnSzhqNnpadVliSDUzcW9VblZEVXk4bkw4MUZhV2JUU1JzbVp5MEtJaTVYV1Npc0hhRk9qN0tBUGE2MVdveDJ6OSsvYytwdTNvL3U3U0FKTENDR0VLSWVxVlZzRytsblYvNVRpVW9DcWxTdnd3cVA5Nk5Xem5iZERFMEtjZ3h1dTdvak5hbVhFQnhOSU9YWUN3NkMxTmNqdm5RcDE2ejU1Zk8vZUU5Nk9Ud2doaEJCQ1hIeVM5c1p2QmJZQ2hJYzNDdllMdFZhMUdqcElXNHdBaGRYSDIvRUpJYnpIWVdxSGNwZzVob1hzbkVKOS9HSTV5MWtTV0VJSUlVUTUrSWN4RUxnTnNObHNWdTd1MzVPcnVzUjRPeXdoeEY5d1paY1lEaVNuOHZIb1g4akxMN0FxeFIyaHRxQnR4K0ZqYjhjbWhCQkNDQ0V1YnFtcE96SkpKZFBiY1FnaGhEZkoxbE1oaEJEaURLclZidDRFcFQ1UVN2a0JkTHVzSllQNjljQm1rOCtCQ1BGdlpyVmFHSHhiVDY3dWRna0FTdUdQVW05WGI5aWlzYmRqRTBJSUlZUVFRZ2doTG5hU3dCSkNDQ0ZPbzA2ZDVsVjkvWTB2bFZMK0FDMmFSUEhXQzNkaHMwcnlTb2ovQWg4Zkt5OC8wWjlXVGVzQW9KVHk5ekdNNzZyVWFWN1YyN0VKSVlRUVFnZ2hoQkFYTTBsZ0NTR0VFS2ZoOEZYWG80dzJBRUdCZmp6N1VGOHFoQVo1T3l3aHhIa1VGaExJSzAvZVFYQ2dId0FLb3YxdFJtOXZ4eVdFRUVJSUlZUVFRbHpNSklFbGhCQkNsS0ZpL2ZvaEJzWk5DZ0tWZ2o3WFhrcnI1dlc4SFpZUTRtL1F0R0V0YnJqbVVwUlNvSlN2c2hoOXFqZHNHTzd0dUlRUVFnZ2hoQkJDaUl1VkpMQ0VFRUtJTW9SWUF6c3E2QUlRRWh4SW4yc3Z4ZC9QeDl0aENTSCtCajQrVm02OHBpTlZ3a05MbXJyWThML2N1MUVKSVlRUVFnZ2hoQkFYTDBsZ0NTR0VFR1ZROERwSytRRmMxcllKelJ2VjluWklRb2kvVVlzbVVWeldyaWtVZmY4SEtJTVh2UjJURUVJSUlZUVFRZ2h4c1pJRWxoQkNDT0ZCclVhdGJrV3B0Z0ErTml0UERMOEpxOVhpN2JDRUVIOGptOVhDZzBONjQrTmpCVUFwRlJQVm9PWHQzbzVMQ0NHRUVFSUlJWVM0R0VrQ1N3Z2hoRGhGVkZUck1FT3BSMHV1Qjl6U2xUcTFJcndibEJEaUh4RlZzeXFEYnUxeHNzR2lucWxRdDI3bzZlWUlJWVFRUWdnaGhCRGkvSk1FbGhCQ0NIRUs3YXVqVWJvT1FFVGxDdHpTVzQ3QkVlSmkwdittTGxRSkR5dTZVTlFLTkFKYmV6c21JWVFRUWdnaGhCRGlZaU1KTENHRUVPSVVTdEZlb2NJQjJsL1NpTWhxbGJ3ZGtoRGlIMVFsUEpUMk1RMEJVS2hnaTFXMUxUb1dTd2doaEJCQ0NDR0VFUDhVU1dBSklZUVFwVlN1M0RRSXBkb0RWcXZWUXV0bWRRa004UE4yV0VLSWY1Q2Zydy9SemV2aFk3TUNXQldxWTYxYUxjSzhIWmNRUWdnaGhCQkNDSEV4a1FTV0VFSUlVWXBmUlVjSTZBNEFnUUYrdEd4YUI2Vms0NFVRRnhPbEZDMmFSaEVXR2xSMERlMU1xejNjMjNFSklZUVFRZ2doaEJBWEUwbGdDU0dFRUtVWTJ0WmVvU0lBS29ZRjBiUmhUVytISklUd2dtYU5hbE1sUExUb1FxbElxOFhXeHRzeENTR0VFRUlJSVlRUUZ4TkpZQWtoaEJDbEdaYTdTeDVlMDcwdHZyNCszbzFIQ09FVmZyNCtkTCs4dGZOYUd3endha0JDQ0NHRUVFSUlJY1JGUmhKWVFnZ2hoRk5USHdPNmwxejE3ZDNKdStIOHgrWGs1SGs3aEgrVWFacGtaZVdjbDdYMjdUL0Vub1NENTIwOTRWbnZudTJjajVWUzNhQytyMWNERWtJSUlZUVFRZ2doTGlKV2J3Y2doQkJDWENocU5sU3RVTW9Qb0ZyVml0U09yT0x0a0M1b2VYbjUrUGtWdlorL2JPVm1uaDN4dGJQdnFZZHY1OGJyTGdmZ1dOb0pLbFVNZFptYmVPQUlmUWE4Z0orZkQrR1ZRcWxkTTRKUDNuMmtYUGROMkgrSTNOeDhBQUw4ZlltcVhlMDhQcXR6OTkyUHY3Rmk5VmJhWGRLRXRqR05hZEcwTGxacjBWKzFqaHhONDZVM3g1Q1ZuY3Vva1U4U0ZCUnd6dmZadlRlSndRKzg0MHdBQmdUNDhkeGpkM0R0bFIzUDIzTVJSZXBHVlNPaVNoaUhqNmFqbFBLcldkZXZ4WUc5clBkMlhFS2NiM3QyNzJEKzNGKzlIWVlRNGlLM1ovY09iNGNnaEJCQ2lBdU1KTENFRUVLSVlnckRXUytzZWFOYTNnM21BcGFmWDhDWThiT1pQR01SMzN6eU5QWHJSbUozT01qTEszQ09zZHNkQUJ4UHorVFd1MTZoVmZQNlBQblFiVlN2Rmc3QTZ2WGJBY2pMS3lEcFlBb042a2FXKy80dnZma05mKzdZRDBCTXE0YU0vdVJwWjk4ZFExOW5YK0todi9UOGdvTUNtRHYxZlplMnRSditwR0g5U01KQ2c4dWM5K3VjbGV3L2NKallMYnY0K3J1WmZQek93M1RxMkpJbHl6Znh5anZma3BsWnRGdnF3YWRIOHVVSFQrRHZmL2FiZWRLT1ovRG9jNSs2N0Y1cjJhd2VWL2RvZjlacmlmSnAyYlFPaDQvR0FtQ3hXZHFBSkxERWY4K3FGVXRZdFdLSnQ4TVFRZ2doaEJCQ0NCZVN3QkpDQ0NHS0tjTm9XZks0Y1lPYTNnM21BbmJ2bysrekxXNHZBTSsrK2pVL2pIcXh6TEh2ZlBRajZTZXlXTEppRSt0aTQvbjFwN2NKQ3d0bXpmby9YY1oxNnRpeXpEWE9SbTV1dmtzaTdWeFlyUmJuNDh6TUhENzhmQkl6NTZ5Z1E5dG1mUHEvUnpBTTl3ck1jZkg3MkgvZ3NQTTZvbXBGTG0zZkhJQ0tGWUxKenk5MDltM2R2cGZuWHZ1YUQ5NTRBSXZGNHJaV1dkSlBaSEwvRXg5eTZQQXhsL1pOVzNmUnRYZjVkcStWWmpFcy9QSHJ5TE9lZDdGcDFxZzJ2eTh1U21DaGlQWjJQRUtjTHliNmtBV3lRQVY1T3hZaGhDaE5hM0pOOUYvN1JKSVFRZ2doL2hNa2dTV0VFRUlVVVFxYWwxdzByaThKckxJTXZPMHFubjc1U3lndTUvZnBxR20waVc3a05tN3k5RDlZc1Bqa1pwWGJidXBHV0Znd2hZVjIxc1hHdTR5OXJIMkxmeUR5czVONkxKMDdocjVPNnJFVEFLeGV0NTB4NDJjemRGQnZ0N0ZUWjdydVhManh1c3VkaWE0V3plcngydk5EZVBiVmt5VVdsNjNjd3BqeHM3bjNydXZMRlV2YThRenVlK3dEOWlRY2RPczcxNFNkcDBTY2NOZThjZFRKQzBYcjA0MFY0dDlFNjd4Wkd0OUtvQnA2T3hZaGhDaE5hNzFIa3pmTDIzRUlJWVFRd3Zza2dTV0VFRUlBTldvMHJvaFNWUUg4ZkgySXFsWFYyeUZkc0xwZmNRbFhYTmFhSlNzMlliVmE4UGZ6WEFvdk95Y1BxOVdDM2U2Z2FlTW9aN0ptOWJydFpHZm5Pc2VGaFFheGZQV1dNdTkzVmJkMkJBVDRuWFdjM1RySDhOajl0NVpyN05zZi9jREtOZHRjMnNJcmhkRTJwZ2x6NXE5MnRuMzkzVXhhdDZoUDI1Z216cmJVWStuTS9uMlY4OW93REc2NHRwUExXajI3dG1WUFFqS2p4eGFkTWRPblYyY0czSHBsdVdMYnRlY0FqejMvbWR2T0svSFBxQjlWRFY4Zkcva0ZoU2hOOWFpbzFtSDc5bTFLOTNaY1F2eFZCM2JzU0FiZTluWWNRZ2doaEJCQ0NGRVdTV0FKSVlRUUFJR1dTQVdCQUJGVndnZ01PUHZ6aVM0R1dWazVKT3cvUkxmT01XeVBUK0RCb1RjUlZTdUNqWnQzdVl3N21KeEN0ODR4UFBmNEFMNzRaZ1ozOXJ1U1kya25pS2hhaVlWTE43cU1UVCtSeFJ2dmpTdnpudTB2YWNyeTFWdFl0N0ZvMTFicFJFNWkwaEhlZkw5bzdoMjM5blNaRnhEZzV6eHo2MHo4ZkgwOHRqLzdhSDgyYjl0TjhxRlVLUHBFTUMrOU9ZWkozNzVLYUdoUjFhMGZKcytuc05EdW5HT2FKdGZjOHRScDd6ZDkxbEttejFycTFqNzg3aHU1WjJBdjUvWENKUnQ0NWUxdnljM05keHNiRmhyRVd5L2ZTMVN0aU5QZWE4NkNOWHc1Wm9ielhMSVMvZnYyT08wOFVjVFB6NGNxbGNNNGNEQUZVTDUyUDBkTlFCSllRZ2doaEJCQ0NDSEUzMHdTV0VJSUlmNTFxbGV2SHBDY25KeHpQdGUwS2tzbDBMNmdpS2hjc2N4ZFJSZTcrRjJKREh2MGZlZjFxKzk4NTNIY3VJbnpHRGR4bnZQNnVSR2pHSFQ3MVF3YmZEMkxsOGVlOVgxanQreGkycS91Q1ovVVl5ZWM3VDI2dERucmRjOGtLQ2lBTjE2NGgzc2UvaCttYVFLUWtwck82KytONWYwM0hpRDVVQ3FUcHk4NjcvZk56TXpoZjU5TTRMZmZWNWM1SnYxRUZrKzgrRG1QUDNBcmZYcDFSaW5sMHA5NDRBZ2ZmRDZKNWF2Y2Q3Y05IZFNiKzRiY2NON2ovaS95c1ZtcFZya0NCdzZtb0JVMnE3WlU4blpNUWdnaGhCQkNDQ0hFeFVBU1dFSUlJZjUxcWxTcDhtRFZxbFhiT1J5T24xSlRVK2VjajJTV1Zpb0FyU3dvQ0E3MngyYTFuSjlnaFl1RlN6YVFtWGxlYzQ5bG1qTi9qY3NaWEtkVFVHQXZzNjlWaS9yMDc5dURIeWI5N214YnRDeVcyQzA3R2Z2VFhQTHp6KzBNcXRPWk9HMmhXL0txV2tRbG5uLzhUajc4ZkJJSis0dk9OYy9OemVmTjk4Y3pmZFl5N3IvN1JqcTJhODZ1UFFmNGNjb0NmdnQ5TlE2SDY2NHJmMzlmWG41NkVGZDJhM2ZlWS82dnNsb3RCQWNIQUtBMGhtazYvTDBka3hCQ0NDR0VFRUlJY1RHUUJKWVFRb2gvSGFWVVZhWFV6VmFyOWVhcVZhdW1SRVJFVE5GYVR3TCt6TXpNek5pOWU3ZDd2YlV6MGRwUEcxZ1VDbDhmR3hhTDhiZkUvbThYR09CSDg2WjFuZGNPaDRNL2QreDNHMWU5V2pnVks0UzR0RVZVcmVpMmkrcmV1NjZuUzZmV3p1c1BQNS9NK3RpaVVvRVZLNFR3Mlh1UFVqazg3SnhpZFRnY2JnbWNjelY4eUEwc1hoNUwwc0VVSW10VTVxV25CbkVpSTV0bEs5MTNOOTB6c0JjOXU3cnVCdnZsdCtWTW1MTEFlWDFUNzg3MHU2bWIyOXhLRlVPaGVJZlVzYlFNcHN3bzJ0M1ZvVzB6M256eEhzTENnbW5hcURaUHZQZ0ZtN2FlTE5zWUY3K1BCNThhU2VYd01GSlNQVmUzaTI3WmdCSFBEYUZHOWNwLzRaVzQrQ2lsOFBVdC9pdXowZ2Jha0FTV0VFSUlJWVFRUWdqeEQ1QUVsaEJDaUg4MXBWUmw0SDZsMUZBZ1BqZzRlRzJyVnEzV21xYTVhdXZXcmRzQVhhNkZ0UEpYR2lzSy9IeHRHSVlrc0R4cDBpaUtzVjgrRDBEU3dhTzg5TllZaitNRzNYNDFsU3VGMGJGZE0zeDhiQURFNzl6UHV5TW51SXhyMWppS1JnMXFPYS96QzA3dVpxcFJQZHpaOStEUW03ajd6dXVLSGo4MWtsMTdrZ0JvMGF3dTc3OStQd0NoSVVIbitkbWU1T2ZueXl2UERHYlp5czBNRzN3OTZTZXl1UDJlMXp5T3JSd2VSdjI2a1M1dHB5Ynp3a0tEM01hYzZwbEgrNU9ibDArVGhyWHBkMU0zWjRuQXNMQmd2aDc1QkY5OE00T3hQODExbWVNcGVSVVdHc1Nqdy92UzYrcEwzY29NaWpNempLS2tOb0JHR1ZnY2Z0Nk9TUWdoaEJCQ0NDR0V1QmhJQWtzSUljUi9oUTFvQVRTM1dDeTNHNGFSRWgwZHZROFluNXViT3lNK1B2N1k2U1liQnY1YUtZc0NmSDFsQjlicDVPWGxNM1htVXI0WU01MjhQTS9sOCtZdldzLzYySGlxUlZUaW9YdHY1cXJ1N2ZobTNDeTNjWWxKUjF5dWp4dzk3bndjVWVYa1VVT0JnZjRFQmhadGZMR1dLdTlvczFvSnIrUjVoMWEzempFOGR2K3RMbTFiNC9ieS9HdWpuTmREQmx4TG4xNmRYY1lZaHVja1QweXJoc1MwYW9qZGJ1ZVpWNzhtSXlQYjQ3anpSU25GaU9lR09LK3pzbktJMjdHZmJYL3VKWGJMTGpadDNWMnVkZEpQWkRGNjNDeVdyOTVLbmRyVnFCVlpoV29SbGFnU1hvRktGVVB3ay9QZVRzc3dEUHg4ZlFCUVdsdTBVZ0hlamtrSUlZUVFRZ2doaExnWVNBSkxDQ0hFdjVGelY1WFdiaHVzRkJDZ2xLb04xQWF1OFBmMy96dzZPbnFldytINHlUQ01EUmFMNWVpR0RSc3lYSFpuYWUydndJSlMrUHI0WUpFZFdHN3NkanZqSnM3ang4bnpTVCtSNVd5MzJheGNkMlZIWnN4ZTVtd3JLUU40NlBBeG5uOXRGT01temlOK3AzdXB3Wkt6bkNoTzBCeE5PWm5BcWhaUjhTL0ZHeERnUi9WcTRTNXR5WWRUWGE2RGd3TGN4cHlKWVJqazVPU1YyZi9wcUtsdXlicWNYTmVxbGhPbi9jR3ZjMWU2emYzZmlPRzBiRjZQYlhGN1NkaC9pTVNrSSt4SlNHYlgzaVNTRDZXNmpTK3ZnOGtwSEV4TzhkaG50VnJvMks0Wkk5OSsrSnpYL3k4ejFNa2RXQ2hsb0pFZFdFSUlJWVFRUWdnaHhEOUFFbGhDQ0NISzFMQmh3L0NBZ0lDL3J5N2JPZEphaDVZdWhWYnl1Q1NaVmZKblNidFN5aGU0M21xMVhxZTFUblE0SE90YXQyNjlDbGhiVUZDd1BpNHVyZ0JEK1dtdHJMSURxMndXaTRYWjgxYTVKSzlDUWdKNTc3WGhaR2JsdUNTdzJyZHB5dmI0QkxLeWNxRzRmS0FuMi81TWNEN2VXVndXc0VTOXFCcmxqaTAvdjREOC9FS1hFb1NGaFhZeU0zTmN4dVdla2tncThEQ21SR0NnbjhkU2tvWmhNSFJRTDU0YlViU1R5OS9mMTJYZHJLeGM1L011UzA1T25zY2tXRUZoSVFEZlQ1akRvbVd4cDEyanRObzFJK2grUlF3ZDJ6Vm5XOXhlZmwrMHp1UFpaSjdZN1E3NlhOZTVIQ012VGk0bEJEV0dyMkVPYk4yNjlmT2xFK0JLS1lmVzJpeHUwNEJXU3BtNjZJZVIxbHBycFpSWnRJWjJGSTh4bFZLNmVJd0pPRTZaYTJxdHplSjVabkc3d3pSTnMzaHVTYi9ENFhDWUZvdkZMRjdiTEluSFlySFlIUTZIcVpReWxWS213K0V3RGNOd2xLeGJNcis0cjJTdWFSaUd2Zmk2Skc3bm40WmhPRXpUMUtacGxxeXJsVklPUU52dGR1ZTlTdHBOMDlTQU5rM1ROQXpEVWR4dUtxWE13c0xDa3Z1WFBHZUhhWnExU3Yzczl0clhYUWdoaEJCQ0NDR0U5MGtDU3dnaGhFZXRXN2NlcXBSNkJMZ1E2NHQ1M0RLamxITFprWFZxSWd1d0tLWHFBRkhBRFVDcXI2OXZZblIwOU13VGVXWVZFMjJBd21hMXlCdW5IaWlsNk4rM0oyOTlNQjZBeGcxcjgrNnJ3OGpOeTNjckJkaXRjd3l2djNBM0gzdzJpWGtMMTZLVW9scEVKYmRkUkx2M0hpUTdPNWZBUUg4MmJkM2wwdGVzU1owenhyVC93QkVHUC9BMmNmSDdlUEhKZ1M0bERlY3RYTXU4aFd0UE8vL0xNVFA0Y3N3TWozMlR2bnZWNVp5cWZZbUgyTG43QUQyN3RxWDdGWmRRdlZvNGxTcUcwS0J1Sk5OK1hYckdXTS9HbmYydU9tMENLeWpJbitpV0RlalFwaG1YdG10T3JacFZuWDB4clJveThQYXJPWEkwalEyYmRyQStkZ2VidHU0bU1lbUlweDJMMUs0WlFlZkxXcDNYK1A5TGxGTFliQ1YvWmRhR01pek5EY1B3THoxR2E0Mm5wTHFuNjFPVE01NitKaVg5bnNaWUxCYTNzU1Z0bnRZcVBkNXF0YnI5bkN6ZDUrbmVuaGlHZ1dFWWJtdlpiRGFYTmJUV1dLMVd0TlllNHk0OTNoUFROR1czbXhCQ0NDR0VFRUpjeENTQkpZUVF3azM5K3ZWRGxGSzlsRkxOdkIyTEoyVzk0WHU2OGFlOGdhd0FRMnR0VlVyNW1xYnBwMDF0UnhrbVlNa3ZLTVEwVFk5dnVGN3NlblpwdzRlZlQrSzJtN3B6MzVBYk9KaWN3bTFEUmpqN1EwT0N1S3A3VytyVnFVNmxpcUc4OWZLOVhOMjlQYnNUa3VqWXRobURocjlOdTBzYXMycnRkaWg2ZzVxMUcvK2s2K1V4ckZ5enpibE9RSUFmdFVzbFpUWnQyY1cyUHhPSTI3SFBwZXpnc2JRVEhFczc0WnlUVzhhWlhPZkR2SVhyR1BYOVRMNFpONXY3aHR6QTBJRzlhQnZUaEhFVDU3cU11LytlUGx6VG83MUwyNVFaaXhnM2NaN3ordFkrWGJtejMxVnU5NmhVTVFTQVZpM3EwNlJSYmVjdXFzZ2FsV25hS0lvbURXdlRxbmw5NnRXcDdySTd6Tk51cnVDZ0FMcDBpcVpMcDJnQTh2SUwySk53a0YxN2traEtUdUZveW5IU2ptZHk0M1dkSkdGN0dscHJDdTJGeFZmSzlQUktsZlg2bGVkMVBWOWp6dmU0ODdIV1g5MUpwWlFLT2FlSm9seXFWNjhlb0lJcU5MQVpQcDRQRWhSQ0NDL1Jkak9qTUNkbFIzSnlzdWR0OGtJSUlZUzRhRWdDU3dnaGhKdmc0R0JmcFZUSko5OGRXdXRVNFBRMTBmNVpGUUczTnpaUFRXeWQrcVpwY1g4QmNCejRIbGlRbDVlM09pNHVMcXRXbzVZUFc5QjJVSmI4L0VJY0RvM2tyOXlGaEFReTQ4ZTNxQnhlOUg3bjdOOVh1ZlFQdXYxcUJ2Vy8ycVd0ODJXdG5EdDg3aHR5UFRkZWR6bDNQL1F1aVFlS2RtMHRXYkdaRmszcnNtWDdYdWVjVnMzcnVTUm9ubnR0bE12NVdKNVlMQWI1K1g5ZkFtdkppazBBN0VrNHlGTXZmY0d3d2RkVExhS1MyN2pRa0VDM2M3VkNRZ0pkcm9NQy9jOTQ5dGFiTHc2bG9MQ1E3MzZjdzd5RmEwazZtTUx2ZjZ3N0w4OEY0TXB1YmZuMjgyZlAyM3IvVmFhcHljc3JTbUFwaFdscU0xbHJWYXU0VzJtdE1Rd0RyYlZibHNaVFcvRTVmUzY3cTBydlpDcHU5N1NXeTgrMDB1TlA3VHUxLzB4cmxhZXZySjFiZjRkU2lTLzdQM0xEaTVRdHBQTFZTakZTb1d0Nk94WWhoSEJoVllkc0laVWZKRGw1bXJkREVVSUlJWVIzU1FKTENDSEVtYVJyclo4dExDeGM3dTFBU3ZqNCtEd0hEQ201TGtmaXlnUldtS2I1ZzlaNlBaQ2RrNU96Yi9mdTNjNkRpeXhLNTJwbE9CU1FsMWVBdzNUSXIwa1BQdjVxaWt1NXZOeGMxNFRSNkhHLzh1MlBzejNPWFRMN1U0WU11QTZBRG0yYU9oTllDeGF2cDNLbFVJcU8zQ25TOWZJWWw3bWhJWUduVFdCRlZLMklvVnpQcTNydzNwdTRzOStWTG0wYk4rOWkrT01mT0s4ZkhuWUxkOXphdytPYXBVdXFIVG1heG81ZGlTNzliV01hbHhuUCtWQzdWZ1JBcWZKMXdodE0weVN2SkRHcXRabHJOOThQc0JrVEFkTFMwcFJwRm0zS01rM1RLUDVUbWFacEJBWUdPdHY4L1B5VTF0cHRySyt2cjlKYXE1SkVsMm1hcFI4YnZyNit6ajlMeHBYdUw0bFJhNjJzVnFzcWFiUFpiQzVqUzgreFdxMitobUZZSEE2SFlacW14V0t4R0tacFdrelR0QmlHWWRGYUcwWlI5dGhxR0lhaHRiWW9wWnhqQUIvVE5HMUtLV3Z4UFcxS0tTdGdLUjVyS2Q3ZGFqRk4wMXE4bHJOTktXVTRIQTZyeFdJeHROYVdrditzVnF1bE9PYW1Gb3VsYnZGVFMvc0h2OVFYSFFYTjBVUzZwMHVGRU1MYmRJU0M1b0Frc0lRUVFvaUxuTHdqSW9RUTRyUzAxZzZ0ZGZMMjdkdDNlenVXRXRIUjBla2xqejBrcXpTUUQ2Um9yWk5NMDV5aXRaNnlaY3VXcE5PdDZkQkdyZ1hzcUtKU2F3NkgrVGMrZzMrdnZMd0NzckxLM295WG01dGZabDlwbDdacnp1VHBpNXh6dnAvZ1dvYnZpbFBPWkFvTERmSzRUdDJvNnJ6MzJuQ2lhbGNqZHN0T2w3NklLaFZka2xBQWhuSHEyVVM0amZIazFQT293aXVGMHJwRkE0OWo5eVVlWnMzNk9KZTJBMGxIWGE0UEhVbHpHd1BRcEdGdHQ5MWFwd29JOE1QUDE4ZWxyZEJ1SnpQelpKVWRQejhmQXZ4ZGp3L0tMeWdrTy90QzJrajU3K0F3dGJNMHBWYktZYUF5Tm0zYWxIN0dpZUtjdEdyVjZtMUF0Z2IrSTVSU3FpaDlWYlZxTmFwR1ZQZDJRRUtJaTl5Unc4a2NPWElJcFpUU1d0THJRZ2doaEpBRWxoQkNpUDhPTzdBTFdBZXNCVmJIeHNadUxtNC9JNlYwcmxZNEZJcTgvRUpKWUoxbnBjc0JBblJzMTR4S0ZVT2Q1MWVaNXNuWHUyMU1ZOElydVI3SlVpRXNtSWIxYTlLaFRWUG1MMTdQb2NQSG9EaXhGVlc3R2dEN2kzZDBsYWdjSHNheWxadGQybmJ0ZGMxakp1dy81RGFtWHAwYWJ1WDlGaTdaNEhMZHMydmJNa3V3L2ZUekFuNzZlWUhIdmhKejVxOW16dnpWYnUxZmozeVNOdEduMzluMTROQ2I2SGRUTjVlMmxXdTI4ZERUSTUzWC9mcDA0K0g3Ym5FWk0zM1dVdDU0Yjl4cDF4YnVpblpnRlpjUVJKdmFOQ1FMS1A1emVsN2Rtd0dEN3ZWMkdFS0lpOXdQWTBmeHc5aFIzZzVEQ0NHRUVCY1FTV0FKSVlUNFY5TmFwd0d6dGRaVGdjMjV1Ym5IZHV6WWtYbldDNWs2VnhuR3lSMVlwaVN3UEhuOGdYNDhkTy9OL0RobFBsOTkrNHV6L2UxWDdxVlRoNWJPNjFuelZ2THV5QW5PNno2OUxuZFp4MnExY3NPMWwvSHRENys1M1dQQXJWZTZ0YjMrd3QzT25WTHJZdU9kQ2F6U0VrOUpZRldzRUVMZlIxOCs3Zk9aT1djRk0rZXNjR2w3K3BIK0xnbWl0T01aeEc3WjVUS21aNWMycDEzMzcrUndPTnpPK3JMYkhTN1hwdFp1WXlRcGUyNkt6c0FxS1NHb1RLVk1TV0FKSVlRUVFnZ2hoQkQvQUVsZ0NTR0UrTmZSV2g4QnBtcXRKMWtzbHRrYk5teklLY2UwMDFOR3JsYmFvVkJrWnVkU1dPZ294NlNMajgxbUplMTRCbU4vT2xueUx5dzBpS2FOb2dnSUtDcFp0ei94TUo5L005M1pIeFRrei8zMzNPaTJWcStyTG5WTFlFWFZpdUN5RGkzY3hwYW56Ri9zMXBOSkpuOS9YNnBIVkRxTFoxYTJCWXZYdTV5ejluLzI3anM2cW1wdjQvaHpKcE5NS3IwRlErK2RnQ0JnQVZId0t0aXdYUVVMS2pZdTZyVjM0S3BYRWZRcUlvanlpb0NLMkFVRkJCR2tTazhJaEFDaGhSaENTRWl2VTg3N1I1SWhZd29CZ1JubCsxbkw1Wng5OXQ3bk54TlVuSWU5ZDRQNnRkVzFjNnRLK3plSmFLRDZmMWhCbHB4eVRFbUhVOTNYalJyV1VlTkc5Y3FORFFzTlBtRTliMDZacHplbnpLdXl6NXpQZjlLY3ozODY0Vnc0TWFmTHBleVNyUmROdzNRNm5lYWYvL2NOQUFBQUFBQTRJUUlzQU1CZlRrcEt5cFNrcEtUVCtpV3lVODQwcTZ5RmtuUWtKVjM1QmRVN3krbGNOT25kenozT3Vzckl6TkcxdHoybnlLNXROSGhnTDgzOGRKSEhPVm5QL251RWF0VU04NWlqb0tCUWIweWVXMjd1NUpSajJyUTFUcjE2ZERpcG1yS3o4N1E5ZHIvN3VsUDdGdVcyK0F0dlZGZDE2OVFzTjlibGNpazI3a0NsY3kvK2VZUEg5YUJMejY5MCswQ1ZyQ0M3OGRvQkhtMHpQMTJvS1I4Y1A0Zjhxa0Y5TkhyVXNCTzhLL2lDb2lLN2pxU2tTNUlNMDNESWFoenpkazBBQUFBQUFKd0xDTEFBQUg4NXB6dThraVJyb1RWQlFjcVZwSlRVVE9Ya3NrdFlaZjQxYXBqcTE2dWxCWXZYS2krdndOMitkZHVlY2x2dGpiaGxzUDV4K1FVZWJYbDVCWHJrbWNuYUVyMjczTndGQlVWNjVKbDM5ZVlyRDZsdjc4N1ZybW5EbHAwZTUyaDE3dENpWEovYmI3bWkzTmxScGZWY2ZPVy9LcHczK1VpYW9yZkhlN1I1Yy90QVNXcmJ1b2tpR3RmM2FEdVducTJvTWl2UW1qVnBwRll0R252ME9Yd2tUVHQzSFR4cmRmNWQ1QmNVNldoYThWbHRwcFNmN3lya1F3UUFBQUFBNEN3Z3dBSUFRTktCQTFFWnpkdDNTNVJoZEN5eU8zUXdJVVdkMnpmM2RsaytxVm5UUm5ycWtkczArdDdyOWZYOFgvWCt6UG5semxzcXRYcmROaldvVjF0REJ2ZFJyVnBoMnJucmdNWlArRmg3OWlaV09uOWhZWEdJZGU4ZFEzVDNpS3VxdFgzZ29xVy9lVnozN043dUZONVplVDh1OFp5M1VjTTY2dEtwOHUwRFZYSm0xb0dFd3g1dDZSbWV4N0psWnVXVzZ5TkpBZjcrYWh4ZWZtdkJzcTRiY25HNUlHN3QrdTBhODlUYjd1c0JGM1hYd3cvYzZOSG4yeDlXNnBXSnM2dWNHK1h0Mlo4a2U4a1pZNlpwSnFTZXlobDdBQUFBQUFEZ3BCRmdBUUJRd3BTNXpaQXhXSkoyeGlkcXlPRGUzaTdKNTZTbVpXai93Y1BhZCtDd05temVxZDgyN2FnMHZKS2tBd25KZXV1OWVmcG13YSs2NU1KdSttVGVVbytWVXBJVUdCaWdqdTJhZTZ6SWNqcWRtajV6dmxhdDI2WnBiejZtMEpLem9Sd09oM3M3dDFLSEVsTzBZbldVKzdwV3pWRDE3dGxlVHFmbmMrYk0rMGtML3hCMHFXUUx3Y3JNWDdUYTQzclFwYjBxN1Z0cStzejVtajV6ZnBWOXZwNy9xNzZlLzJ1NTlqYXRJdlQ1UitPcUhHdTNPenhXdmtsU1laSG56OERoZEpiclk3YzdUbGc3eXRzUmQzekJsU0Z0OFdveEFBQUFBQUNjUXdpd0FBQW9VZmJMNlozeENkNHR4Z2VacHFrSC92Mm05aDhzdjNLb1ZNTUdkZFRrdkFiYXREWE9vejBoTVVXejUvNVVyci9WNnFjM3hqK284eVBiYWZRVC95dTNCV0hMNW8wVkdocXMvMDM5UXB1MjdsSjJUcDZPcFdlNTcvdjVXVFQzNjU5bG1xYTdiZENsdldTMVd1VjBlb1k2aDVQVGREZzVyZHJ2OTNCeW1sSkx0bzRyTmJnYUFkYVo5citwWCtoL1U3K29zczg1aXhiYkFBQWdBRWxFUVZTblh5elZwMThzUFdzMS9aM0ZsRGtmelpTeG9jck9BQUFBQUFEZ3RMRjR1d0FBQUh4Rm9kUGxYc2F6Szc3eUxlN09WWVpoNk80UlYxVjRMeXdzV0tQdXZGcmZ6SGxaMDk5K1F0UGZma0pkT3JXVUpGMDVxSThldXZlNmNtT0Nnd1AxN2h1UDZzSStYV1N6QmVoLy94MmpkbTJhdXU4M3FGOWJUejE4cXlTcFlmM2FpdHQ5VUw4bkhmV1lvMjZkbXJxc2YwOVpyWDd1dG11dnV2QzB2Ti93Um5YMXpaeFgzS3V1R29mWFU4ZHFiQ3ZwNzI5VllHREFLZjhGM3hLNzYzaVliWmpPelY0dEJnQUFBQUNBY3dncnNBQUFLSEY0ei9hZHpkdDN5emNNSXlncCtaZ09KUjFWazhiMXZWMldUeGs4c0pmZW5ESlBHWms1a3FTdW5WdnB5c3N2ME5BcitpazRPTkRkNy96STl2cDQ2bk5hOHNzRzllaldWdlhxMXRLK0EwbGFXSEttVk12bWpmWEdmeDVVaTJiaDdqRmhZY0g2YU1yVEdqL2hZeTM1WmFPZWZQaFdoWVFFU1pJaXU3YXBzSjRMZW5aUXorN3Q5T3hqSS9UeUc3TTA4SkllNnRDdTRwRHBobXY2NitLK1hjdTFGeGJaOWZUWTl5c2MwN0JCSGIwKzduNE5IdGlyWEhoV21TZkcvRk0zWGp1Z1duMVBSWEJ3b0FKdEp4OTBGUmJabFp1YmYwWnErcnM2bUppaTVKSXRLMDJadVFkMng4U2RjQkFBQUFBQUFEZ3RDTEFBQUNqRGxMNHhwT0dTOU1YM3EvVDRnOE84WFpKUHNWcXRldnJSMjJTYVVzL3V4Y0ZVVlFZUFBINk8ySXRQM3FuRHlXbUs3TnBHOTl3K1JJR0J0bkw5QXdOdGVtM3MvUnAwYVM4TnZLU0h1NzExeXdnRkJnYW9vS0I0VzhEZzRFQU52YUt2cmhyY1I1SjAzWkNMbFhEb2lLNnBZdlZWcXhibjZlSiszY3ExLy9Hc3FJcVVyY1hiL2pWcW1HNFpOdkNreDMzN3cwcTlNbkgyR2FucDcrcTdSZXVPWDVoYTRNMWFBQUFBQUFBNDF4QmdBUUJRaHVreVo4clBHQzVKUDYzWW9qSDNYcTBBZjM5dmwrVlR5b1pTSnlNZ3dGOHozbjI2V24zL0dCajUrMXUxNXFlcE1rMVRSVVYyK2Z0YlpiRjQ3b1Q4OEFNM2VsemJiQUhhL091TUV6NHJPRGl3V3YwcTgvU2p3L1gwbzhOUGVmeUpqSC8yYm8xLzl1NC9QYy8xUXkvUjlVTXZPUzAxblFzS0MrMWF2bWJiOFFiVDliazM2d0VBQUFBQTRGekRHVmdBQUpSaEtYTHNNS1VFU1VwTnkxVGNIczdDOGlXR1ljaG1DeWdYWGdHbjI4NzRCQjA1V3JKOW9HbnVkenJON2Q2dUNRQUFBQUNBY3duZi9nQUFVRVpSVVVhV1pLNlhwSnk4QWtYdjJDZlROTDFkRm9DenlEUk5SVzNmcC9TU3M5NGs0N2RjRlZUdkVEUUFBQUFBQUhCYUVHQUJBRkJHVWxKU3ZzdGxiSkprZHppYzJoWjdRSG41aGQ0dUM4QlpWRmhrVjB6c0FSVVZPU1RKYnNyY2RDdytQdHZiZFFFQUFBQUFjQzRod0FJQXdKTnBNYlRCbEprbVNldTM3TkxoSThlOFhST0FzeWp0V0xiV2I5a2xTVEpsNXJoYzVrWkpMTVVFQUFBQUFPQXNJc0FDQU9BUHNodzVXd3dwWHBJU0Q2ZHEzdmNydlYwU2dMTm96bGUvS0trMHVEYU5oSHlqTU1yYk5RRUFBQUFBY0s0aHdBSUE0QStPeGNkbm1RNXphdW4xM0c5L1ZlTGhWTzhXQmVDc09KUjBWSjk4OVl2NzJtV2FrMUozN1dMN1FBQUFBQUFBempJQ0xBQUFLbkJnejdhNXBxbG9TY3JMTDlTYjA3NlYwK255ZGxrQXppQ24wNldwTTM5d24zdG5TbEVKdTZJLzhYWmRBQUFBQUFDY2l3aXdBQUNvaE11cEowMHBUNUorWGJ0TjIrTU9lTHNrQUdkUWRPeCtyVmdiSTBreVRlWEw1UnpuN1pvQUFBQUFBRGhYRVdBQkFGQ0piR2ZXQnNQVUdrbkt6TTdUL0NYclZWQlk1TzJ5QUp3QlJYYUhmbHk2WGtmVE1rdGF6SlVGVHV0YUw1Y0ZBQUFBQU1BNWl3QUxBSUJLcE8vYmwybWFybTlOVS9tbWFlcXJCYXNWczVOVldNRGYwWjU5U2ZwcXdScTVYS1lrczBpbXZrdU8zM3JVMjNVQndLazRsblpVTHBkM3R6NU9UVW4yNnZNQkFBRHcxMmYxZGdFQUFQZ3lvOGoxalFLTkd5VGpzdXljZlAzbnpjLzA4ZVRIVkxkMkRXK1hCdUEwU1R1V3BXZGZuYW5zM0h5cGVQdkFyWGxGem0rOVhSZndCMVpKRG04WGdWTXpiOVkwZmZmRnpGTWFPK3ViVlFxdzJUemFWaXhkb09sdnZ5eEordWlyRlFvS0NuYmYyeDYxVWE4K1AxcFdmMzlkY3RrUWpScnpYTFdlTStyV1Fjckp5dFRkbzUvV29LdHVLSGYvMFh1SDZjamhSTFZ1MTFrdnYvVlJsWFA5dG5xWnByenhnZ1lQdlZuL3ZQT2hjdlZYMTlLRlgrdWo5eVpJa21iTVc2YVEwREE1SEE3ZGZtMi9hbzIvNjRFbmRNWFZOeXR1KzFhTmYvcitLdnMyREkvUWtjT0pWZmE1N3VhUnV1WE9CMC9pSFFBQUFPRFBJTUFDQUtBSysvZHZQeExSdnN1L3JiS3NOd3dqYU1ldUJJMmI5S2ttamIxWHRnQi9iNWNINEU4cUtDelNmeWZQMC9hNGc1SWswelFMNUxRL2tMSS85b2kzYXdQSzZ0NjkrMGhKSVpKV1JFVkY3WkJrOTNaTjhEME9oME16cDAwc2ZtMjNLeVMwaGxZc1hWQ3VYNGZPa1dvWUhxRzQ3VnUxTHo1T2ZTNisvTFRWRUJ1eldlOU5la2xPcDFPTHZwK3I4SWltMnJSdWhiWkhiYXpXK0xBYXRmVCtwNHRQV3owQUFBRDQ2eUxBQWdEZ0JCTGpZbUthdHV2K3JKK2hOeVFGTEZteFJYTTZMdE9kdDF3dWZ5di9LUVgrcWh4T3B6NysvR2N0L0hsVGFaTmRwakgyd0o3WUtPOVdCcFJuR01hbGhtSGNaSnBtWVdSazVGN1ROT2NVRlJWOUVoc2J5ejV0ZnpHWFhEWkUvdjRCVmZiWnMydTdFdmJ2T2VtNTU4MmVwcVRFNDlzZEwvaHFkb1g5Umo4K1hnM0RJN1IxMDFyTi8zS1dXcmZyVks3UHRMZkdhLzNxWmU3cndzSUNTZExlM1R0MDE3QkwzTzNkeisrblI1OTdYWkswZGVNYXZmUGFzM0xZaS9QVnk2OGNwa0ZYM2FEMXE1ZFZlMHREcDh0WjdmZDcwKzMzcS85bFF6M2FYS1pMRDQrODFxT3RRWGlFbWpScnBVTUg5eW9rTkV3MzNIcXZKQ2x1UjVRMnJGMHVTUm8wNUFZdC9uNmVVbzhtcTM3RHhob3crR3BKVWw1T2puNzg5bE5Ka3RXZjMvY0JBQUNjVGZ6dUN3Q0FhaWpNY00wSXFtM3BZUmk2MVc1MytrK2ZzMWpCUVlHNjlmcitNZ3pEMitVQk9FbW1hZXI3eGIvcHcwOFhxN0RJTHRPVTB6VE56ODE4MTRmZXJnMm9ndFV3REt1a3JvWmhUTFRaYkdNakl5TlhtcWI1cldFWUcvUHo4eFBqNHVMU3ZGMGtxamJpbmtjVVZyT1dIQTZIckdYK0lFeCtmcDQycmZ0VkZ3KzhVcC9NZUtmQ0FHdjZPNjlvM2E5TFBFS2VCNGYvUTRGQndScCt6eVA2NGVzNWtxVHc4NXFxU2JOV0htT2pONjl6aDFBQmdZR1NwS3lNWTVLa2xPUWt1WnpGYzZZYy9sMnBLY215MjR2Yy9jc3lUZE9qdmFpb1VKSzBmczB2ZW5mQzgzS1d6Tk9yN3dDTmZPZ3BTZEpsVnc1VHQ1NTlQZWFKMjc1Vld6YXNsaVJkYzlPZENnMHIzcDdaWmd0VWFrcXlOcTVkcmwwN3Q3bjdMLzN4SzdYcDBGWHRPblp6dDJVY1M5T2hoSDJlOVZVUWxOV3BXMThOd3MvVG9ZTjdGUlFVb2l1dnUxV1NaUEh6Y3dkWXZmcGRxcDNidHlyMWFMSUNnNEkxN0ovM1NKSjJSRzl5QjFnTkdrV1VteHNBQUFCbkRnRVdBQURWY09USXR0eEdRZTNIQmdiWnVob3l1cWNkeTlLRUtWOHFNeXRYOTk5eHBTd1dpN2RMQkZCTlRwZExIMzMyazk3NzZFZGw1ZVNWdEpyN2lvcUtYanljc0RQZHkrVUIxV1lZUnFpa3F5UmRLZWx3VUZCUVhHUmtaSlJwbW90ZEx0ZmFiZHUyNVhxN1JwU1htNXV0bWU5UFZHQlFzTzU3K0hsMysvS2Z2dE9jRDkvV0w0dS9VKzI2OVNvY1cxR29WRmhZSUx1OVNCKysrNnE3TFNjN1M4UHZlVmdOR3AwblNWcTI2RnQzVU5PbWZSZjF2S0I0QlZWbVNZRDEzcVNYM0dOLytPWVRXYTMrK3NjMXQrajhQdjNkN2JNL2VFdVpHY2ZVTUR4Q045LytnTHU5VHQzNnhYT2xwN25EcXg2OUw5SUQvMzdKL1lkOCtsYXlSV0ZwZ0hYcDRHdlVxSEVUZDN2TTFnMmEvZUgvUFByT216MU5nNGZlNUJGZ0xmM3hLeTM5OGFzSzU2Nk1LVlBabVJuRm4xMUJ2c2U5V3JYcVNwS09wUjdmUmZaZ21TRHh2Q2JOVCtwWkFBQUErSE1Jc0FBQXFLYmtBM0VIR3JYdU9DTFE2ditMcFByWk9mbkcyeDk4cDRMQ0lvMjhkYkJxMVFqeGRva0FUaUE3SjE4ZnpGbWtHWi8rVkxMeXlqUWxwVHFLWERjYzNyL3pvTGZyQTZwZ3VsK1lwc2ZxWDZQNG9yR2t4cVpwRHJCWUxBOGFobkVzTWpKeWpzUGhtQlVURXhQbnJhSlIzb3dwcjJsSGRQSFdwZDE2OXRVRkZ3NlUzVzdYd3UvbVNwSVNEKzJyTkNqcDJmdGkxYW5iUU5HYjE3bFhhRjExM1cxS081cXM5V3QrVVZpTldpb3N6RmQyVm9aZWVXNjBubmhwa3JadCtVMXpaMDZSSklXRWh1bWh4OGZKejg5UEtsbDVWUkc3dlVqaGpac3F2SEZUZDF1QXJYalZWa2hJbUxwMDcrM1J2NkFnWCtmMzZhK1oweVpxd09CcmRNL29aelQxemJGS1MwM1IzUTg5cFpDUU1QMzQzV2VTcElzdnZWSXQyM1NvOGpPeStsc1ZXcU9tN0lXRjdzQXVOS3lHYklGQkh2MHVISENGT25icDZkRm1tcVptVEhtdDByblRqaDdSZmJjTnJ2QmVuWHJGWVZ4dVRyYXlNdE5WbzJadEhUcTRWNUprc1ZqVW1BQUxBQURnckNMQUFnRGdKQ1RIeCs1bzByYlRVS3ZGZjZwcG1qM3NEcWRsNnNjL2FudmNRZDE2Zlg5ZDJMdVRnZ0tyUHRjQ3dObVhYMUNrZFp0MjZzdjVxL1R6cWlnNW5hN2k4TXJRUnBmTGVDeHhYMHlNdDJ0RU9aYTJiZHRXdkF6bDNHUXJlMUdjdlpabkdJWkZVcEJoR09kSmVzWnF0VDRlR1JrWkxXbUJwTFdtYWNaSFJVVWxuSzJpVWQ0dGR6eW9WNThicmNMQ0FuMDQrVlcxYXROUjY5Y3NVOXJSNGxVL1YxMTNxM0t6c3lzYzIvZVNRZXB6OGVWYXQzS3B1KzNHRWZmSlpndlVsSWt2NnRxYjcxSjYybEZOZXZrSkhUMlNwR2ZIakhDZlBSVldvNWFlZjNXS2U2V1QwK2xVOHVGRGF0YXlyZTRaL2JSZWYra1I1ZVhtYU9nTnQ4c3dqRXBEbm4zeE84dmR1K3dmMSt2ZU1jL3FvY2ZINmVLQlYybmhkM1BkTmI3MXlsTWEvY1I0TGY3K2MwbFNxOVlkVGhoZ2RlamNReC9PWGFxbEM3L1dSKzlOa0NTOVBlTmJoWVNHeWVGd3VQc2QvdjJROU1ldG5DdjVaNk02SXNwc3U1aHdZSzg2ZHp0ZisvYnNsQ1ExYmRGR2dYOEkwQUFBQUhCbUVXQUJBSENTRHUzZXNhbFo2NjczeTJyTU5xUk9UcWRMeTlkczA5YVl2ZXJkbzUzRzNITzFPclZyNXUweUFaVFl0VGRSYjczL3JUWkc3VkZHWms3WlcvdmxzTitmc0NkMlcrV2o0UzJHWWRRSkNRbVo0KzA2ZkVpM3NoZGxWMkNWRGJNcVdKM2xMK2w4MHpSN1Nzb3dEQ011TWpJeU9zL3VxbHZrVVBrdi8zRkdtTWNYMEtsaGVCUDk4NjdSbWpYOVRlWG1aT3ZkTjE1UVV1SUJxU1JrdW1Mb3pmcG03djlWT3RldTJHaWxwaHgyWCsvYkhhdE8zYzdYdzArL3FwUWpTZG9ldFVFMWF0WldldHBSZDNnbFNlRVJ6YlIvN3k0RkJnV3JZWGlFVXBKL2w5UGhVTXMySGRTbWZSZFpTbFpsTldqVTJIMGUxc202ZU9CVmlvM1pyTGt6MzVWS2ZwM2U5OGdMOHJOVy9kVkRUTlFHSFRwUXZOS3BjWk5tT3E5SmkybzliOStlV08zYkUzdFNOZGFzVlVkam5pN2VibkhUdWhWYVBIK2UrMTdaYzhQaTQyTFVNUHc4OTBxM3RoMjZudFJ6QUFBQThPY1JZQUVBY1BMTWcvSGJ0alJxMVBwU1c2MlFtWWFNZ1lhaG9JeXNYQzFac1VWTFZteFJ2MTRkZE05dFY2aEQyeVlLQ2d5UUxjQmZWajgvV1N3V1dTeDhXUWljYmk2WFN5NlhLWWZUcWFJaWgvSUxDclZqMTBITittS1pWdjIydzZPdmFTcGZobXU1WFVWMy9MNG5MczFyUmFNY3d6RGMzNXFicGhsb0dNWS92RnVSNzZoc3haWEtoRm1sZlVyL1hzRTJnN1VsOVRWTnM0dlZZdXl3RzJWakZaeEpaWDkrZm41K3V1THFtN1Z4M1FyRmJ0dXMzVHVQWitnMzNYNi9na05DcTV6cjUwWGZlRnkvK3Z4b1JmYTZVSWtKKzVXUy9Mdkh2ZHAxNmlrck0xMU9wMU83WTZPMU96WmFraFFjRXFyeEUyZm94dUdqVktkZXczTFA2SHZKSUxWdTM3bkM1K2RrWldsajZYbGFIYm9vb2xsTDFheFpSNUswSnk1R0U4Yy83bDRsTmZTRzI5V3BhMC90UFVISVZMcktTcEt1dTNta2JybnpRVWxTUVg2ZXUzM2lmeDVYMzRzdjF4VlgzNnl4RTZaWE9WK3BobVhPMVNybDd4K2dUbDJMdHgxTUxOa2VzRlNqeGswVVZxT1dzck15dEdQYkp0bEt0azJVcEM2UkYxVHJtUUFBQURoOUNMQUFBRGhGeWNueFJ4WGErb1lXMXRBN1pKcDNtbEsva2k4SXRYYmpUcTNiRktmNmRXdW9lWk9HaW1oY1QyRWhRUW9PQ2xSQUFQLzVCVTYzb2lLNzh2SUxsWjJicjk4UHArbkFvU002Y2pURG80OXBtaTVKRzB5WCtYLzJuTlRQa3BLUzhpcWRFRjdoY3JsMldDeVcwc3RDMHpRcjNrZnQzQlJXZGh2QktyWVE5TGd1T2VmTllSaEdsc3ZsV21RWXh2ZEhqaHhaR0ZDandaT0dZZkNOL0ZsaUx5cHl2L2F6V21VWWh1NS85RVU5UGZvMmQwalRwRmtyRGJ6aU9xbUNuMk9wUXdmM2F1MktuenphVE5QVWxnMnIzZGRXcTFXZHUvZFcvMEZYcTFmZkFVcFBPNnBsaTc3VjZ1V0xsSG8wMmQydmNaUG11dUcyVWVXZXNYSHRjbG45ckdyVnJsT0ZOUlFVNUduWjRtOGxTY0doWVdyUnVyMkNRMEsxZDArc1huL3BFWS9RYWVpdzRkWCtqTXFLMmJwQmt5YzhwNXpzTEhmYnJoMVJhdHUraSs0YWRzbEp6WFhsdGJlNkF6RkpTajJhN0o3RDRYUjQ5RFVNUTUyNzk5SzZsVXNWdDMycisvbUJnVUhxU29BRkFBQncxdkVOR2dBQWYwWjhmT0YrNmFObXpUcjhZTm9DTHJmNGFhd2h0VkxKRjBvcHFabEtTYzNVaHEyN3ZWMHBjSzZMTjAyOTVwSmw4YUhkVzVNbHVhb3hCbWVaeFdMSkwzMXRtdVphMHpSZjhtNUZ2c05pc2J3a2FWQmw5eXNJcmh5UzFrbGFLQ25XNFhDazUrWGxiWWlQankrVXBPWTFHcHlGcWxHcXFMQkFLdms1bGE3cXNka0NGUlFVN0E1OC9BTnN4MytPbFFSWTMzL3hzVXpUbEorZm41d2wyL3kxN2RCVndTR2hzdHVMMUNpOGlicjE3S3ZnMERCSlV0eU9LRWxTNThqZTZoelpXd2YzN1Zac3pHYTFhTlZPbVJuSDlNWHNhVXBNMksvRWhIM3VPbUsyYmxCd2NLZyttUHpxQ2QvWGdxOW1hOEZYc3pYbXFWZTBmdlV5NWVWNmJOTXFROVZiZGY2Zk4vOVA5UnFFUzVJQ2c0SzFPM2FiUjNnbFNSMjc5bFRMdGgxVldQSlpWcGZkWGxTdXJhbzV1dlhzcTNVcmw4cmhjT2pBM2wyU3BNamVGeW5BWnF0MERBQUFBTTRNQWl3QUFQNDg1OEdET3c5TG1pTnBYcFBXM1FiNFdUVlNodEhQTUJVc3d3eVVLWDhaaHA5cG1oYkRNQ3pWbUJQQVNUQk4wMlVZaGt1bTZaUWh1MHlqd0RTVUo1bnJUYWZ4OGNIZFVUOUxLdjh0Sm55V3hXSkozYkpseStwcWREMG5SRVpHSGkxOVhkbnFIQlgvczNETU1JekpUcWZ6LzdadDI1WjR0dXBEMVhKeWlzT1k0SkJRR1lZaGw4dWxkOTk0UWVuSFV0MTk5dTJKMWFMdjUyckk5Y05sdGZxNzJ6MVcyNVg4N1B0Y01raHJsaStXSkQwNTlpMzVXYTFhOVAxY2ZUbG51bnQxVkdWQ2E5VFVFeTlPVXZxeFZLMVl1cURjZmNNd0ZCZ1VmTkx2c1ZQM1h0cFFzclhneVFxclVVdTE2OVJ6WDRlRWhzclB6MC8xR29UcnlPSGlYOGFQUGYrR2JJRkJHanRodXZidWlWVkUwMWF5bFlSSzc3eituRExTMDNUQlJaZnBIMWZmN0RGM25mb055ejNyamxIL2xpUnQyN3BlcTM1WjZIRy85NFVEOWZHMGlTb29jT2ZwR2p6a3hsTjZYd0FBQVBoekNMQUFBRGk5aWc3RlJ5K1J0S1JwMHk2MWpRQkxjOFBpYW1aWS9PcWJMbGVJYVNoWXB1RmZqWGtBbkFSVHBsMU9WNzVoVVk1TGxsUVpyb05Hdm1YZmdRUFJHZFVZRHZ3VlZKUmEyU1VsU0lvelRmTTNTY3UyYnQyNm5oV0d2aWM5clRoL3JGMm52aVRwODFsVHRTTjZreVNwWG9Od3BSODdLcWZEb1MvblROZjVmZnE3Z3hsSmNwa3VmVGR2cHRwMzZxNm16VnNydVcwbmRlN1d5eDFnK1ZtdENqcUZ3S2wyblhvS3NObGtzd1dwVGZ2T2lvbmFJSHRSa2U1NjhFbGRmdVV3OWV0L2hkNmI5SklpbXJYVVE0K05jNDlMVE5pdjExOTZXSkowNC9CUkdqRG9Hb1dHMWRTUjVFUzE3ZEJWN1RwMjA0S3Y1L3lweit1OHBpMzEzdXdmdFdIdGNvL3pzYXhXcTlwM2p0VGtOMTVRZGxhR0hucHNuUHBlTXNnZCtQbjUrY20vekdkbjliT3FRY1BHSG5QYmJJRzZhT0NWa3FUYzNHeDNnQld6WmIwRy91TTZCUVVGNi95K0E3UjYrU0pKVWtUVGxtcmZPZkpQdlI4QUFBQ2NHZ0lzQUFET2tJU0VtSFJKNlpLMmVyc1dBTURmaDJtYXFaS1dtYWE1MkdLeHhCUVdGdTdmc1dQSE1XL1hoWW81SEE0bEp1eVRKRFZzSEtHZkYzMmpCVi9ObGlUNUJ3VG84UmZlMEcrcmwrbjdMejVXWVdHQlprNmJxTzduOTNPUGR6bWQycmp1VnkzNGVvNys5ZVRMYXR1K2k1SVBWNzI0N3ZVcG55bzB0SVpIMjZ6cGIycmp1aFVlYlpQZS8wTDFTN2J1RzNYcklObUxpbVFZaGl3V2l6YXZYNm1zekhURmJ0dXMxY3NYNmRxYjc1SWtaV2NkLzNNQndjR2hxbHV5d3FsSnMxWjY3cFVwV2p6Lzh6LzVpVWxCUWNHVmhuSTUyVm51UUREa0QrOXg3YTlMdFBiWEplN3JtclhxNlAxUEYzdjBLU2pNMS9kZmZLeWt4SVBhRlJ2dGJwOHg1VFgxSDNTMXNyTXlGTDE1bmJzOU9TbEJjZHUzRW1JQkFBQjRBUUVXQUFBQUFQaStmTk0wZjNFNm5WTlRVMU1YSlNVbDVYbTdJRlRQbnJodDdyT2hBZ0pzbWpuMURmZTlrUTg4cWVhdDJpbjh2R1phczN5eFVvOG1LM3J6T2dVRUhGOUZaTGNYS1NNOVZiVnExMU9YeUF0a3RWcFBHR0RWcVZOZllUVnJlYlFGQkFhVzYxY2FYbFhrdHBGanRDTjZrMzQvdEYvelprOVR1NDdkcWd4eERNT1FyWUpubkc0eFc5ZTdYOGZ2aWxIWEhoZTRyd09EZ2oyQ3U3Q2F0U1ZKU3hkK3JTM3JWMG1TY3JJeTlmbXNxUlhPWFZSVXFHbHZqZk1JNlJ3T2g5NTY5V205L05aSGFoZ2VjVWJlRXdBQUFDcEdnQVVBQUFBQVBpNHBLZW5oSTBlTzVIcTdEcHk4bGN1T243RTBlTWlOQ2cycnFhVS9mcVVycjcxVmwxNXhyU1RKRmhpb08rNTdURys5K3BUQ0k1cXArL245M0t1bEV2YkhLejN0cUR1OHFvNHhJNjhwMStadzJFK3FibHRnb0I1KzVsVzkrTmhJOWVwM3FWcTE2eXhKT3BibVBvNU5BYllUQjFiMzNEelE0OW5USjcraUdWTmVrOFBwY0xjOTg2L2hIbVArTzNtT0drYzA4enovcThUYWxjZFhXSDN6K1VmcTJxT1ArM3JBNEd0MDUzMlBsUnNUR2xhendybjhyRlk1SGNWMTNEN3FVYzE0OTcrSzJicEJLZ25EYXRhcW95T0hFNVdkbGFFWEhodXBmejN4c3JyMTdGTnVIZ0FBQUp3WkJGZ0FBQUFBNE9NSXIvNmFrcE1PYWRXeUh5VkpkZW8xVU51TzNkUzJZemMxREQ5UFYxNTdxMGZmWHYwRzZKWTdIdFRnb1RmSjZYVHF3M2YvSzBsNlk5eWpNazFUVFpxMXF2WnpDd3NMVGt2OVRadTMxcmczUHRUdW5kdTAvS2Z2WkpxbWx2endsZnQrZzBibm5YQ09ndnc4dVZ6SGoyVnoyTzF5eUROTSsyTzlxU21IOWR2cW43VjF3eHAzbTUvVnF0OFBIZERtMzFaS2trSkN3NVNiazYzL3ZqQkd6cEl3TERjN1M3OGYyaS9UTk9WeXVXU2Fwa0pDd3RTNEpCUnNITkZjalNPYTZid216ZFc0U1F1dFc3bEVINzgvU1NvNW4yemR5cVh1NXozNDJGaEZORzJwbHg2L1c3azUyY3JKeXRTN2J6eXY5MmI5ZUZaV21nRUFBSUFBQ3dBQUFBQ0FNOEl3REFXSGhDazdLME9EaDl3b2k4VWlTUnB5L2ZBSysxOTN5MGozNjhoZUYycnJ4alZ5T3AyU3BNNlJ2YXY5M09IM1BDeGJZSkJIMjY5TGY5RGUzVHRPK2oyMGFOMWVYOHg1WDFHYjFucTBOd3lQVUljdVBVNDQvcVlSOTh0bHVrN1lyNnl3R3JYMTVaenA3dXRhdGV2S1pndlUvMDE1WGFacHlqQU12VFJodW1hOCs1cjJ4TVc0KzYzNlphRlcvYkxRWTY0Ymg0L1NEYmVOMHRQajM2N3ltYTNhZFZLTDFoMjBQMzZuYmhweG4zcjN1MVNTOVBpTEV6VngvT1BLejh2VmRiZU1KTHdDQUFBNGl3aXdBQUFBQUFBNEF4cUdSK2lKbHlicDNRa3ZhTkNRRzA5cTdLaUhuOWZrMTUvWDNqMDdkR0gvSzlTdFI5VmIxMWtNaXpzZ3UrU3lvYXJ4aHpPd0R1N2RyY08vSDFSd2NPaEp2NCtXYlRvcWF0TmFCZGhzQ2dtdG9kWnRPMm40UFE5WGEwdkRzcUhjeWFoUnM3YnM5aUkxYXR4RXcyNjlWNlpwcXNjRkYyblByaGoxdTJTd21qWnZyUmRmbTZidnY1eWxWYjhzVkVyeTd4WE8wN3BkbDJvLzgrb2JiMWR5VW9LdXYrVnVkMXVIemowMGZ0SU1mZlRlR3hvODVLWlRlaThBQUFBNE5ZYTNDd0FBK0o3SXlNajZobUY4SW1td2Fab3BMcGZyOXVqbzZDWFZHQW9Bd0NucjNyMzdkUmFMNWR1U3l5KzNiTmx5czVkTCt0dHEzcjc3V01QUU9Fa2FjZWQ5R25IbmZkNHU2Vzh0Snp0TG9XRTF2RjNHMzBMQy9qMnFYYmVCd21yVTlHaDNPcDBxTE1pWDArR1EwK1dVWVJneURJdEN3MnE0Z3ozNHRrOW1mYUJQWm4wZ1NUSk5qVHNRRnpYZTJ6VUJBQUR2WWdVV0FBQUFBQUJuRU9IVjZkTzBSWnNLMi8zOC9CUWNjdktyeXdBQUFPQzcrR05JQUFBQUFBQUFBQUFBOENrRVdBQUFBQUFBQUFBQUFQQXBCRmdBQUFBQUFBQUFBQUR3S1FSWUFBQUFBQUFBQUFBQThDa0VXQUFBQUFBQUFBQUFBUEFwQkZnQUFBQUFBQUFBQUFEd0tRUllBQUFBQUFBQUFBQUE4Q2tFV0FBQUFBQUFBQUFBQVBBcEJGZ0FBQUFBQUFBQUFBRHdLUVJZQUFBQUFBQUFBQUFBOENrRVdBQUFBQUFBQUFBQUFQQXBCRmdBQUFBQUFBQUFBQUR3S1FSWUFBQUFBQUFBQUFBQThDa0VXQUFBQUFBQUFBQUFBUEFwQkZnQUFBQUFBQUFBQUFEd0tRUllBQUFBQUFBQUFBQUE4Q2tFV0FBQUFBQUFBQUFBQVBBcFZtOFhBQUFBQUFEd25vejBZenF3UDk3YlpRQTR4MldrSC9OMkNRQUF3TWNRWUFFQUFBREFPZXlIK1YvcGgvbGZlYnNNQUFBQUFQREFGb0lBQUFBQWNJNHhUT1ZKY25pN0RnRDRJOU9VcytUZlVRQUE0QnpIQ2l3QUFBQUFPTWZZRGVkaXE4dlMwelRVeWR1MUFJQW5JODdwY0MzeWRoVUFBTUQ3Q0xBQUFBQUE0QnlUR0JjVEkrbWYzcTREQUFBQUFDckRGb0lBQUFBQUFBQUFBQUR3S1FSWUFBQUFBQUFBQUFBQThDa0VXQUFBQUFBQUFBQUFBUEFwQkZnQUFBQUFBQUFBQUFEd0tRUllBQUFBQUFBQUFBQUE4Q2tFV0FBQUFBQUFBQUFBQVBBcEJGZ0FBQUFBQUFBQUFBRHdLUVJZQUFBQUFBQUFBQUFBOENrRVdBQUFBQUFBQUFBQUFQQXBWbThYQUFBQUFBQTR1MnEzYkZrek5DQ3NqNStNUnQ2dUJRREtNbDNPbzFtTzNEWHArL1psZXJzV0FBRGdYUVJZQUFBQUFIQ09DZk1QdThJaTQzK0dvY2JlcmdVQVBGZ3NSOFA4dy82VkxuM2g3VklBQUlCM0VXQUJBQUFBd0RuR1loZ2RDSzhBK0NMRE1PcGJwQTdlcmdNQUFIZ2ZBUllBQUFBQW5NTmF0bXFyVnEzYmVyc01BT2U0dmZHN3RXL3ZibStYQVFBQWZBZ0JGZ0FBQUFDY3cvcGRORUFqN3J6UDIyVUFPTWQ5TXVzREFpd0FBT0RCNHUwQ0FBQUFBQUFBQUFBQWdMSUlzQUFBQUFBQUFBQUFBT0JUQ0xBQUFBQUFBQUFBQUFEZ1V3aXdBQUFBQUFBQUFBQUE0Rk1Jc0FBQUFBQUFBQUFBQU9CVENMQUFBQUFBQUFBQUFBRGdVd2l3QUFBQUFBQUFBQUFBNEZNSXNBQUFBQUFBQUFBQUFPQlRDTEFBQUFBQUFBQUFBQURnVXdpd0FBQUFBQUFBQUFBQTRGTUlzQUFBQUFBQUFBQUFBT0JUQ0xBQUFBQUFBQUFBQUFEZ1V3aXdBQUFBQUFBQUFBQUE0Rk1Jc0FBQUFBQUFBQUFBQU9CVENMQUFBQUFBQUFBQUFBRGdVd2l3QUFBQUFBQUFBQUFBNEZNSXNBQUFBQUFBQUFBQUFPQlRDTEFBQUFBQUFBQUFBQURnVXdpd0FBQUFBQUFBQUFBQTRGTUlzQUFBQUFBQUFOY3ZWSklBQUNBQVNVUkJWQUFBQU9CVENMQUFBQUFBQUFBQUFBRGdVd2l3QUFBQUFBQUFBQUFBNEZNSXNBQUFBQUFBQUFBQUFPQlRDTEFBQUFBQUFBQUFBQURnVXdpd0FBQUFBQURBYVpXYWtuekc1dDY5YzV1eU16UE8yUHdBQUFEd0RWWnZGd0FBQUFBQXdOL2RmNTUrUUR1M2IxRzNIbjMwek11VDNlMTc0bUkwK2ZYbkZWYXpscTYvNVc3MTZqZmdUejlyNmNLdjlkRjdFeVJKczc1WnBRQ2I3WVJqUnQwNlNEbFptYnA3OU5NYWROVU41ZTQvZXU4d0hUbWNxTmJ0T3V2bHR6NnFjcTdmVmkvVGxEZGUwT0NoTit1ZmR6NVVyZWRYVjlLaEF4cjd4TDJTcEphdE8ralZkMlpWZTJ6cGV6Z1YvM256LzlTbWZaZFRHZ3NBQUlCVFE0QUZBQUFBQUQ2dVpjdVdOZmZ0MjVmcDdUcHcrdjMwdzVkS1BacXNqUFJVdFc3ZnVjcSs2MVl1MWE5TEY1UnJmL1Q1Q1ZxeFpMNE83dDhqU1VwS1BPaSs5OUhVQ1RJc3h6ZGZDUW9LMFIzMy9WdVNGTGQ5cS9iRng2blB4WmVmdHZjVEc3Tlo3MDE2U1U2blU0dStuNnZ3aUtiYXRHNkZ0a2R0ck5iNHNCcTE5UDZuaXl1OXZ6MzYrRHlkdXAxL1NqVTJhOWxXMTkweThvVDlkc1pzMFpJZnZqeWxad0FBQU9EUEk4QUNBQUFBQUI5WHMyYk5hWkdSa2QxTjA1eG5HTVp5aThWeUlEOC9QemsyTnJiSTI3WGgxS1VkUGFMZlZ2MHNTWEs1WEhwMnpJZ0srd1VHQmV2dEdkOG9KZmwzUlcvNXJkeDlwOE9oYlZ0KzA5YU5hOHJkKy9Ybkh6eXVRMnZVZEFkWVd6ZXQxZnd2WjZsMXUwN2x4azE3YTd6V3IxN212aTRzTEpBazdkMjlRM2NOdThUZDN2MzhmbnIwdWRlTDU5dTRSdSs4OXF3Y2Ryc2s2ZklyaDJuUVZUZG8vZXBsY3JsYzFmcE1uQzZuSk9uUXdiMWErTjNjY3ZkM3gyNXp2OTYvTjA3VDMzbWwwcms2ZFQxZkYxMzZqM0x0aVFmMzZzUEpyNTZ3Rm9mRFhxMmFBUUFBY0dZUVlBRUFBQURBWDRCaEdCME13eGduNmQ4dWwydUh6V2JiSEJrWnVkYmxjcTJLam83KzNkdjFvVHhIU2JBa1NUblp4UXZvc3JJeXRHWERhalVNUDArZno1b3FwOE1obFFSWW1SbkhLcHluc0NCZmt0U3RaMThGaDRZcFB5OVhuMy84bmt6VFZNUHdDTmtDZ3pUNmlmK29xS2hRa3JUcWw0V2FPM09LSkdueXpPOWx0ZnByNjRiVit2RGQvM3JNbTFYeXZKVGtKTG1jeGNGUnl1SGZsWnFTTEx1OXlCMWFsV1dhcGtkNzZUUFhyL2xGNzA1NFhzNlNlWHIxSGFDUkR6MGxTYnJzeW1IcTFyT3Z4enh4MjdkcXk0YlZrcVJyYnJwVG9XRTFKRWsyVzZBa0tTMDFSU3VXeksveTh6M1JxcTZBQUZ1RkFWYVQ1cTAxN0ovM1ZEbFdrblpzMjZTZkZueHh3bjRBQUFBNE13aXdBQUFBQU9DdnBhWmhHUDFNMCt4akdNWmRGb3NsczN2MzdyOUttaFVWRmJYVTI4WGh1UHpjSEUwYy81aEgyLzc0T0UwYy81Z2FSelJYVXVJQlNWTFBQcGVvVGJ2eTJ3ZHUyYmhHdTJPakpjT1FKRFZ2MVU3Tlc3WFR0TGZHeXpSTitmbjVhZlFUNHpYMXpiR0syeEhsSGxjYWVFbHlueGRsTHdtYWNyT3o5TkFkUS9UNnU1KzRBN1AzSnIzazd2L0RONS9JYXZYWFA2NjVSZWYzNmU5dW4vM0JXOHJNT0thRzRSRzYrZllIM08xMTZ0YVhKR1dtcDduRHF4NjlMOUlELzM1SlJrbmRmU3Zab3JBMHdMcDA4RFZxMUxoSnRUL1hQeXRoL3g2UDkxeVowdFZnQUFBQThBNENMQUFBQUFEd2ZhYjdoZWwrYVpFVVpoaEdtR0VZd3lVTjc5R2p4MkdYeS9XSmFacnpKZTNQek14TU8zRGdRUGxsTkRncnpESXJpa3BYTFZrc0ZsbjkvZDNoVmNQd0NOMTEveE1Lc05sVW8yWnRqL0VaNlduYUhSdnREb0lrYWVQYUZWcTU3RWRKMHZYL3ZGdHQybmZSdk5uVGxKNTJ0TUlhL3RodW1xYlMwNDdLNlhRcUpUbXB3akYyZTVIQ0d6ZFZlT09tN3JhQWt2Y1JFaEttTHQxN2UvUXZLTWpYK1gzNmErYTBpUm93K0JyZE0vb1pUWDF6ck5KU1UzVDNRMDhwSkNSTVAzNzNtU1RwNGt1dlZNczJIYXI5R1VyU0hmYzlwa0ZEYnF4VzMvUmpSL1h3eUdzcnZIZmIzV09VbDV0elVzOHUxVEE4NHBUR0FRQUE0TlFSWUFFQUFBRHdPYVpwaG5UcTFLbTF0K3Z3SVdFVk5aYUdXV1VDam5DTHhmS2thWnFQR0lheG8xYXRXdEhkdTNlUGRybGNtN2R0MjdaT2t1TXMxbnpPcTFHemxqNytacVVTRS9icHlRZi9LVW5xMHIyM25oejNQNzM5MmpQYS9OdEtQZkRvaTFxMitEdjk4TTBjOWJ0a3NHNGY5Vy8zZG5xbFNuKytoUVVGbWpIbE5VbFNvOFpOMVB2Q2dVbzZkRUNQdlREUkkrUmEvdFAzbXZQaC95UkowejliSXYrQUFHMWU5NnZlZTNPc1FtdlUxT1NQdnBlL2Y0Q1NEeDlTczVadGRjL29wL1g2UzQ4b0x6ZEhRMis0WFlaaDZMN2JCbGY0bnZiRjd5eDM3N0ovWEs5N3h6eXJoeDRmcDRzSFhxV0YzODNWdXBYRml3SGZldVVwalg1aXZCWi8vN2trcVZYckRpY2RZRmtzRnZuNStXbkpEMTlXMmE5Wnk3YXEzeUM4WFB2a0NjKzc2L216UHZoc2ljSnExam90Y3dFQUFLQnFCRmdBQUFBQWZJNWhHQU50TnRzcWI5ZmhLMHpUckZuMjJqQ01zaXV4eWdWWmhtRUVTSW8wREtPN1lSaUZobUhrZE8vZWZZdWsyVGs1T1YrUllwMWRxNWN2ZHIvZUZ4K25JNGNUTmViSlY3UnUxVksxYnQ5Rmt5YzhMNGZkcnYzeGNRb09DWFgzTGYyNVdpd1dTVkplWG82eU10TWxTY2xKaC9UVVE3ZEtrcVo4dkVCcmZ2MUpCL2J1S3JtWDZKN2pvNmtUWkxGWWxKYWE0bTRMQ2dyVzRkOFQ1SFE0MUxKTkI3VnAzMFVXUHo5SlVvTkdqZDNuWVoyc2l3ZGVwZGlZelpvNzgxMnA1TmZqZlkrOElEOXIxVjg5eEVSdDBLRURleVZKalpzMDAzbE5XcFRyNDNRNjlmSDdrNnFjWjhqMXczWGx0ZjhzMTk3LzhxdlZybU8zazN3M0ZiTUZCcDJXZVFBQUFIQmlCRmdBQUFBQWZJTEw1Y295RE1NMGlsT1lRRW1OdkYyVEx5dTc0a1lsWVVmWlVNc3dESlYrbG9aaEJCcUdNVmpTNExDd3NIZUtuR1pjWHBIcFBsc0paNDdMNWRLYU1nRldkbGFHWG43MlFZMmRNRjM5THgrcVZiOHNVdnF4VkVuU0xYYytwRFVyRnN2cGRHckFvS3ZMQkpPV0V6NG5idnRXYmQyNHBsejcrdFhMS3V4ZnAyNEQzVGg4bE9yVWExanVYdDlMQnFsMSsvSm5ja2xTVGxhV05xNWRMa2xxMDZHTElwcTFWTTJhZFNSSmUrSmlOSEg4NDNJNGlpUFNvVGZjcms1ZGUycnZudGdxYS8vb3ZRbnUxOWZkUEZLMzNQbGdsZjFQVnJlZWZkU3RaeDg5OGNBdFNqOVc4VmFMSi9MTWY5NVJtL1pkVG10ZEFBQUFxQm9CRmdBQUFBQ2ZrSnFhK2x2RGhnMFhtNmJaVnBLZnQrdnhNZlVsaFZSMG8yeG9wUXFDclJKTzB6VDNTdHJzY3JrMk9seEdGMGtYbnFGYVVjYWFGVDhwOVdpeVIxdkdzVlM5OHR4REdqOXhoaFo4UFVlUzFMNVRwQTd1MjZVdlAvbEFZVFZxNllLTExwUEw1WklrK1pXc2pncXJVVXV2dmoxTFJZVUYycjkzbDJaLzhKWU13MUJ3YUppZUd2Yy85L3hMRjM3dERvVm1mYk5LQVRaYnVicHNnWUc2NGJaUjVkbzNybDB1cTU5VnJkcDFxdkQ5RkJUa2FkbmlieVZKd2FGaGF0RzZ2WUpEUXJWM1Q2eGVmK2tSRmVUbnVmc09IVGI4bEQ2ekV4azA1RWJkY2Q5amtpU0h3NjZSTi9TdjFyaTh2QnpsNWVhb1c4Kys2dDN2VW5mN3lsOFdhdGVPS0FVRmgyakVQWSs0MjQrbUpPdTdlUjlKa3B3TzFpMENBQUNjYlFSWUFBQUFBSHhDVWxKU1hsaFkyQzMrL3Y3QkxwZUxwVUZsQkFRRVREVU00L3JTNnorR1ZxVXFXSldWYnBybWZFa2Z1bHl1UGNlT0hjdE9URXpNYjk2Kys5aEtnaTZjUms2blU5L01uZUhSMXJKMUJ4MU5PYXhXYlRwcXg3Wk5PblFnWHBKMDY4alJxbFdubnI2WiszL0t6c3JRb3U4K2sxa1NZSlZ1Ny9mYnFwLzE2Zis5bzRzSFhpVmJZS0FrcVhGRWN3VUZCZXYyNnk1MGIvMVg5dGZIeUJzOXc1MndHclgwL3FlTGxYNHNWVi9NbnFiRWhQMUtUTmpuRHA1aXRtNVFjSENvUHBqODZnbmYzNEt2Wm12QlY3TTE1cWxYdEg3MU11WGw1bmpjTjFTOVgyUC9lZlAvVksvazdLckFvT0FUOWpjTVE5YVNiUWxQWmJ2RGdBQ2J3bW9jUDhmSzM5L2ZQVy9aOXJ5OG5BckhBd0FBNE93Z3dBSUFBQURnTTNidDJwVXRLZHZiZGZpYXlNakkvRCsyVlJKQTVabW1tV0thNW5iVE5MOXd1VncveE1URXBKK1ZJbEhPd1gyN2xaeDBTSDVXcXhvMmlsQlM0Z0dGMWFpcHUwYy9wVHIxR3VyNVIrNlFKSjNmdDcvYWR1Z3FsWndqdFdMcEF2MzQ3V2ZxMkxXbkpNblByL2gvM1oxT2h6TFMwN1JpNlFMVnJWKzg5Vitia3EzKzJyVHJJcWVyT016SlRFL1RrY1BGNTJDMWJ0ZlpZNnZJa0RKbmJLMVl1cUJjellaaFZDdEUrcU5PM1h0cFE4bldnaWNyckVZdDFhNVRyOXI5OThmSDZmc3ZQcFlrOTNzK0dUdTNiMUhpb2YzdTY4ejBORWxTUVg2ZTVzNTZ6OTF1THl3ODZia0JBQUJ3K2hCZ0FRQUFBSUR2Y3ljUUZheXlja25hS1dtZGFab2JUTk5jR3gwZHZVc1NlNTU1V1hoRU0wbFMzNHNIS2Uzb0VTVWxIcEFrdFdyYlNaTW5QTzgrK3lyNTkwTjYvcEU3bFp1YnJjeU1ZNUtrdk53Y2JmNXRwU1M1Vnh2MTZuZXBaazU5UTlsWkdjck95cEFrOWV6VFgvYWlJajA1N2kzM2M1Zi85TDNtZkZpOHBlRGpMMDZTZjBDQVIxMTJ1MTIxNjlSVGdNMG1teTFJYmRwM1ZrelVCdG1MaW5UWGcwL3E4aXVIcVYvL0svVGVwSmNVMGF5bEhucHNuSHRzWXNKK3ZmN1N3NUtrRzRlUDBvQkIxeWcwckthT0pDZXFiWWV1YXRleG0zdGJ4RE5sVDF5TTlzVEZuUEw0MXUwNjY0S0xMbk5mLzdyMEI4WHQyQ3BiWUpDdXVmRU9kM3RxU3JLKy91ekRQMTB2QUFBQVRnMEJGZ0FBQUFEOE5hV1pwdm05cEJtUzRyT3pzN1BpNCtOWk11SkRnb0tDMVRBOFFrTnZHS0ZaNzcvcGNlKzhKczNkcnhNVDlsVTR2blFyUUt0L2NRQVZIQnlpUVVOdTFBL2ZmQ0tWckZ6cWZuNC9UWDF6ck5hdFhGcmhIUGZmTnJoYzIrQ2hOMm5rZzA5cTB2dGZxSDdKMW4yamJoMGtlMUdSRE1PUXhXTFI1dlVybFpXWnJ0aHRtN1Y2K1NKZGUvTmRrdVFPem9yckNYV3ZCR3ZTckpXZWUyV0tGcy8vL0NRL3BaTm5zVmpjMnlxVzVXZXQraXVPd01BZzJXeUIyaG16UlR0anRyamJIUTY3SkNrL0wxY2ZUNXZvTWNabUs5NnFzYUxuQVFBQTRNd2l3QUlBQUFDQXZ3RFROSE1scFVpS2NibGNYK2JtNXM2UGo0L1A4blpkcU5vdGR6eW9aaTNhbEd2dmU4bGc3ZDRabzRpbUxkVXcvRHpWcWR0QXRldldVMWpOMmlvc3lOZVAzMzZtL2ZGeFN0aS9SLzcreDFkUU5XbmV5djNhUHlCQWUzZnZVTXMySFZSVWREeTdQSHJrc0JMMjc1RWs5ZWg5a1F5THhlUFpUWnUzbGlSM2VGV1IyMGFPMFk3b1RmcjkwSDdObXoxTjdUcDJVL3ZPa1pYMk53ekRmUzdYbVhiNVZUZG81SU5QVm5qdmFNcmhDdHYzN3Q2aG9jTkdWSGh2NVM4THRXdEhsSUtDUXpUaW5rY3E3Sk9VZU5DOXpTTUFBQURPRGdJc0FBQUFBUEJ4cG1uK2FCakd6MDZuYzgyMmJkdmlKWjM4d1Qvd2lyNlhES3F3dlhGRU16Mzc4dVJLeDkzN3IyYzFadVExa3FRNjllcExrclpzV0swUEpyL3E3bk1zTlVYam5oeWxwaTNhcUdQWG5vcG8wa0loWVRXME0yYUxPOEM2ZFBDMU1pd1d1WnhPT1p3T21TNlhYRTZuMG8rbFZubnVsQzB3VUE4Lzg2cGVmR3lrZXZXN1ZLM2FGWisxZFN6dHFMdFBnTzNFZ2RVOU53OTByM0NTcE9tVFg5R01LYS9KNFR5K3crVXoveHJ1TWVhL2s4dHZRV2kxV2pYbDQrSXp1Nm82b3l0MjIrYmo3NkZNZlR1aU4ybnBqMTlYT0NZbk8xTXFPUVByMjg4L3FyQ1BmMENBQmd5NnV0TG5BZ0FBNFBRandBSUFBQUFBSHhjVkZmVTVvZFhmMjllZmZhaXN6QXdGQmdYTFlsZ1V1MzJMTWtyT3lHcldvcTBrYVh2VVJqa2REZ1VHQmV2ZnowM1F6d3UvMXNaMUs1U3dmNDg3c1Bxak4xK3BlS1hTKzU4dVBtRk5UWnUzMXJnM1B0VHVuZHUwL0tmdlpKcW1sdnp3bGZ0K2cwYm5uWENPZ3Z3OHVWd3U5N1hEYnBkRGRvOCtoWVVGbm9OS3RrNzhvOUx0Q2t2bDUrZnB2VWt2S1RBb1dJWU1aV2VtYThlMlRlNzc5Um8wa2lSdFdMdGMvdjRCdXVxNld5dWNkOTJxbjdVbkxrYTJ3S0JLKzBqU291L21xditncXhVY0VsclZXd1lBQU1CcFFvQUZBQUFBQUw2UDhPcHZMaVA5bUg1ZVdINkZVRkJ3aUM2L2FwZ2txY2NGRit2blJWL3JrV2YrcTY0OUxsRFhIaGNvNFVDOFZpMWJxRjJ4MFVwT091UnhSbFZsbWpScnBacTE2bFNycmhhdDIrdUxPZThyYXROYWovYUc0UkhxMEtYSENjZmZOT0ordVV6WENmdVZGVnFqbGxJcTJRcXdyS0NnWUNVbEh0VGh4SVBsN3Rsc2dicmdvc3NrU2I4cy9zNGoyS3FJMWQ5ZkRvZGRuMzA4cGNwKzUvY2JRSUFGQUFCd2xoQmdBUUFBQUFEZ1pTMWJ0M2UvOXZQemt5MHdTRzNhZDlGdEkvK2xXclhyU3BMYWQrcXU1MTk5VCswNmRuUDNiZHE4dFliZjg3REhYSGE3WGFhcjh0REk0dWQzY3JXMTZhaW9UV3NWWUxNcEpMU0dXcmZ0cE9IM1BDeXI5Y1JmS1Z4M3k4aVRlbFlwUDR1ZmV3dEFxOVcvMG40ZE8vZndDTEQ4QXdMVXZHVTczWGIzR0hkSTk4eC8zam1sR2dBQUFPQmRocmNMQUFENG5zakl5UHFHWVh3aWFiQnBtaWt1bCt2MjZPam9KZDZ1Q3dBQW5CN04yM2NmYXhnYUowa2o3cnhQSSs2OHo5c2xBYWZFNFhESTRiRExrQ0UvcTdWYW9ScDgweWV6UHRBbnN6NlFpbmVSSEhjZ0xtcTh0MnNDQUFEZXhlL3NBQUFBQUFEQVg1S1YwQW9BQU9CdnkrTHRBZ0FBQUFBQUFBQUFBSUN5Q0xBQUFBQUFBQUFBQUFEZ1V3aXdBQUFBQUFBQUFBQUE0Rk1Jc0FBQUFBQUFBQUFBQU9CVENMQUFBQUFBQUFBQUFBRGdVd2l3QUFBQUFBQUFBQUFBNEZNSXNBQUFBQUFBQUFBQUFPQlRDTEFBQUFBQUFBQUFBQURnVXdpd0FBQUFBQUFBQUFBQTRGTUlzQUFBQUFBQUFBQUFBT0JUQ0xBQUFBQUFBQUFBQUFEZ1V3aXdBQUFBQUFBQUFBQUE0Rk1Jc0FBQUFBQUFBQUFBQU9CVENMQUFBQUFBQUFBQUFBRGdVd2l3QUFBQUFBQUFBQUFBNEZNSXNBQUFBQUFBQUFBQUFPQlRDTEFBQUFBQUFBQUFBQURnVXdpd0FBQUFBQUFBQUFBQTRGTUlzQUFBQUFBQUFBQUFBT0JUQ0xBQUFBQUFBQUFBQUFEZ1U2emVMZ0FBQUFBQTREM1pXWmxLK3YyUXQ4c0FjSTdMenNyMGRna0FBTURIRUdBQkFBQUF3RG5zcDBYenRYTEZ6OTR1QThBNUxqOC96OXNsQUFBQUgwT0FCUUFBQUFEbkdzTXNNRTNEYVJqeUt5aklWMEZCdnJjckFnQkprbW1hTGhrcThIWWRBQURBK3dpd0FBQUFBT0FjNDNCcXVkWFFUeTZwcmJkckFZQ3lER212MDJuODR1MDZBQUNBOXhGZ0FRQUFBTUE1Sm5GMzlLYm16YnNQTjFRVTZPMWFBS0FzbDh1djhGQkNEQWRpQVFBQUFpd0FBQUFBT0FlNURoeUl5dkIyRVFBQUFBQlFHWXUzQ3dBQUFBQUFBQUFBQUFES0lzQUNBQUFBQUFBQUFBQ0FUeUhBQWdBQUFBQUFBQUFBZ0U4aHdBSUFBQUFBQUFBQUFJQlBJY0FDQUFBQUFBQUFBQUNBVHlIQUFnQUFBQUFBQUFBQWdFOGh3QUlBQUFBQUFBQUFBSUJQSWNBQ0FBQUFBQUFBQUFDQVR5SEFBZ0FBQUFBQUFBQUFnRThod0FJQUFBQUFBQUFBQUlCUEljQUNBQUFBQUFBQUFBQ0FUeUhBQWdBQUFBQUFBQUFBZ0U4aHdBSUFBQUFBQUFBQUFJQlBJY0FDQUFBQUFBQUFBQUNBVHlIQUFnQUFBQUFBQUFBQWdFOGh3QUlBQUFBQUFBQUFBSUJQSWNBQ0FBQUFBQUFBQUFDQVR5SEFBZ0FBQUFBQUFBQUFnRThod0FJQUFBQUFBQUFBQUlCUEljQUNBQUFBQUFBQUFBQ0FUeUhBQWdBQUFBQUFBQUFBZ0U4aHdBSUFBQUFBQUFBQUFJQlBJY0FDQUFBQUFBQUFBQUNBVHlIQUFnQUFBQUFBQUFBQWdFOGh3QUlBQUFBQUFBQUFBSUJQSWNBQ0FBQUFBQUFBQUFDQVR5SEFBZ0FBQUFBQUFBQUFnRThod0FJQUFQL1AzcDJIUlZuOWJRQy96ek1Md3lvN0NBaW9vTGdodU8rNzVwYWFsZjBxUzFzdEszUEpjaW5OTE0xS1RTdXR0RVhmdEN5MTBrcHp5U1gzWFJURUJmY1ZFQVRaaHBsNXp2c0hNREl5SUM0NWxQZm51cnFhNTV6em5Qa09BMlp6Yzg0aElpSWlJaUlpSWlLcVVMU09Mb0NJaUlpSWlJanVycENRT3Q0YU4wMTdJWlVRUjlkQ1JGU2NSY3FMTXNlOCt1elorRFJIMTBKRVJFU094UUNMaUlpSWlJam9IcU54VTdvS2lPbENnYitqYXlFaUtrNGprU2JkbEZjQUxIUjBMVVJFUk9SWURMQ0lpSWlJaUlqdU1RS2FTQ0VZWGhGUnhTT0U4SWJVUkRxNkRpSWlJbkk4QmxoRVJFUkVSRVQzc0toYWRSRlZ1NTZqeXlDaWUxeGl3Z0VrSGpybzZES0lpSWlvQW1HQVJVUkVSRVJFZEE5cjFLUUYrZzk0M3RGbEVORTk3cnQ1WHpMQUlpSWlJaHVLb3dzZ0lpSWlJaUlpSWlJaUlpSWlLbzRCRmhFUkVSRVJFUkVSRVJFUkVWVW9ETENJaUlpSWlJaUlpSWlJaUlpb1FtR0FSVVJFUkVSRVJFUkVSRVJFUkJVS0F5d2lJaUlpSWlJaUlpSWlJaUtxVUJoZ0VSRVJFUkVSRVJFUkVSRVJVWVhDQUl1SWlJaUlpSWlJaUlpSWlJZ3FGQVpZUkVSRVJFUkVSRVJFUkVSRVZLRXd3Q0lpSWlJaUlpSWlJaUlpSXFJS2hRRVdFUkVSRVJFUkVSRVJFUkVSVlNnTXNJaUlpSWlJaUlpSWlJaUlpS2hDWVlCRlJFUkVSRVJFUkVSRVJFUkVGUW9ETENJaUlpSWlJaUlpSWlJaUlxcFFHR0FSRVJFUkVSRVJFUkVSRVJGUmhjSUFpNGlJaUlpSWlJaUlpSWlJaUNvVUJsaEVSRVJFUkVSRVJFUkVSRVJVb1REQUlpSWlJaUlpSWlJaUlpSWlvZ3FGQVJZUkVSRVJFUkVSRVJFUkVSRlZLQXl3aUlpSWlJaUlpSWlJaUlpSXFFSmhnRVZFUkVSRVJFUkVSRVJFUkVRVkNnTXNJaUlpSWlJaUlpSWlJaUlpcWxBWVlCRVJFUkVSRVJFUkVSRVJFVkdGd2dDTGlJaUlpSWlJaUlpSWlJaUlLaFFHV0VSRVJFUkVSRVIwV3pLdXBNRmtNdDN4ZWMxbU04eG04eDJmbDRpSWlJZ3FQcTJqQ3lBaUlpSWlJcUl5YVdyWHJxMUpTRWpJZDNRaGRIY2xYenFQajk1NURXZE9Ib09Ua3dGRHgwNUJUTVBtNWJyM3dONGRtUFRteTdmMHZHKzhNNlBFOHlSZk9vOVhuKzREQUJnNWZob2FOR2xsN2N2TVNNZUlRUThqSnpzTDRkVnJZc0tIYzZIVDY4dDhqdWNlN1l5c3pBd01Hdm9XMm5XK3YwVC8vdDNiOE9QODJUaDk2aGllSHpJV3JUdDBMM1d1clJ0WEk3aEtPRUxDcXVPamQwWmc3ODdOQ0swYWlTbWZMaWl6aHVHREhzYWw4MmZRcGVmREdEQm9SSmxqaVlpSWlPanVZNEJGUkVSRVJFUlVnVVZIUi90b05KclpzYkd4UnkwV3kzZHhjWEVKQUZSSDEwWC9ySzBiVitQcjJSOGdLek1EQUdBMDVtSEt1RmRMSGYrL0FZUFJ1OS9BdTFqaE5RdS8rUlRaV1ZjQkFONisvdGk4NGM4U1l5b0hoNkptN2ZybG50UFR5eHZIangwQ0FCemN0N1BVQU92OG1aT1lPV1VzdEZvdHZ2cHhYWmx6bmppV2lBVmZ6d1FBdkRadUtsU0xCYXFxUWxYNTQwUkVSRVJVRVRIQUlpSWlJaUlpcXNBMEdvMVdDRkVIUUYrdFZ2dGFiR3pzWGlubGQ0cWkvQzZFU05tOWUvZFZCbHIvSGFkT0hNV2llYk93ZCtmbW03cFBDRkZxWDczWUp2QVBDQzd6L3RTVWk5aS9lK3ROUFNjQTdObXhDUnRXTDdkZTc5NjJFYnUzYlN3eHJsMlhYbVVHV0F1LytSVHJWdjFxdDIveitwWFlzM09UVFZ1WEhnL2o0ZjdQSXpGK0h3QkE3MlRBL0MrbjRjekpKQUJBMnVWa3pQMWtzblY4WksxNjhQYnhSL3orWFFBQUM3Y2xKQ0lpSXFyd0dHQVJFUkVSRVJIOWUyaUVFSTBBTkpSU2pnZXdMeVltWnF1aUtOdk1adlAydUxpNFpFY1hTTGRtNzg3TldMTmlLZlpzLzl1bS9ZMTNaaUN3Y29oTjIrWFVaSHczOTJPY1REb01BS2dXV1J2dHV2UXFkZTRPWFI5QXMxWWRZVGFib2RYYWZneXdZYzF2YU5hcUUrTGpkdGtOc0RhcytRM2Z6UHJBcHUzanlhT2dDQVhQdmpJR1g4K2FBZ0J3ZFhOSG5laEdOdU9PSDB0RWF2SUZBSUNUa3dFQXNISHQ3emg5NGhqeWpYbEE0VW96UlZGZ3pNdTFyamE3bnNWaUtkRm56TXNGQUJ6Y3Z4TUFrSk9kaGJVcmY3YjJaMlZtMkZ5YlRQbG8xYjVicVY4aklpSWlJcXA0R0dBUkVSRVJFUkg5eTRpQzVUWmVBTm9MSWRvQ1NOZHF0U2t4TVRGYmhSRHpGRVhac252M2JwT2o2NlR5TzNZNDNocGU2WjJjQUFENVJpUG1memtOYjA2YUJXOGZQK1RsNVdMVjhoL3g4dzlmSTY4d3dHblp2aXVlZlhrMERBYm5VdWVXcW9xZkYzMk5IWnZYWWNLSGM2M3puemlXaU0rbnY0UEZDK2FnV2V0T2R1KzFtTTB3Rm9aTlJVejVCY2V4ZmZYcFpHc2QyVmxYMGJwRGR6UnEzaFlBY0RMcE1ONGUrUnhRR0c3MWV1aEpvSENGMW80dDE3YjZpOXV6RFFhRE16eTlmUUVBdm42QjZQbGcvMUpmeTg4L2ZJMk1LMmtGZFpoTTJMZHJDd0NnZVp2T2NQZnd4SjRkbTVDYWZBSHVIcDVvM3FhejliN0ltblZMblpPSWlJaUlLaVlHV0VSRVJFUkVSQldZb2loU1Nna0FLUHAzY1VJSUJZQVBBQjlGVWFJQVBLV3E2c21ZbUppRlVzckZaclA1Vkh4OC9GVUFETFFxc0ljZWZ3NUpody9DdlpJWC9qZGdNTTZjU3NMVWlhL2h3dGxUbURqcUJUUnIzUmxyL2xpTXJLdVpBQUEzajByby84eXJhTnVwNXczblhydnlaK3ZXZVF1K25vbW5YaHdKQUZpMmVENEFJRFg1QXJRYSt4OFBoRldMeFAwUFBZbHpwNDlqejQ2Q2JmeWF0dXdBTDE5Ly9MbHNFUlJGZ1llbk42NmtwZUxURDkvQ0M4UEh3OFhGRFo5KytKWTErSHJtNWRIdzl2VUhBTGg3ZU1MTHh3OVgwbElocFlTcm16dmNQVHloMWVyZzVHU0FyMzlsQkZRT1FVNTJGbHEwN1FJVXJzQmE4ZXYzYU5PeEJ6YXMrUTE1dVRuUTZmVEl6Y2xHdzZadEVMOS9Kd2FQbUFDdFZvdVVTK2VSbW53QlhqNSsxdGRaNU1EZUhiZjgvaEFSRVJIUjNjY0FpNGlJaUlpSUtxeVFrQkJuWDEvZkFFZlg0VWhtczlsZm85SG9TdXN2SG1vVm5ZTWtoQWdYUW93Qk1GUlJsSU94c2JFN3BKUmJOUnJOOXQyN2R5ZmRuY3JwWmdnaDhQcUVqNkVvQ2dEQTRPeUNGbTN2dzhhMXYrUGkrVFA0WmRIWFFNR1phR2pYdVJmNlBma0NQQ3A1bFd2dWRwMTdJVFBqQ3M2Y1BJWlZ2LzJFNkFiTjRPWHRpMjEvcndFQTFJMXBqTWhhOWV6ZVc3MUdIVlN2VVFlenAwMnd0clhwMUJNTm1yU0N1N3NIL0FLQ0VWVTNCbStQZkE1cHFjbVlNWGswaEJDUVVrSlJGTHd3YkJ5YUYxdmQ5ZXdyb3dFQXp6M2FHVm1aR2VqLzdGQzA2M3cvQU9EUnAxN0dqL05uWThyNG9RQ0EzSnhzZE9qYUJ6TW1qOGJPcmV1eDdLZjVlT2JsVVdqYXNnTUFJRzdQZGx6TlNFZmxrREI4TkdFNFVMaHRJUUFrWHp5SDk5OGFZdk5hbXJicVdNNTNneHhOUUhXTGpZMnRMNFNRSnBOSkNpRWtDbjVPcEtJbzFyYWlmNHIzNWVmbmwyZ3IrcmZSYUxSZUEwQmVYcDVOdjZJb0VnVS9aekk3TzFzcWlpSTFHbzFFNFM4VGFEUWFxZEZvWkVaR2h2VXhBR2kxV3BtYW1pb1ZSWkZhclZacXRWcXAxK3NsQUNRa0pFZ0FSZitvaGY4bUlpS2ljbUNBUlVSRVJFUkVGVkpzYkd3akFCOENDQ25IOFA4c0lZUkdTaGtzaExBR1ZNVVZEN0NLSGhjYjV5S0VhQ0tsYkt3b3lwTlN5cFRZMk5pRE9TWnBOSnFsM2ZuSU1WS1RMK0xFc1VTY1NEcU1oQU83Y2ZSUUhGUlZ0ZlpydEZyNCtBYkEyOGNmRnRXQ05YOHNRWjlIbnJZR1h0Y3JmcTlPcjhlTHc4YmhyZUZQd1dLeDRJdVBKeUl3cUlxMS82SEhuMGQyMXRWU2F6UG01ZGxzKzNmc2NEd2FOR21Gdm84K2k2eXJtZGk3Y3hPOGZmeVJsbHB3QkZ2Ujk2RzNqejh5TTlKeE11a3dRc0txbHpoL3E3aFR4NDlnOXZSM2NPcjRFUUJBdkdaenJ3QUFJQUJKUkVGVTdlaUdxTit3T1lRUWFOZWxGeExqOStGcTVoVjhQR2tVMm5Uc2dRR0RSaUR0Y2pMMjc5bG1kNzY4M0p3U2ZmVWJOaS8xK2FsaWNkRXB0UUI4TDZXRVZxc3RDbjlRR0R4Sm5VNVg5QWRmaVQ2OVhvK0NiME1waTRWRlVrcFpvcy9GeFFVQXJJRlc4WHRjWFYybHZUNVZWZUh1N203VEIwQUdCQVRZcmFsQmd3YkY3MWVMM1hNOWs1U3lLT0JTcFpSU0NLRVczcW9XUFJaQ3FLcXFTaUdFZXQyY3FoQkNxcXFxMnVzcm5Idi92bjM3bGdLdy9DTnZIQkVSMFIzR0FJdUlpSWlJaUNva0tXVjdSVkZhM2V2LzMySnYyOER5M0hOOU9DV2xkQUxnQVNCQUFTNHd1Nm80THFkY3dyRG5INFRaVkhLWHg4Q2dLbWpkb1J1eXJsN0ZxdDkrUlBMRmN6aHg3QkFHdnpZQnAwOGN0Um5yN09LS2dNb2w4MTVGS0tnYUVZVStqenlOSlF2bjRHcm1GVnpOdkFJVW5oMVZzM1o5Ni9hQTlteGV2eEo1dVRuVzY1OS8rQXFIRHV5QjBaaUxrMG1IYmI1SERjNHVVQlFGT2RsWlNFMjVpTy9temdBQWFIVTZ2RGhzdkhWYndDSjd0ditOUytmUEl1bG9QRTRkUHdLdFRvZCtUN3lBbm4zN1c3K0hHelJwaFNtZkxjU3NxZU54Y045T2JGejdPNEpEcXlLMmNVczg5dlFyTnZPdFg3VWM1OCtlaEtlM0w3cjNlZFNtcitpY0xhcjRoS0s0Q0lGYXBmYVg0dyt3c3NhVTFuY3I5OXlwL3V2SGxQWVlCYXZCU3AyenRMN0M2OVQ2OWVzZjI3OS8vOTRiRmtORVJGUUIzTlAvSTBoRVJFUkVSQldYb2lndVJmL1BJcVc4QXVDS28ydHlFQTJBUUFEV2JRUkxDN1hzaEZZcWdGd0FSMVZWblMybDNCSVhGeGNmSGhVelRnanh3RDlmT3BXSGoxOEEybmZwamRXL0x3WUFWQTRKUTZObWJkR2tSVHVvcW9yNVgwNUgwcEY0NjNpak1RL1QzM3VqeER6MUd6VERxSWt6QVFBbVU3NjFYVk80OHFuUEkwOWg5L2FOT0psMEdDaGNtZlhvVXkrWFdadkpaTUxQUDN4ZG9qMHgzdmJ6NzJvUnRkQzZZM2UwNmRnREVBSi9yLzBkRzliOGpoUEhEZ0VBekNZVEFvT3E0UC9tZkl6NHVGM0l5c3dBQU96Y3VoNlptVmZ3K3ZocG1QdnBaUFRwTnhDaFZTTkxQSitYdHk5R1Qvd0V5MzZhaCt5c3ErajEwSk1BQUYvL3lqRG5YM3V0Qi9mdHdQbXpKK0h1WGdudE90MXY4elZJT3BKUTVtdWxpaU12MzN4SVo5RE1rVklxVWtxaEZCd0dXUHl4a0ZJcUJWbVhjc014VWtxbDhMeEFvU2pLOWUwQ2dGS3c0RWxZMndFb1FnZ2hwVlNLNWlzYWQxMWZhZk5aSHhmODhTeVU0bitPRjFkc1RnQVFoWE1WL1lFdUN2OUI0WHlpMkQzVzY4THUwdm84QVVRQjBBb2hLdjN6N3lBUkVkR2R3UUNMaUlpSWlJaitEZWJuNStkLzR1Z2lIRUduMC9rTEliNERVTlZlY0ZYS3RvSnBVc3BmQVN4UlZmV1UyV3pPVEVoSU9IMlhTcVpiMExQdjQ2Z2FFWVY2TVUzZzZ4K0l4SU43c2V5bitkaTVkYjExakpPVG9jUjkrZmxHYTZDcExkZ2VyYURkbUdkOWJIQjJCZ3BYWnJoN1hQdnNXcXZWUWFOb3JIMzJiRnp6RzFKVExrS2owY0JpS2RoMXJFYXRhRnhKdjR3YXRhSmh5amNpcG5GTCtBVUVBUUJPRklaaklXSFY4Zmd6UTVDZW1veDllN1pDdFZnUVZxMEdaazE5RytmT25MRE9MNFJBVUVnWXJtWmV3Wjd0ZjJQUDlyOXYrTFVLRHExbWZmenQ3QSt4Y2UzdkpjYWNPWldFNXgrN3R0cXJWdDBHZU9CL1Q5OXdicW9ZekZKSjNydDM3L2VPcnVNdXNnWmRBRVR0MnJVRkFPVG41d3V6MlN6TVpyTlFWVlg0K3ZvS3M5a3NBTUJpc1FpTHhTSXFWYW9rTEJaTDBYaWxxRTlWVmVIcTZpb3NGb3RRRktXRkVPSUxBUG9iMUVGRVJGU2hNTUFpSWlJaUlxSUtUd2lSRmg4ZmY4elJkVGhDYkd4c2poQWlINldIVlJKQWpoQWlVMG9aWjdGWTVxYWxwZjErOXV6WlhFZlVTN2ZHUHpBWUVBSTd0dnlGVGV0VzRzU3hSR3VmdDY4L25ubHBGQm8wYVdWdGsxTGl0NlhmWWRHOFdiQllMUEQwOHNHVHp3Mno5bWRkemJBK2RuUHpBQXEzL2p1d2Q0ZTFQVGNuRzE5OTlqNUdqcDhHcmZiYXdoQlo3UHlzb3UrNVptMDZZL082bFFDQTN2MEdva2F0YUp3OWxZUUpid3pDOXMxLzNmRDFUZmxzSVRRYURWeGMzUkJRT1FTWFV5N0NiRGJqMlpkSG8wUFhQcmg0L2d5TXhVSzNzdVNYY3h6UnY0Z3NmaTVWUW9MOTFZTG56NSsvcGNsalltS3VGSjZMZGVzVkVoRVJPUUFETENJaUlpSWlvbituVEFEN2hSRGJwSlE3OHZMeWRuQ1YxYi9YdWo5L3haY3ozN1BiNSt0ZkdiV2pHMXF2MDlOU01mZVRTZFp6cXp5OWZUSHFuUmtGSVZqUm1NdXAxc2RlM243WXUzTXpsaXljQ3hTZVIrWHA2WVBVbEl2WXMyTVR0bXhZQlIrL0FPdDRLU1cyYmx3Tmk5bU00TkJxTUJpYzBmWCtmdFlBQ3dEYzNEMXU2WFdPZW1jR1hGemQ4TnlqblpHVm1RRkZVN0FDek1QVEc0T0d2bVV6ZHNIWE01R1ZtWUY2c1UzUW91MTkxNTdicmVSek4yamFHaysvK0RwbVQ1K0ErUDI3RUZ5bEtrWlBuSW1mZi9nYWExZitmRXUxRWhFNWtxOXZUWGRESlcyQVZwRnVVcU80Q0dpNWdvN29IbVpSVll1d3lCeEZnK3djazB4UFBuSHdrcU5ydWhzWVlCRVJFUkVSRWYxTFNDbFZJVVM4bEhLeGxIS0YwV2c4ZStqUW9WUUFKa2ZYUnJlbmRjY2VXTEZzRWM2Y1BBYS9nQ0IwNnQ0WGZ2NlZNV3ZxZUJ4SjJJK1AzaG1CSVcrOGg1WExmc1FmUHkrd3JsYXFFaDZCMThkUGc2OS9vTTE4cDA0Y0FRQzR1TG9oSmZrQ1prd2ViZDFxY01DZ0VmRHpEOEw3NDRZQUFQNXZ6blM4T21xUzlWNkwyWXdUeHhLeGZNbi9ZY0tIYzlDNzMwQjRlSHFYV2Yrekw0OUdUS01XTm0xYk5xN0N3cTl0ZC81MGNYV3plNytMaXl2YWRiN2ZwbTNKZ2puSVFnYUNRNnVWNkx1ZWs1TUJQbjRCME91ZGdNSXpyM3o4QW1Cd2RpbnpQaUtpaWlRc3NtNHRvVkg2QUVvekNGa2RFQVlCNkNDaGhaRDI5M29sb251Q1JsR2swRWl6bERDN09DRS9QS3IrQlNuRlRxbGFWcDArZW1DTm8rdjdwekRBSWlJaUlpSWlxc0JNSnBORnA5T2RsbEt1VVZYMTY3aTR1SDBBMUhMY1N2OGlXcTBXTDc4MkFha3BseERUcUlYMVRDcWpNUTlmZkR3UjhmdDNZZkFUM2EzblVBRkExMTZQNE5HQkwwUHY1R1F6Vjc3UmlJUzQzVURoV1ZUVDMzdkRHbmkxYXQ4Tm5icjFCUUEwYmRrQjJ6Zi9oU3ZwbC9ISEw5ZU9HektiVFVoUEsxakI1Vjg1Qk5WcTFFSGE1ZVF5NjNkMTk3Qlp4UVVBcnE3dXQvbFZ1WDE1dVRuV3gzVmpHdVAvZnQwQ0ZINjlpWWdxQUJGUVBkclBvSk9kRkttOENFVzBLdFlGdlU0SGphSkEwU2hRN0d3alRFVDNEaWtCVlZWaFVWV1lUQ2FvVXRZVUF1MmdhRWFHUjlVL0JjZ3ZBT1g3azRuN3p2Mlhmcm1OZjJNaklpSWlJaUtxd0E0ZVBKaGF1M2J0bmdrSkNmbU9yb1grV2FGVkl4RmFOUkpwbDFOd09INGY0dmZ2d3NIOU82MzlSZUZWelRveGVQenBWeEFaVmMvdVBEczIvMlVOck9vM2JJYktRYUdZT1dVc0lxUHE0YmxYeGxqSFBmSGNNT3pmdlJVUUFxMDdkTWZlblp0Z05wdHg2Y0pabkQ5N0NrNU9CbFR5OUxaNzl0cjFaazBkajgrblRiQnBzNmlXVXNlcnhZSzRqQ3RwMkx0emM0a3hlY2FDWTl6T25UNk85YXVYMi9TNXVWZENvMlp0eXF6cGxZRzlrSnB5RVFEZzdPSUNJWVJOY01XenRJaklrWUlqb2tPMFd2eFBRRHdxaE5JQUF0QW9DbXBVRFVQMTBDcW9GaEtNQUI4ZnVMbzR3OVhaQUoxT1Y0NVppZWkveW1LeElEYzNEOWw1ZVVoSlM4T3A4eGR4OHR4NUhFbzZqcXljM0RCQVRKSlNEZ3FMcXI4WVppdzRkV3ovL3YvQ0w3MHh3Q0lpSWlJaUlxcllMQWtKQ2FVbkFmU3ZaOHpMdytjZnY0UHpaMDhoK2NKWjVPWGwyaDBYMDZnRnV2YjZIK28zYkZicVhHYXpHWXNYenJGZU4ydlZDVUVoWVRBYTh4RGJ1S1hOYWkwZnZ3QThOZmgxVkl1c2haRFFhZ2lxVWhXblR4ekY0Z1Zmd21LeG9GcEVyWEtGVndCZ3lpOWZ2cnB0MDFwY1BIY2FPZGxaQUFDTlJvTUxaMC9oaTQ4bmxuclBnYjA3Y0dEdkRwdTIwS3FSTnd5d1FxdEdXQU9zeGkzYUl6UGpDaGJObndVbkoyZWtwNlZZVjVtNXVOamYxcENJNko4U1VxMVdwRllydmdUUVRBaGg4SEJ6UmM5MmJkQ3pmUnNFK25yRDNkVVZiaTdjQXBXSVNwZHJOQ0lyT3djWlY3T3djZGNlL0xSeU5VNmVPeDhHaWFIUXl2dkRvcUxIbkVxTVcrTG9PbThYQXl3aUlpSWlJaUlpQjNJeUdLRFhPK0gwaWFNMjdScU5CdFZyMWtXVEZ1M1FwR1VIK1BsWHZ1RmNVbFhoVWNrTGx5NmNSZjBHelJBVUVnWUFwWjRoMWFaakQrdmpWdTI3WXVHSm85YVZYblZpR3BmN05YVHMrZ0RDcXRld2FUdVNFSWRONjFiWXRCMDZzQWVyZnZ2SmV1M2w0dzlGbzRHVGs2SGN6NFhDTTY4QW9GUDN2cWpmc0htSk04QUFvSGUvZ1dqVXZCMkNxNFNqUnExb3FLcUtMUnRXMld3ckNBQ1J0ZXl2WkNNaXV2TWE2c0pybWpwQ2lFVkNDQStEa3g0eHRhTHd4ck1EVUxOcWVMbC9hWUNJeU5uSkNjNU9UdkR6OWtKRVdCWDA2ZFFlbnkxWWhOL1diZFJrWm1mWGdNUlBvVFhxdjUyYmJwcVdrcEtRNWVoNmJ4VURMQ0lpSWlJaUlpSUg2LzdBWXpoejZqaUNxNFFqdUVvNEltcldSVVJVWFJnTXpqYzFqMDZ2eDhoeFUvSFdpS2ZSOTdGbmIrcmVicjBmeFlWenA3RmwvWitvRWg2QisvdjJML3NHSWF4bmRVVTNiSVltTGRyYmRCc016dGl6NDIrZ01Jd0RnS29SVVFBQVp4ZFhSRGRvaHFnNk1kQnF0ZmgyNmNhYnFyVklaRlM5VXJkU3JGRXJHalZxUlZ1dkZVVkJsYkRxT0pwNEFBRGc1bEVKSGJzK2dBWk5XdG05bjRqb2pxcGRXeDl1TWIwQVJSa25BSS9JOEZBODlVQXYzTisrRGMvbEk2TGI1bDNKQTI4TmZnNzN0V3FPdVQvOWpLMzc0b1RaYkI3ajVxMnZvdk9xTWZyOGtTT3BqcTd4VnZCUFJ5SWlJaUlpSWlJSEM2c2FpVWt6NXQyUnVkd3JlZUxkNmQvQ3pkM2pwdTdUYXJWNGZzaFlQRDlrYklrKy80QWdmUCs3N1RaK1VYVmlzR0Q1dGxMbmE5MmhPMXAzNkc3VDFyWlRUN1R0MVBNZlcyWHcrdHZUeSt4L2M5SXNTQ21oS0FwMGV2MC9VZ01Sa1QzaEZ0MHdLR0tVQUR5anFvVmp5bXV2b25xVkVHdkFUMFIwSnpTdVZ3ZlZxZ1JqMnJjTDhQUHF2NXdBK1lRZUxuNUF4Q1BBTWFPajY3dFppcU1MSUNJaUlpSWlJcUk3NjJiRHE3dEZDT0hRTGJMMFRrNXdNaGdZWGhIUjNhUUpqWW9lSUJUeHZrWlJQT3ZYcklINVU5NUZqZkF3aGxkRWRNY0pJZURyNVlYM2hyNkUvM1cvRDA1NnZaTlEwRHVzcHV1YzhQRHdtOXV6dVFKZ2dFVkVSRVJFUkVSRVJFUjA1NGtxVWZVN2FTRGVWWVJBdThZTk1XMzBDTGk3dWppNkxpTDZqeE5DWU9RekEvRE13dy9BMmNrSmlvSUg0T1E1QkJFUlRvNnU3V1l3d0NJaUlpSWlJaUlpSWlLNnc0SnExUERSUUV5VVFIQklZQUJlZjNZQUt2djVPcm9zSXJwSHVEZ2I4RlRmWG1qWHRCRUE0U2FFZkMxVTQ5VEkwWFhkREFaWVJFUkVSRVJFUkVSRVJIZVdScWM0anhNQ2pkMWNYTVNNTjE5SFdIQ1FRN2RSSmFKN2o1dUxDOTRkK2hKcWhJVUNRdmdwUXZ1bG4xOXROMGZYVlY0TXNJaUlpSWlJaUlpSWlJanVvUENvNlA0Q1lyQmVwOFhRQVk4aHFtcTRvMHNpb251VWk4R0F0MTk1QVFHK1BoQkMxSGJ4MXMzNHQ1eUh4UUNMaUlpSWlJaUlpSWlJNkE0SnFsNjNpb0I0VFFob0d0ZXJpNjZ0V3pxNkpDSzZ4OVdKckk3ZUhkcENveWdRQ3ZwYURKWGFPcnFtOG1DQVJVUkVSRVJFUkVSRVJIUm5DSjFHdVE5QWhLdXpNL3AxNnd4ZkwwOUgxMFJFOXppOVRvY0h1M1JDYUZCbENBaFBMZVNEUVVGQkxvNnU2MFlZWUJFUkVSRVJFUkVSRVJIZEFTRWhkYnlFUmp3SklReXh0V3FpVGFPR2ppNkppQWdBRUJvVWlBZTdkQVFBU0NIdTE3aDUxWEYwVFRmQ0FJdUlpSWlJaUlpSWlJam9EdEM1aWs0Q29oa0FESG55TVJpYzlJNHVpWWpJNnBIdVhWRFp6eGVRQ0ZDRTlrVkgxM01qRExDSWlJaUlpSWlJaUlpSWJsZEVoSk1VbW9rQWRGMWJ0VUM5R2hHT3JvaUl5SWFiaXd0ZWZ2eC9VQlJGQ0NHZURLb2FYZFBSTlpXRkFSWVJFUkVSRVJFUkVSSFJiUXJYdWc0VVF0U281TzZHZ1gxN09ib2NJaUs3MmpkdGhGclZxa0lJYVBSTytLQWk1MFFWdGpBaUlpSWlJaUlpSWlLaWZ3a3RJQjhEZ0NiMTZpSWlySXFqNnlFaXNzdkQzUTFkV2phRFZxTUJoR2dTVXIxT05VZlhWQm9HV0VSRVJFUkVSRVJFUkVTM0lUU2lkazBobEhBbnZRN05ZNkxoNnV6czZKS0lpT3pTS0FxYXg5YUhqMmNsQU1KRHE5TTBkblJOcFdHQVJVUkVSRVJFUkVSRVJIUTdGRjBES2VIbjZ1S0N4dlhxT0xvYUlxSXkxYXdhaHBEQUFFQktad25SSEJFUlRvNnV5UjRHV0VSRVJFUkVSRVJFUkVTM0tEdzgzQ0NFYkFaSVExaFFaVlFOQ1hKMFNVUkVaWExTNjlHNllTeUVFRUlJTkFsUlhIMGRYWk05RExDSWlJaUlpSWlJaUlpSWJsR3V4c05EQ0tXVkVFSjBhOTBDR28zRzBTVVJFZDFRcDViTklJU0FrSWdCVE1HT3JzY2VCbGhFUkVSRVJFUkVSRVJFdDBpclJWMGhVRnV2MCtLKzFpMGNYUTRSVWJsVUN3bEduWWhxZ0JCT0d1ajZPYm9lZXhoZ0VSRVJFUkVSRVJFUkVkMGlyUkE5QVdnYjFhMERQeTh2UjVkRFJGUXVRZ2owNnRDMjRMR0NIbzZ1eHg0R1dFUkVSRVJFUkVSRVJFUzNTcUF4QURTUGlZWVF3dEhWRUJHVlc0dlkrZ1hiQ0FvUmhaQVFaMGZYY3owR1dFUkVSRVJFUkVSRVJFUzNScXRJRVEwQVVkV3FPcm9XSXFLYjR1N3FhbDA1V3NYRnU1R2o2N2tlQXl3aUlpSWlJaUlpSWlLaVd4QWNGVlVOQWg2dXpnWUUrSG83dWh3aW9wdWkxK3NRNk9jREFCQUNEUnhkei9XMGppNkFpSWlJaUlpSUhDZnAyR0dzV3JuYzBXVVEwVDB1NmRoaFI1ZEFkRXMwVWg4TkFmaDVlOEhGWUxocnozc2hPUmtta3htaHdVSGxHbjh4SlFXdUxpNXdkM1V0MFpkOCtUTDBPaDA4UFR5c2JhbnA2VERvOVhDek0vNTI1ZVRtSWljdkQ3NTMrYnl3eStsWGNQRElZYlJxMUFnYWplYXVQdmZ0T0hqa0NBUUU2dFNJdk9VNWpwNDhpY3ArZmlYZXo1emNYR2cwR2pqcDllV2E1MkpLQ2dMOS9HNjVqbHNscGNTVzNYdlFPTG9lOU9Xc0ZRQTI3OXFGS3BXRDdQNmNTQ2tSZi9Rb2ZEeTlVTm4vMWwvVDV3c1dvSks3Qng3dGRmOHR6K0ZJZXAwT0FiNCt3T0dqVUJoZ0VSRVJFUkVSVVVXeWZlc203TnF4MWRGbEVORTl6bUt4T0xvRW9sdWlFVW9zQVBoN2U4UDVEZ1JZVjdPejhkR1hjL0RDNDQraHNyOS9xZVBlZUg4S1RwMDdodzJMZmlqWHZFK05mQjE5dW5UR29NY2VLOUUzNU8wSmlLMVRCMis4TU1qYTlzU3c0YVdPMzVkd0NIbkd2QnMrcDhISkNURzFhNWRvLzM3WmNuejE0NC9Zc21TeFRYdWUwWWl2Zi95cFhLL25laldyVlVQSGxpM0tIRFB0cTdsWXQzVWJwci8xSnByR3hOelM4OXh0NXk1ZXhBdGozMFJ3UUFDK216NE5PcDN1cHVkUVZSVWozbjBQMmJtNVdENTNEbHljQzQ0NXlzbk5SYWYrVDZCcFRBeW12L1htRGVkWnVXRWpKczJhaFpuang5bDlYMUVZQ3VYazVpSXJKd2RaMmRuSXpNckcxZXdzWE0zS3dwV3JWM0VsSXhNREh1eGJaakNhbjUrUDFQUjBCQVVFMkR6M3hFOCt3YWdYWGtDdnpwM0s5YnBQbkRtRDBSOStoSG8xYXVEVGR5YVVPSjh1MzJUQzg2UEhvRitQSGhqNjlGTTJmZWtaR1RDWnpmRDM4Ym5oOHl4Y3RoelZRMFAvMVFGV2tEV1VWR0lLZCsxVEhWeVdGUU1zSWlJaUlpS2llNDFVa3lXVVhDSGdyS29XcUNvL09DYWlpa0xtUThwa1IxZEJWRjRxWkgwRkFyN2VYbkEyT04zMmZIR0hFckYyeXhic1MwakFqUEhqRUI0U2NrZnFMTTVzTmlNdU1kRjZiY3pQUjJwYUd2WWNQSGh0ak1XQ1M2bXBObTAxcTFXRHE0c0wzdnZzTTV5N2VQR0d6eE1hRklRZlBwbUpTYk5tNGVpSmsvam13dy9LSEo5bk5PSzdYMzZCVnF1RjlpWldTT1VaamVqZXJsMlpBZGJ2Zi8yRmRWdTNJVGd3RUpkU1VyRnM5Wm9iemhzVTRJOUcwZEhscnFNMFcvZnN3WWozSm1IUkp6TlJKU2dJZzhhTWhiK1BEeWFPR0g3RGU0TURBOUduUzJjc1hma25GaTViamdFUDlyM3A1OThWZHdDcDZlbm8ycWFOTmJ5NkZhMGFOVVNBcnkvZW1qb04zM3owSVh5OXZIRHU0a1dNblB4K3dhcTYzRnhrNStaQ1Nsbm1QQTNyMVVXejJGZ2tIRDJHMzlmOWhhenNIR1JjdllyMGpBeWtwcWNoUFNNVEdvMEdxK2JQZzdQQmdOVDBkSHc2Zng2RUVJZy9laFNIa3BKS3pCa2VFb3hIZXZhMFhsc3NGa3llTlJzR3ZSNXZEWGtGUWdnY09YRUMvajQrTmlzTnI1ZVZuWTBmbHYrRzc1Y3ZSMVQxNnZoMHd0c2xncS9ybWMxbTZMUzNGck9NbkR3WlczYnZ3VzlmelVWNlJnYjZEeHVPWHAwNllkU0xMOXpTZkxkQ295Z0k5UE9CVnFPQnlXenhDYWdlN1hzcEthN0MvSGVZQVJZUkVSRVJFZEc5UmlncmhKQytVb3Bxamk2RmlNaVdQQ1VVelIrT3JvS29uSVFRSWhnQS9MeThZTGlKcmMxSzA3SlJRNHgvZFFnbXpKaUp3VytOdzh6eDR4RVJIblluYXJYS3lzbkJrQW52V0s5VlZjV2wxRlJzM2J2WHBtM2xobzFZOWZjbWE5dmM5eWNqcW5wMWZEWGxmYWlxaWsvbnpjZW1YYnZ3d3ljenJXT2VIRDRDamFMclljakFnZFp0K2t3bUUzTHpicnhpcThpQXZuM3h6Q1A5eWoyK3cyT1BsOWwvOE1nUmZQREZsd0NBbE11WDhmRTMzNVE1M215eHdHdzJvMzN6Wm5ja3dOcTRZeWM4UFR4UUpTZ0lxZW5wT0hqa1NJa1ZQMlY1cGw4L2JOeStBMmFMK1phZWYvbmF0UUNBdnQyNmx2dWV0Q3RYOE0xUGl6SG9zVWV0cTZYY1hGMHhjZmd3UEQ5bUxNWlBtNDZaYjQ5SFpYOS9SSVNGUWEvWHc4M0ZCVzR1TG5CMWNjR0c3ZHNSbDVpSWQ0WVBRNkNmSHp4YzNlRHU1Z3AzVjFkb0M4TWVWYXI0YTh0V1ZISjNoNVFTWnk1Y1FKc21UVkMxU2doOFBMMWdNcHVoTlprd2Z2ckh1SnFkZzZDQUFPeUpqN2VwVTBxSjg1Y3VvWEYwdEUyQTlmV1BQK0hna1NONGQ4UUlCUHI1NFZKcUtwNGROUnFONnRYRDFMRmpTb1JTbDFKVHNXVEZTdnk2ZWpXdVptZWpUbVFrSHIzLy9uS0ZWd0J1S25BdFh2dUJ4TU9vSHhVRnIwcVZzR0g3ZGdCQTI2Wk5ibnF1MnlHRVFJQ1BEd3hPVGpDYnMzVUdSZlVCd0FDTGlJaUlpSWlJSE9OazRyNlRBTjRMRHcrLy9VL2FpSWp1b0pNblQrWlhwSzJMNkw4bkpDVEUyOHZMcStPQkF3ZVdBcml0SmNnaElTRUdJYVZXbzlIQXc4MzFoaDkybDFmblZxMlFtNXVIOXovL0hCL05tWVBQMzN2M2pzeGJ4TlBEQTV0Kyt0RjYvYjlYaHBUWVFyRGJ3S2RLM1VMUXc4ME5BS0RUNmFBb2lzMktGaUVFdEZwdG1hdGNiaVF0NHdxU1RwMHE5L2l5VnZ3Y1BuNGNJOTU5RHg1dWJzZzNtUkFlRW9LcFk4ZVV1b1hkM3p0MzR0MVBQb1hVNi9GNDd6NjNWUC8xdFczYXVSUFJVVkVGOCsvWUFTbWw5WHJtdDkvaWwxV3JiemlQcXFwWThNdXZXUERMcjJXT1cvVHBKL0R6OXJaZW43dDRFZXUyYlVOTTdWcW9XNk5HdVdyT3o4L0hxQ2tmNE9DUkkzQnpkYkg1SG9pcVhoM1BQdElQbnk5WWlOV2JOcU5yMnpaNFovaXdFbk9jT0hzR2NZbUphRlN2WHFuZkMzVnIxTUNLYnd2Q3hMKzJiTVdiVTZkaXdJTjlVU3NpQWloY1JUVmh4a3pzalkvSHhPSEQ3YTZ3KzNMaDkvaDJ5UkwwNmRMRjJyWnl3MFo4czNneEh1L2RHeDFhTkFjQUJQajY0cEVlUGJEZzExOHhiOGxTREh6b1FldjR0WnMzWThuS2xiQllMR2hTdno3NjkrbU5SdEhSVU5VYi82ZklYTGo5clZaMzh6SExpVE5ua0ptVmhiYk5tZ0lBNGhJVDRlcmlna2IxNnQzMFhMZkwzZFVGT3AwV0VrSWpOY0xscmhkUUJnWllSRVJFUkVSRTl5YjE1TW1UNWY5MWFDSWlvdjhBVDAvUGFscXQ5c2ZZMkZpamxIS2ZsUElYS2VYT0N4Y3ViRTlKU2NtNm1ia1V4Y3NnaGRBb2luSkhWbDhWMTZ0ekorajFlalNMdmZXem10NysrR01rSmgwSENzL1crbVhWYXF6YnVnMEFNR1hVR3dnTERnWUE5T3pZQWNFQmdUYjNQdGkxSytyV0xGL2djYWY5L09jcS9Qem5xdHVlWjEvQ0lZeWFNZ1U2clJhZlRIZ2JhUmtaZU8yOVNYaHU5QmhNSEQ0TUVlSGgxckhaT1RtWXUyZ1JGdjMyT3dKOWZmSEI2TkYzWk9YYmdjT0hjZm5LRld0Z3RXSDdEcmk2dUNBaXJHRHVPcEUxWURKZlcxbTFiZTgrWEVoT3hnUDNkU2wxVGdBNG5IUWNCNDhjUWF0R2pSRGc1MnR0TnpqWmJtUDUzUysvUWxWVjlPOVQvakJ1MHF4Wk9IamtDT3JYaXNMVER6OWNvcjkvbno0SURRcEN1MmJOeWozbnpjb3pHakYrK3NmNGUrZE92REpnQUE0ZU9ReVQyWXl1YmR0WXgvejB4eC80ZHNrU2RHM2JCdTJiRjlTeWJQVWFUUG5pQ3dUNCtxSm05V3I0ZGZWcVhNbThpb3lybVVoTlN3Y0F6RjIwQ0kyam82M3ZiMDVlSG5wMzdvU0h1M2UzL2t4Y3ljekVVeU5meDVDQkE5RytlVE9NbXZJQmR1emZYMnE5ZXc3RzMzQWxJQUFzbnZVWnZEMDlnY0xBQ2dEYU5Da0lzUFlsSEVLTEJnMXU2Wnl6MjZYWDZhQlJGRUJJQlJibDF2ZVovQWRVdUFBck1DTENUNjkxNmE1QUNTL0hjQ0tpdTA1QVhsYWwvUDNVNGJnVGpxNkZpSWlJaUlpSWlHNmVFTUlKUUZNaFJGTUFPU0VoSVdlRGc0TTNxS3I2VlZ4YzNQWnl6ZUZxTmdnb1dpRUVuSnp1L0tMbTRoL1cyeU1CYk42MXUwUzduNDgzYWxTdGlwYU5HaUV5dkNwT25qdUwwK2ZQSXlJOERNMWlZZ0VBcmk0dUpUNXduL2pKSjNhZng4Vmd3RzlmZndVVXJtNHBPdjhxTVNrSmVVWWp2bHAwYlRWWGRtNHVqaHcvWVcyTHFWM3JwbDkzcjA2ZDBMdHpwM0tQSC96V3VCSnQyL2Z0dzhqSjc4UGZ4d2RUeDQ1QldIQXd3a05DOE5rN0V6RDJ3NC93OUJ1ajBLOTdkL1RyMlFQcnRtN0Z2Q1ZMY1NVekUxM2J0TUhRWjU2MnJqSzdYUnUzN3dBQVJOZUt3dFhzYk95SmowZkR1bld0Mnl0MmJObkNabVhSdDR1WDRNdnZ2OGREM2JwWnd4Ujd4ay8vR0FlUEhNSHJMd3lDcjVlWDNUR256cDNENyt2V0FRQnFSMGFXcTk1UDU4M0hxcjgzSVRRb0NKTkdqclFicGlpS2NrZkNxNHlyVjVHVG13c0F1SktaQVFDNG5INEZGNUtUY1NVekU2Zk9uY1BvRjE5RXQzWnRNZVdMTC9ET3pKazRmRHdKTHp6K09PWjgvd01XTGx1R3BqRXhHUDNpaTlZNVhWeWNJYVhFcGRSVWpKczJIUURnYkREQTA4TURsZHpkMERnNkdqdmo0dkR1cDUvaXk4bVRBQUQzZCt4WVlrdkg5SXdNWEVwTnhjV1VGQUJBMVNvaE1PYm5sM2dOK2ZuNTJKdVFBRTkzZDBSV3JWcnFhMDA0ZWhSWHM3T2hML2IxM0gvb0VHcFdxNGJLL241SXZud1pGMU5TOE5JVFQ5em1WL1hXT09uMVVCUUZRZ29GR2pNRHJMTG9kUzdkRktsTUZRSStqcTZGaU1nZUtaRUhDSDhBNHd2L3ZraEVSRVJFUkVSRS96TEZ0dnh6QVZCRENGRkRVWlRuR2pSb2tLR3E2cGVuVDU5K055MHRMYlBVQ1ZTZFFRcG9GRVhjOWdxc1B6ZHV4TW16WjYzWEJpY0RCanpZdDh4N3pHWXpSazZlWEtMOXZqYXRNZjdWVjlHNVZTdWdjSnM2Rkc3WjluaWYzdFo3ODR4R2RHM1R4cnFGbVQyci85NkVMWHYyV0svM3hzZGovNkZEQUlEa3k1ZWhxaXBXYjdwMlRwWXhQeC9uTDEyeXRybTUzdnh1Wkg3ZTN0WnQ1TXJEM3RhTjlXdlZ3a1BkdXVLSkJ4NkFWNlZLMXZaYUVSR1lQMjBxSnN5Y2lZWExsbUhoc21WQTRiYUtNOGFOUStQNnQzL21WWEg5SCtpRGgzdDBoNSszTnl3V0MzNzY3Rk80T0plZUR6U3NWeGY0SHRnVmQ2RE1BR3Yvb1VNSUR3a3BOYndDZ0JuZmZHczlvK2xHTEJZTFB2amlTeXhmdXhhQnZyNllNWDZjemRjdE1TbUp4bVFMQUFBZ0FFbEVRVlFKSjgrZXMxNzcrM2lqUWQyNjVacTdOTi84dEJnLy92NjdUZHZyNzc5dmZiemkyMjlReWQwZEFERDJwWmNRRWxnWlh5eGNpTi8vV29lc25CejA3TmdCcnozN3JFM0kxcVp4WTN3NGVqUjh2RHpoNmVFQjcwcVZvTC91Wi9PZEdUT1JhelJhejJYTHljc3RVZHZwOCtjQkFFRUIvZ0JnZHl0TkFEaCsralQ2RHh1T3BqRXhlR3ZJSzZXKzFrRmp4dUxBNGNNMkFWYnhjK0s4UER6dzh4ZWZ3NmR3ZGRiZDVxUy90Z0pMbzNJRlZwa1VxVlJsZUVWRUZaa1F3Z0NvMVVOQ1FneG56NTR0K1Y4NUlpSWlJaUlpSXFydzdKMmRWQmlHVkZJVVpXUm9hT2lJc0xDd0UxTEs1UmFMWlVOdWJ1NnVZOGVPWFV1WlZOVUFyVmFqQ09XMlYyRDl0V1VyL3Q2NTAzcGR5ZDM5aGdHV1ZxdkZySW52bEdqM3V1N01vZlhiQ3JZTk5Kc3RTRXhLUWxUMTZ0WStmMThmbSt2cjdUa1liM005ZXZDMTFTNFB2L1F5YWxRTngzdXZ2V1p0Ni8zYzgyZ2FHNE14Z3dkYjJ5Yk1tRkhtNjdqZXZLVkxzZURYc3M5NktpN1BhQ3pSWm5CeXdwQ0JBNjNYWnJNWjhVZVBZbGZjQVd6WXZoM0hUcDJDVnF0RmJPM2FPSHo4T0s1a1p1TDE5OTlIM1pvMVVLdDZCS3FIaFNJNE1CQ1YvZnhSeWQwTld1MnRmWXhlL1B3blJWRVE0T3RiNXZqYUVSSHc5ZkxDbXMyYjhHQzNybmJISkNZbElmbnlaVHphNi81UzUxbS9iUnUyN2QxYnJocnpUU2E4T1hVcU5temZnZENnSUh3ODdxMFNkYTdjc05FbWJHclJzQUVhMUsyTGVVdVdJczlZY2tmcXc0VmJWODVmdWhST2RzTGRuaDA2b0VlSDl0YXRGUmY5OWhzT0hENk13VS8wUjVCL0FBREF6ZVZhK0huKzBpVmNURW1CUnFPQlZxdkYySmRmUW8vMjdVdk1xOWZyNGVIdWhvT0hqNVQ2ZWp1MGFJRldqUnNCQUVLRGd2RFhscTN3OWZTQ3dWQ3cvV0ordmdsL3JGOEhSVkZ1dUhJdE15c2JBT0RoWHZhS1BaUFpEQ0dFVFpoV1BDRFU2WFEzL043NEorbDFCU3V3SklSaWtXQ0FWVjR4dGVzaHRzNmRUYjJKaUc1VjB1bVQyTHhyR3l5VzJ6cmpsWWlJaUlpSWlJZ3FpS0xWTzhYRHJLTEhRZ2hGQ0ZFZHdGQ3RWdnVTdTd2NzVkalkySDBXaStXSHVMaTQrWkFhQTZUVUNrWEFvSGNxOVRuSzQ1M2h3NnlmTjR5Yy9ENk9uejU5NDlvTFYxV1Y1ZUNSSTdpVWVobGFyUllyMXEvSDBqLy94T3gzSjZKYWxTb0FnUGxMZjhiOHBUK1hPY2YxNXlvQndKNzRlSnk3ZUJHUDlPaHh3enBmZm5JQVRHYVQ5ZHBlY0ZoY28zcjEwS0pCZ3h2T1cyVG12SGtsMnVLUEhNWEpzMmVRZFBvMEVwT1NrSmgwSEhsR0k0UVFpSTZxaVZlZkdvZ3VyVnZEcTFJbG1Fd21iTm16QjV0MjdjTE8vWEhZZmVCZ2lmbmVIdm9xdXJSdVhlNmFicFZHbzBIdkxwM3gxYUlmUzRTTlJaYisrU2NBb0hlbnpuYm51SngrQlI5ODhTVTgzTndRRVI2T1BRZEx2cDdpOXNZWGhKUjFJaVB4NFpqUk5xRmJrYWNlZmdpUDlDeDRyNThZUHNMYS9zUHk1Y2k0ZXJYVXVYOVkvcHZkOWdaMTZxSngvV2hFaG9janoyakU1Tm16QVFBTjY5YTFycjR6bVV6WXVtY3YvdHk0RWV1M2I0ZkZZa0dnbnk4K2Ztc2NRb09EU24zT3YzZnN4SGUvL0FKZkw2OFNxL05TMDlQUnRta1RhNEExOXVXWDhQSFhYMlB4aWhVd0YvNzhhVFVhQlByNVlmQVRUOERQMjd1TXJ4eXNXd3o2bExFU0RnQk1acFBkSUsraXNLN0FrbEtqVVFRRHJQS0tyUk9OcC9yMWQzUVpSRVFBZ05WL3I4UDJ2VHNaWUJFUkVSRVJFZEcvaHFxcUdpR0VpNVRTSGNEUE1URXhKUTl5dWJkb3BaUWxQdGkydHcwZGJNTXNuWlF5RUVCWGpVYlROU1ltNXN0OHM5eWNZNEpPUUVDbjFkeFdVY1UvM0ZZVSs3WGNpbVZyMXFCZXpabzRkZTRjdXJkdmo0Ump4ekJ5MG1SOC90NTdBSUFuK3o2QUIrNjdyOVQ3Ri82NkRNdlhyclZweTh6S3d1UlpzK0htNG5MRGM3b0F3TlBEM2ZwWlN0RktLTDJkczVXSzFJbU14RVBkdTVYN05jNzY3cnNTYmQ4cy9nbGJkdStCb2lnSUN3NUcxN1p0RVZ1bk5ocEhSNWNJYUhRNkhkbzJiWXEyVFF1MlVyeVlrb0xFcENRa25UcU4wK2ZQdzlsZ3VDdmhWWkhlblR2anU1OS93VmVMZnNTSFkwYmI5RjFNU2NHYVRadlJzRjdkVWtPY0dkOThneXVabVpnNGZEZzI3ZHBwZHd3QXJOOSs3YWkzK3p0MnhJaG5ueW14M1Y2UlN1N3UxdTM4bEdJL0swcy9uMjAza0p3Mjl5djhzWDQ5bHN5ZWpVcDJWaWNWLzM1ZnUyVUxzbk55QUFDLy9mVVhMcWRmUVV6dFduamtsVmVRbnBFSkR6YzNQSHIvL1VnNGRneDdEaDVFNnBYME1nT3NJdk9uVFMzeFhuY2JlTzJzcXp5akVldTNiY016L2ZxaFJjT0dONXpQbmxQbkNoWmtoZ2FWWFk4eFA5OXVFRnhSNkxSYUtJcUFBSVNFckZCSlc0VU9zSWlJaUlpSWlJaUlpT2pXU1NsREFiZ3FCYW1JWXc1WXFVQnV0UHFuUFBkSktmT0ZFS2tDYWpLRWlKSlNJdDlVdnJPRzdxWUx5U2xZdVdFalhuN3lDWHp6MDJKb05BcmVIdm9xM3Z4b0t2Sk5CVGxtY3VwbEpDWWxsVHJINWZSMG0rdXM3R3dNZm1zY3psMjhpSEZEaHNETjFmV0dkWncrZng2UER4MEdSVkdBZ2xBVlRlclhMM1g4d1NOSHNPZzMreXQzN0RIYitVWGoxd2NOd3FYVVZFU0doK094SWE5aTVZWU5XTGxoUTdubkJJQjJ6WnBpd3JDaE4zWFBuZURyNVlYK0QvVEJWNHQreEpyTm05R3BaVXRyMy9TdnZvWXhQeDh2UGw3Nm9vK3drR0IwYmRNR0hWdTJzQnRnbmI5MENSOStPUWZiOSswREFNVFdxV096TmVUTmNEWVk3TFlyR3FXdzM2bk1NNzhBNExlMWE2RW9DbFJWeFpiZGUvRExxdFVZL0VSL1BQdklJL0QyOUVTTEJnMndZY2NPZlBmTEx3Q0FJVzlQc0R2UHlPZWZRKy9PMTFhbDdUcHd3R1liUWx6M3ZaSm5OT0w3WmN1aFVUUWxBcXdOMjdkanhmb05tRGg4bU0wWlc5ZUxTendNQUtnZUdscm1helNaekREYzVqYWoveVN6eFFKVlNraEFBcUpDL1pJREF5d2lJcUs3d0RzaXdxT1M0bFJWUXFrcU5jSlhxSENWQXE0Q1N1bC9FeUtpTzBwS05RZFN5VkdnWHBXS2N0cG9OSjY0Y09MUUdRQ3FvMnNqSWlJaStxZElLWk9GRURsU1NoY3BaWklRb3ZUOXZ1NEJxcXE2S29vU2RYMTdzWlZXTnUxQ0NLaXFDZ0FtQU1tcXFoNVRGR1hPM3IxN2Z3eXZVYSs2MENnclZhbmFQWWZKMGVZdlhRb0JvRXZyMXZqbXA4VkFZVGp5K1h2dndtd3VDTnpXYk5saVhZbGpzVmhnTXB0dFZvcVlMUlpvTmRkV2w3bTV1cUptMWFybzFMS2wzZFZYRTRZTlJYWk9MdllsSkNDbWRtMEFRRWhnSUI3dTNoMnFxa0pUdUQxYnp3NGx6eThxc3VmZ1FjUWZLZjBNbytzVnZaYmkvSDE4NE8vakF3RElOUnJSb2tFRG0zQURBSFlkaU1QLy9md0xKZ3diQ2s5MzI1VTZIODJaNDlEMzlJaytmYkJ5dzBaTW0vc1Zhb1JYUldod0VINWR2UnAvNzl5SjNwMDdvM1prUktuMzlyM3ZQdWpzbk5tVm1wNk9lWXVYNE5jMWEyQTJtOUd5VVVOczNyVzd6TlZ3LzdSOUNRbllmeWdSN1pzM3c3cXQyekJ1eUJETVc3SUVuODMvUDB3WjlRWmFOMjZNdzhlUFk5Sm5zeEJWdlJyYU5XdFdZbzREaHc5ajg2N2RKWUt5U1ovTktqSDJSdS9wOW4zN01PZjdINUJ3N0JnMEdnMTJ4c1dWdWpvck15c0xCdzRmUnFDZkg0SURBOHVjTnpjdnorYk1xNG9tejJpRXhhSUNRcWdXaTh4MWREM0ZNY0FpSWlMNjUyaXIxSWh1cmxGRWZ3RE5JVVFsUUxvSkNDY2hwQTZBVmdnb2ppNlM2RjRoaEdLV1Vwb0JZWUtRMlFhRDA5WHdxSmdMcWxTWDVPV3JpNUpQSEx6azZCcUppSWlJN2pTdFZwc3RwY3lXVWxyeTgvTUhKeVFrM053eWxQK1k2T2pvUmdDMkZsM2JXNUZWN0Z3c3FhcnFQcFBKOUxhVThxLzgvSHpUc1dQSHpBQXNBSkNubVBJTVVyR29xa1J1QlF5d051M2NpVzd0MnRrOTAwaWowZUNGeHg5RGc3cDFyZWRvTFZteEVoOS84dzNXTHZqTytqWFlsM0FJaDQ0ZHM3bDM3TXN2V1ZkVFhTK21kbTFNblRzWFMxYXN4TVpGUDBDcjFVS24wMkhZTTArWHUrNG4rL2JGTTQvMEsvZjREbzg5ZnNNeEFYNithRncvMnFidDhwVXJBSURvcUNnRStQcmE5TGxldDNMbmJ0UHI5Wmc0ZkJnR3Z6VU9ReWRPeElBSCsrTERMK2VnV21nb1hucWk3Q04zN0FVbFVrb01uL2d1anAwNmhUcVJrWGg1d0pPSURBOUhwLzVQbERxUHlXU0NWcXN0ZFh2TjJ5V2x4TXh2djBXZ255L2FOU3NJc0F4T2VudzRlaFQrV0w4ZXJSczN4cWx6NXpCeTBtUjRlM3BpNnRpeEpWNWJWblkyZmxtMUNvRitmbWgvWGJpMTlQUFpaVzRoV0NUUGFNU3ZxMWZqeDkvL3dJa3paNkRYNmRDMzYzMTR2SGNmVlBiM0s3WCtKU3RXd213Mm8yM1RKamQ4clRsNWVRZ09EQ2pIVjhVeDhvejVzRmdzRUpBV3JXQ0FSVVJFOUovbTUxZmJ6ZUNwYWFEUktOT0VFRGEvcWlOUStCYy9ZWDFFUkhlUFZnaWhCV0FRZ0R1QVFDRVFxUkZLRzFlRGVDK3NSdjF2RkpQbHZSTW5EbDRHVVBIMmdDRzZnL3lyMWcxdzFvbUhoRVpUK3EvdkVoRTVnS3FxcC9MeTFlLzVpeVYzVnRFSDBIcTkzbkt2L3oxSFZWV3pwdGlLb21KaEZhU1VLb0FjS2VWcEljVC9uVHg1Y25aNmVucEdhWE5aOHBROFlZQlovc01yc0g3KzgwL29kVHIwNk5EaHB1N3Iycll0K25idFdxTDlZa29LTHFha0lEb3FDbWF6R2ZzU0VnQUFoNUtTNE83cWl2MkhEdG1NcnhWUkhmc1NFbEF0TkJRZWJtNVFGQVVQRFg0SmFZVUIwUFdLdG1ucjh1U0FVbXQ3ckZjdlBQdS9Sd0FBNjdadWd6RS9IN2w1QlorYkh6dDFDaXMzYkN6MzY3UllMRGlmZk1sNlQ1M0lDRlM1N2t5aTdKeGNYRWhPdG1uTHVKb0pBRWhKU3l0YVpXZGxNcHZLL2Z6L2xLanExVEhtcGNFWU4yMDZwbnorQlh3OFBmSFJtTkhsMnJieGVrSUl2UDdDSUZ4SVRrYm5WcTBBQURtNVplY1UreElPWWVJbm4rREYvdjNSclYzYlczNGRwZmxqM1Rva0poM0hxMDhOaEVhNTlqT3AwK25RdTNObkpDWWxZY1I3NzhGaVVUSHR6VGR4Nk5neG05VlFack1aYjAyYmpvc3BxZmh3OUNob3IxdDFscHFXQm1PKzdXNTQxNy9QQUxCNHhRb0FRS0NmTDU3OTN5UG8wN2t6dkQzTDNtMzEzTVdMV1BEcnIxQVVCUTkzNzE3bVdMUFpETFBaREJkbng0YWlaVEhtNThPaXFvQVVxa1ZWY3h4ZFQzRU1zSWlJaU80Y0pUeXFiaHNCemNzUW9oY0E2enA4SVFBZkx3OVVEUTFFU0dVZnVMczV3OFhGQUNjOWR4QWt1bHV5c25PUmsydEVhbG9tVHAxTnhxbXp5VEFhaS83SFZMZ3BHcndpRlUzUHNLam91U1kxNzh2elI0NmtPcmhrb24rTXMxN1RRd2p4bmdBcTdsNG1SSFJQMGlnaXkxbXZ5UVR3dGFOcm9mOCtJUVJrd1JLc1ZBQzdBS3pQejgvL016NCtmbjk1N25kRlRwNFVub1Vyc083OHNURTV1Ym40YU00Y3JOeXdFWDI2ZExucEFPdUZ4eDlEOGJDdXlJcjFHekRuaHg5S3ZXL3dXK1BzdG44NGVqUmFOaW9JRUI3cmRUOXk4K3lIZG4vdjNJbTR4RVE4M2U5aGxQYXJtM1VLVjMwQndOUTVjNUNXY1MwbjNMQjlPellVYm10WVh2c1NEbUZmUWtId052TDU1MG9FV012V3JNR3lOV3ZzM3Z2ODZERjIyNnRVcm54VE5keHBLV2xwV0x0NWkvVTZPemNYYTdkc3dTTTllcFFJYThxamJvMGExdFYyNVpHZW1ZSFU5SFNrcEYyKzZlY3FqNzkzN2tMMXNGQTgyTFVyTnU2d1BhdHI4NjdkZUhQcVZGUnlkOGNuYjQvRjN2Z0VUSjA3RnlPZWZSWVBkdXVLL1B4OGpQOTRCcmJ2MjRmK2ZmcWdaYU5HSmVaL2NzUnI1YW9qTWp3Y3p6LzZLSm8zaUxXdUxEVG01MlBvTys5Z3dJTVBvbGxzck0zNHE5blplSFBxTk9UazVtTEFnMzBSRkZEMnlxcXNuSUk4eVBVR1o0RTVVbDYrRWFxcVFncXBRbEc1QW91SWlPZy9TQnRXcy80b0FJTWxFQ0JRc0RXZ202c3oycmFvaTY3dEd5RXFJcVFndUhJMlFLZlRRS3ZSUUtQaERvSkVkNHZKWkliWm9zSm96RWRXVGg0dXAyVmk4ODRFckZpN0M0ZU9uSUVxSllRUVZTSEZtM3JoM0x0S2pUb3ZuemtTWC9MVVk2TC9BQ0ZFRlNFWVhoRlJSU1RjaEVBVlIxZEIvMzJxcW1aTEtaZWJUS1lwZXIzKzVMNTkrNjRXYlExWVhpZUJ2S3BTbWxYMXpxN0FNaHJ6WWN6UHg5T3Z2NEhUNTgralU4dVdHTnoveHR2a1hjOWVlQVVBai9hNkh3L2MxOFdtYmVXR2paajU3YmVJQ0F2RGxjeE1mRGhtZElsdDlkeUtiYXRuYjJWWGtZdXBLWWhMVE1UL2V2WXNWOUF5ZDhyN2RyZHl2SHpsQ2k2bXBLQk9aS1JOKzVYTVRPUVo4eEhvNTF2aUhnRHdjSE1yMGZadzkrNFk5TmlqTm0xck4yL0I1Tm16OGNQTW1mRDE5ckxwS3kzRXV4dXVaR2JpKzJYTHNIakZTdVRtNWFGbHc0Ym8yTElsUHAwM0Q1L04vejhzV2JFU2ovWHFoUjRkMnNQWllQakg2amh6NFFJQUlEamcydmxPcS83K0d6bDVlVWhPdlF5VHlRVGRiWnlmMWExZFczaFZxbVQzZXlTa2NpQ3FWZ25CcEpFakVlam5oNnBWcXVEb3laT1lPbmN1THFlblkyZGNIT0tQSHNVRDkzWEI0RksyVlB6bXd3OUtmQzhNZkcxa2lYRk5ZMktzd1d5Uks1bVoySDhvRVFjU0Q5c0VXS25wNlhoOTh2czRmUHc0WXV2VXdUUDlicnpWNWRtTEY0RlN0bmFzS0FxMkVGUWhwTEFJUmNNQWk0aUk2TDhrb0hwMWY0UE8vVE5GNEtHaU5qZFhaN1J2R1kyeFF4K0J2Mi9aUzgrSjZPN1E2YlRRNlFCbmd4NmVsZHdRVXRrWDlldFV3NkFudW1IbHV0MllPbnNwemw2NERMUFo0Z3dobW1pbDdvL1FtdEV2bmo0Y3R4UkF5YjBtaVA0akdqWnVqa2FObXp1NkRDSzZ4KzNhdVJXN2QyNHR4MGlpMjNQKy9Qa2p3Y0hCblE4Y09MRHVaZ09yRWs2ZXpKTzFZaXlxdkhObllPWGs1dUxFMmJQSU14cHhLVFVWYjd3d0NGMWF0NGFVMG1iTE53bHBIVytQUnFPQmsxNXZ0OC9nNUFTRGs1UDErdmQxNi9ENWdnWG8yS0lGeHJ3MEdJUEdqTVhvS1I5ZzNLdXZJcVoyclR2eXVzb1M2R2Q3emxCaVVoSisrdjBQck42OEdVNTZQZVpQbldwekZ0SE1iK2Rody9idGlLcGVEZTJhTlVQN1pzMUtyTGk2bmxhcmdjdDFLMkNLd2hjbkozMkp2dExPK1BvbnhSODVpbDlXcjhMYXpWdVFaelFpT0RBUWd4NTdGSjFhdGdRQU5JdU53WndmZnNDeU5Xc3g3YXV2TUh2QkFyUnIyaFQzdFdtREJuWHIzUFNxTEwxT0IwVlJrSnFlWnJkL3o4RjRBRUJFZUJnQVlONlNwZmhpNFVLRUJRZmp4Tm16R0RGcEV0NFlOQWpCZ1lFbDdvME1EMGVMaGcyZ0xTVkVCWUMyVFp1VzJoY1dISXl2cGt5eGJ2RXBoTURMVHo2QjNRY1A0dHNsUzZEVmF2SHFVd1B4U00rZXBjNFI0T3RyOS93M1JSUzh0MFh2c2IzdElzOFdobmRCQWY3V3R0MEhEbUQ4OUkrUmxwR0J1alZxMk4yMjhIb21rd2tMZnZrRkFCQlZ2VnFaWXgwcHo1Z1BpMm9CSUZWaGtkeENrSWlJNkw4aXFGcnRVSjFPOTVraWNCOEFhRFVhdEc1ZUIwOCsxQkV0R3Y4L2UrY2RIa1hWaGZIM3pteEw3d21CRUFLRUZscENrNDZBU0pFcVRWRlFMTmhROUxPaUtCWVVGQlFVUkZBQlVRUlVVSHJ2dlpjQWdVQUNDU1FRMGtqUHRwbjcvYkVsTzl1eWdaQU5jSC9QdzhQZU9tYzN5ZHlkKzk1elRoUEk1V3lwWlRDcU96elA0N0ZIMnVHaFZvM3h6NXE5V0xKeUoyN2N6QVVJZ2psQ1p0ZHBFaHVXZXY3VVQwekVZdHl2TklscGppSERScm5iREFhRDhZQlRYRnpFQkN4R2xaQ2JtMXVRbTV0clA1YmNiVUFwVFNPRXhCWVVGVU9yMDBGeEJ4NHBBSERzekJrVWw1U2dSbkF3cG44NEVmWHIxTUdqbzhlWXc1Qlo4OGpUbyszV3QyN2VETE0vL2RUcHRZNmNPbzAvVjYvRzBmaDRkRzdUQmgrTmZ3MHFwUkxmVC80RTcwLzdHcTkrL0RFZTdkSVp3L3IxUTlNR0RVQUl3ZFo5KzVDWjdUeWszS1VyS1FDQTVldldPUXdoYUtMYlErMFFFUjZPbkZ0NTJISHdBTGJ1M1llekZ5OENScytZRVkvMXMvRzBHajFrQ0dxR2hXTEhnWU9ZOStkU3pQdHpLWnBFMThlalhicmdrVTZkRVJSZ2U0ajBSbVltRHAwOEthbExUazBGQUp3OGx3Qi9YeDlKVzFGSk1RRDdIbDZWeWVXclY3RjEzejdzUEhnSVY2OWZCNHplUjZNR0RrVC9IajBrQW9tL3J5L2VIVGNPVC9Udmp5V3JWbVB6bmozWXVIczNOdTdlRFU4UER6d1UyeElmdnZvcXZEeGR5N1VrazhrUUV4Mk5zeGN2NHJXUFAwRmtyVnJtdHRTME5KdzZmeDUxYTlkR25WcTFzSFQxR3N4ZnVoVE5HelhDdHg5OWlQM0hqK1ByZWZNeDh2VTMwS0p4STlTTGpFU0FyeDk0bmdmSEVmQThqemJOVzJETnR1M1E2blRRYXJYUTZuVFFHUDkvckVkM3RHamMyS2w5SnZFcVBTTURLemR0d3JydE8xQlVVb0tXVFJyam5SZGZSUDA2ZFZ4Nm4vdU9IZ01oUUVwYU9ncUxpeEVlYWhDbGZMMjk0ZXZ0amUzN0R5QThOQlJ5NDJldDFlbXdmc2RPd0JqcU1xK2dBSE9YTE1HNjdUc0FBSDI2ZGNYN0w3OXNJeEN2Mjc0RDg1Y3VoWSszTjd3OFBNQnhISzdkdUlHOGdnSUVCd1NnZTRmcWVXQ01Vb3E4Z2tKb3RUcFFRRmNxbE5oWE5OMEUyMVZqTUJnTUJ1TTJxUkVkSGFMZzVhc0IwaHdBTCtNNWpCdmRCODgrMFF2QmdiYW5mQmdNUnZVbU9OQVhMenpkRzIzakdtRFN0RDl3TVRrZEJLUUdBWjFXcDFITGdOVEUwMVBjYlNPRHdXQXdHQXdHbzNwQlFJOERwUC9ON0J5VXFOVjNMR0IxYmRjT2J6My9IQjVxR1l2SVdnYXZvbEdEQmtHanJaaUhWNFFkcnhnQUtGV3I4ZDJDQlRoODhoU3liOTJDdjY4dkpveDlGc1A3OVRON3BBVDQrV0gyWjUvaTErVi80YS8xNjdGbDd6NzQrZmhnNm52dllkMzJIVGlUbUZqdTlWVktKUmIrL1UrNS9hSWlJbkRzekJuTStPVlhpS0lJUHg4ZkRPL1hENC8zNlkwNkZvS0tKVEVOb2hIVElCcmp4NHpCaWJObnNYSDNIdXc0Y0FEZkwvb05mNjVhalgvbi9XVGpHYlB2MkhFY09ubktycDNmeko5dlU2L1JhaEh0b2tCeUo2U21YOGZpbGYrQzR6aTBqNHZEa042UG9sUHIxazQ5d0dyWHJJbUpyNzZDbDU4YWhYVTdkbUREemwxSVRVOUhkSjBvbDhVckU1UEdqOGZNaFF1UmVQa3l6aWNubSt0VlNpVTZ0R3FGTjhjK0N3Qm8wNkk1NnRhdWpSa2ZmUWh2THkvMDd0b1ZMUm8zeG4rYnQrRHdxVlBZdW5jZmlrcEs3SWFDdEVhcFVPQzFNZmFGVnhNWGtwT3g0OEJCSERwNUVrbEdvVEd1YVZPTUhqTFlKaWRWZWV3K2NoaG5FeTlDSnVQeFNLZE9lSExnQUhQYkI2KzhqQjhXL1laWkN4ZEp4Z1Q1KytQbHAwWWhLaUlDeDgrY3dZYWR1K0RsNllueFkwWmpVSzllZHE4VEVSNk8zUHg4NU9UbG1lc013bUlzM25qMkdidWhMYXNESXFWSXo4eUVScWNEQlc3ZVRFN09jcmRObGpBQmk4RmdNQmlNMnlBaW9ta2dMNU10SW9URUFvQ25weElmLys5SmpCelkxZDJtTVJpTU8wQXVrNkZOeTRaWXVlQWpqSjB3RXlmT0pFRVU0VTA0K25aa281WXBWeE5QL3dtZy9LY3lCb1BCWURBWURNWURnVjRrcCtVOGtKbVRpMUsxR3Y0K1BpNk1jczd3ZnYwazVXZUhEYjNqT1UxNHFGVEl6Y3RIZUdnb3hqeitPUHAwNndwdkx5K2JmaWFSWWVBalBmSHY1czI0ZHVNR1dqWnBqTzhuVjM1dXFKdloyZWdRRjRlK0R6K01MbTNidUp4WGlSQ0MxczJibzNYejVuanJ1YkhZdEhzUFZDcWwzYkJ1dy92MXhldlBQT095VGMrOTkzNkYzc1B0MHIxRGUweDk3MTAwaVk1R2FGQlFoY1lHK1BsaDlKQWhHRDFrQ0M0a0o2TlJ2WXFIcUl1c1ZSTXpQNTVVYnIrR2Rldmk1NisrbEFoazRhR2hlSFgwMDNaelVJbWlDRW9wcUNIUHNDUVVvT20xTXhJdlg4YVNWYXZRcUY0OVBEOWlCUHAwNjJvM1ZLRTlyRzM2NkxYWEhQWjl1SDE3UE55K3ZkUDVXamR2amsvZm5JRG1qUnJaNUlXekpEYW1DZmF2K0FkNnZSNkM4ZjFiaHVxc3JtaDFPdHpJeWdZQUVJcFQxZTE1bHdsWURBYUR3V0JVbU5aeW1aY3doWUErQWdEQlFiNTQvN1ZoR05xL3M3c05ZekFZbFlTWHB3by9mUGtTSmsvL0U5djJuQUlvL0hrT2t5TWF0TGlVZGluK3NMdnRZekFZREFhRHdXQlVEM2dOUFVVOVFETnpja2xKcWRyZDVqaGs0MjlsSGliVEozN2djbzZuMmpWcllzTFlzWGZSTWtPdW91a2ZUcnlqT2J3OFBURzBieCs3YlpidjNWVVdmdlAxSGRsVEVaemxnbktWeHZYcjI2MmZQR0VDSmsrWWNNZnp3L2dadTBwRmM0ajE2TmdCQnpxdU1KY2Y2OTRkWGR1MVE0Q2ZYNFhtdVZ1WThwQzVna3dtdTZkRUY2MVdoeHVaQnFjclNzbHhkOXRqVGRWbm8yTXdHQXdHNHg0bnNyRXdDZ1RQZ2hBbHgzRjRlbWdQOUgvMHpyOXdNaGlNNmtWWVNBQStlSDA0YXRVSUJBeXh3ZXZMZUxMWUw3SjVnTHR0WXpBWURBYUR3V0JVRDFKVDQxTXBTRzVCY1RFeXlza05WVjJvcUxqQVlGUTFNcG1zMm9oWDl6c2FuUmJYalFLV1NQUkgzRzJQTmV4dXhXQXdHQXhHQmFoVnIzRkRqdEM1aE1BREFEcTFiWUpYbnVrSHBlTE80cHd6R0l6cUJ5RUVkU05yWU83WHI4SGJTd1Zpb0ZHQUp6OExpRkc0TUFXRHdXQXdHQXdHNC81SEJNU1RBSERoY29xN2JXRXdHSXdLVVZ4U2lxeGJ0d0JBZnkxUmpIZTNQZFl3QVl2QllEQVlEQmVwMmJCaHNGeXVtRWxBUEFFZ3BtRWtabjR4RG5MNXZlUWN6bUF3S2txenhsSDQrSCtqb0ZJWk5TdENCOVJwekE5ajM2VVpEQWFEd1dBd0dBQkFnS01BY09oMFBDaXRWdWxqR0F3R3d5bjdUNTZHS0ZKUWtaNEZFclR1dHNjYTl0RE5ZREFZRElhTEtEaFZMMEs0emdEZzVhSEVtK01HSWREL3poUDBNaGlNNmsvdmgxdWhlNmNXaGdLRlB3RTNwa1owWE1XeUxETVlEQWFEd1dBdzdrc282RnBRcWowU2Z3NDNjM0xkYlE2RHdXQzRCS1VVLzIzZFlYZ05ySFczUGZaZ0FoYUR3V0F3R0M0UUdCM3RDNURoSVBBRmdENDkyNkJEbXlidU5vdkJZRlFSdmo2ZUdEMjBCM3g5UEUyaEJIc29PWDBiZDl2RllEQVlEQWFEd1hBL0duMXBFZ1hPYTNVNmJOMS8wTjNtTUJnTWhrdGNTVXZIaGN0WFFDbFZDeFRyM0cyUFBaaUF4V0F3R0F5R0Mvakt2RG9BcEE4QUtKVnlEQi9RQlY2ZUtuZWJ4V0F3cXBBMnNRM1F0WDB6VTFGT2VHNHl5NFhGWURBWURBYUR3Y2pRNndzcHNJOVNTdGZ0MmdkQkVOeHRFb1BCWUpUTDFnT0hJWW9VSURnTklOM2Q5dGlEQ1ZnTUJvUEJZTGdBQWI0Z0JCNEEwS0YxWTdScVh0L2RKakVZakNwR0p1UHgxa3VESVpQeGhncUt0clVieWg1M3QxME1Cb1BCWURBWUREZVRrcUttRkljQW9yNldrWUdMS1ZmZGJSR0R3V0E0cFZTdHhzN0RSMEVwcGFBNG5DWVdaN3ZiSm5zd0FZdkJZREFZakhLbzNTaDJFQWhwQ3dCeXVRd2Z2am15YkFPYndXQThVTlNOcklHUkE3c0FBQWdoSE1maDdaQ1FHRzkzMjhWZ01CZ01Cb1BCY0M4aWhIaENhSFp4U1NsT0pseHd0emtNQm9QaGxLU3IxNUNSbFEyQXFFV0tvMGhLMHJqYkpuc3dBWXZCWURBWURDY0VSa2Y3OG9TK1ppb1BIOUFaMFZFMTNXc1VnOEZ3SzA4TjY0NGFvUUVBQUE1Y0E2OGcyUUIzMjhSZ01CZ01Cb1BCY0M5cGlXY1RLTVYxclU2SFEvRm5VRnhhNm02VEdBd0d3eTZpS09MQXlkUEl5Y3NIQ0MzUWd4NTF0MDJPWUFJV2c4RmdNQmhPOElGSFU0QTBCSUNRSUQ4ODNxK2p1MDFpTUJodUppb2lESTkwaVFVQVVGQmZDdEl4S2lxS0pjVmpNQmdNQm9QQmVMRFJVNGhMQU9EdzZiTkl2SkxxYm5zWURBYkRMbm1GaGRpODd5RDBnZ0FxMHVQWEUrT1QzRzJUSTVpQXhXQXdHQXlHTXpnU1J3Z05CNERZWnZWUXIwNE5kMXZFWUREY2pFcWxRTWQyTWZEMThRUXgwRTZ2OEF0eXQxME1Cb1BCWURBWURQZFNraVA4UmtGVEM0cUtzSFR0Qm5lYncyQXdHSGJaYyt3RUVxK2tnbElxVWozOUJJRGdicHNjd1FRc0JvUEJZREFjRUpGZUhLUUFBQ0FBU1VSQlZCSVM0MDA0cmhOQUZESVpqeFpONnNMUDE4dmRaakVZakdwQWJOTjZDQXJ3TVJRb2JTRVR1V2gzMjhSZ01CZ01Cb1BCY0M5WldRbEZva0EvQWFCZnYzc2ZMbHkrNG02VEdBd0dRNEphbzhIc1A1WkRFQVFLMEwrdkpwODU3bTZibk1FRUxBYUR3V0F3SEtBS0ZId0IyZzBBdkR4VmFOTXlHb1FRZDV2RllEQ3FBYUhCL21qWnRCNEFnQkNpb3B6SThtQXhHQXdHZzhGZ01DQ1dDT3NBZWdnQXZsMzRCOVFhamJ0TllqQVlERE8vcjE2SDY1bFpBRUdtSUFyZnVkdWU4bUFDMW4yS1JxTkdkazZXNUo4Z3VPNEpxTmZyYmNibjV1WGVWWnNaREFhanVzRlIrVU9Fa0ZvQUVPanZiZDZzWmpBWURJNGo2TnV6amJsTU9Bd0Z3THZWS0FhRHdXQXdHQXlHMjBsTE81ZEhSYm9VbEdwT1hiaUlBeWRQdTlza0JvUEJBQUNrWldSaXpmYmRoZ0xGQm0wK24rQnVtOHBENW00REdIZUgzUWQzNGNlRnN5VjE4NmIvZ3ZDd21pNk52NXFlaXJjK2ZrTlNGeElVZ2w5bi9sYXBkdHBqLzVGOUtDZ3NrTlMxYWRrR0ljR2g1bkpXVGlZMjc5aUlrVU5HUVM2VDMzV2JMRW03ZmcxZmZQc3Bnb0tDRVJJWWd1Q2dFTlFJcllHZVhYcUI0KzVNRTk2d2JSMXExNHBFOHlZdFhPcS80TStmUVdsWk9Ud3NISS8xS2pzQXZtSDdlclJ2M1FHQi9vRjNaQmVEOGNEQzhjK2JYdmJ0MlJZcWxjSzk5akFZakdwRjU3WXhDQXJ3UWM2dFFoQkNvbW8zYk5IeDJzWDR2ZTYyaThGZ01CZ01Cb1BoVmtRS2JBSXdvYWlrcE5IeURWdlFvbEZEQkFmNHU5c3VCb1B4QUtQVjZiQmk4MWFrcEY4SEtDMmtSRmg1OCtiWlluZmJWUjVNd0dKVU8vNWV2UndwMTZReGdpZS84N2xad01yT3ljS2tyeVlpSXlzRHB4Tk80NzNYUHBDSVczZWJGV3YvUmtaV0JqS3lNc3gxM1RwMlI2OXV2ZTlvM3B6Y2JDejQ4eGZvQlQzQ3cycWlkL2MrNk42cEovejlISC9CMmJ4ckV6UVdydWlObzV1WUJhd3R1elpoL3VLNStHM1pBZ3p0UHh5RCt3NkJVcW02SXhzWmpBZUxHQVVIOURTVmhnL283Qllya2k2blljYnM1ZWJ5NkpHOTBhbDljNXQrdS9hZHhQS1YyODNsNzZlOUFhVlM0YkI5enZRM0laTlYzZGVBL1B3aUxQOTNoN2xjdDA0TlBOcWpuZDIraS83Y2dPMjdEU0dZbFFvRkZzeDUvNjdiZC9YYVRYenp3MUp6dVdPN1poZzF2SmROUDUxT2orL25yWUN2anlmOGZMMFI0TytObnQxYWcrZHYzL0hHK3JNQmdENDkyNkZPWkkzYm5yT3krR25CS216YWZ0aGNqcTRiZ1crL2ZLMUtiWmo0Mlh5Y2pMOWtMcjgrYmlnZTY5MEJBS0JXYTdCMHhUWTBpbzYwKzNkeHQvSHdVS0o3NXhaWXNYWS9BSURqTVFBQUU3QVlEQWFEd1dBd0huQlNFK092UkRadU1aV2paTUdoVS9IOGlzM2I4UElUdzl4dEZvUEJlSUE1a1hBQks3ZHNoeUNLb0NCcmhjSzhIUzRNY3p0TXdHTGNVK1RjeXNGSFV5ZWF4YU9MeVluNDMrUUplT2ZWOTlHeWFXeTU0MWR0K0JlbnpwMTArWHFSRVhYdzNKTXZtTXRwMTY5aHo2SGRrajV5bVJ4UERSMWRvZmRoanpXYlYwTXY2QUVBTjI1ZXgyL0xGeUw1U2hMZWVjM3h4cTFTb1pRSVdLYnhLVmV2NEpjbFB3TUFORm9ObHY2N0JOdjJiTUc0MGErZ2JaejlEV01HZ3lHbFpyUzhLUWhSQVVCWWFBRHFSRlNkVUc1SllWRUpqcDY0WUM3Mzdtbi9iL2htNWkxSlAwRVF5MjIzcDE5OS92VnZ1Smg4N2Jac2pXdlJBRytQZjhKdVcwRmhDWDcrYlkyNTNLTnJLNGNDMXRWck4zRStNUlVBNE8zdGNWdTJWSlNpNGxJY1BITE9YQTRORHJEYmIrL0JlQ3hic2MxY2J0NjBuc1AzNFNvM3MyNUpQaHNBYUIzYjhLNExXRnF0RHA5OS9SdGFOSzJQVmkwYklMcGVoRTJPdDl4YkJVaEx6ektYZmJ3OTc2cE45aWdzS2tGV2RwNjVYRnhTQ2dCWXRYNHY1aTFjamF6c1BIaDRLTEZnOXZ0bzFDQ3l5dTNyMUNiR0xHQVJTc3IvTXNKZ01CZ01Cb1BCZUNDNGVpRithVlRqbHQxMGV2M1lYMWY4aDlaTm02QnQ4NmJ1Tm92QllEeUEzQ29vd0pTNXZ5RDdWaDRva0t3clZMK1JucDVXNm02N1hJRUpXSXg3aW9URWM4akt5WlRVRlJRVzRMTVpuK0M1SjE5QS8wY0hPaDJmbXBhQ2syZE91SHc5dFZvdEtmLzh4enliWEdMUmRSc2dNZmtDRXBNdndCbHltUndkMm5TMDIxWllWSWpOT3pmYTlIOTYrRE5PNTFRcWxKS3l5YmFqcDQ1QXE1VW1DYzNNenNTVW1aK2hmZXNPZVB2Vjk2Q1FzMUJvRElZelpCeWFtVjQzcmgvaFhtUHNVRktpbG5obVhVNjlMbW4vK3Z1bDRDM0NtbHEzVDUzNUp6Z0xzZUtkMTUrQXA2Y0tLVmN6ek9KUlJRa0s5QU1BREJvMTBWdzNZbkFQUERYQzFwUEpFcDFPanhPbkw1ckxON051U2RvUEg3TWZrcmxaazdydzh2SkF0OGRlaDBhamM4bkdiejU3QlYwN3RYU3ByejMrWFNzOXhEQjhVUGZibnN1RVNaQ3hwQ3FFb3YySHoyRFR0c1BZdE0zZ1llWHI2NFV2SjcySWpnODFLM2RzVmFLUVMwTUZpNkloZG03eWxYU3pzRlZhcXNGYkg4N0JIL00vTXY4ZVZoWDE2NFpESVpkQnE5TURoTlNLaW9yMVQwazVsZWZDVUFhRHdXQXdHQXpHL1kydVdLMzcwTXREMGI2b3VLVHh1OS9NSkw5K09SbjFhOXNlSEdNd0dJeTdSV0Z4TWQ3N1poYVNyNlVCbEJhS0luMHBQZjFDanJ2dGNoVW1ZREh1S2JxMDd3b3ZMeTlNbnpNTkphVWw1bnBCRVBETGt2bElUVXZGUzJOZXVTdGhzWGJ0MzRIVDUwN1oxSisvbElEemw4clBkK2ZsNmVWUXdGcTNkUTFLMWRJTnpJRjlCcU5HcVBQVDk5WUNsazZuQlFBTUh6Z1NNUTJiWXM3Q0gzQTlJMTNTeDkvWG40bFhESVlMY0J4aVRLOGIxbk10ZjJCVm90WHBzSHJEUG9mdDZ6WWRjRHArN2NiOWt2SWJMdytGSnlvbnpLaWx4MDVlZm1HNS9mTUxpdkRxMjkvWmJTc3FLblhZdG16QlpEU01yZzJOUmdlZFR1K1NiWUlvdU5ETFBvbVhya3E4dEFEZ3hPbUxPSHYrY3JsanZiMDg4TnFMajl0dEt5cXlGYkF5clVTOE82RldlREM4N1FoaUc3Y2VscFJMU3RTSWFWU24wcTViV2NqbDBqVmRGQTNlaFcrOU9nSXBWek53NFBCWkFNRE56Rng4OWUyU0tnOXg2TzNsZ1pCZ1A2VGZ5QUVvdkFSZWpBREFCQ3dHZzhGZ01CZ01CckpTRWpJOUdyUjhqK014THpQM1ZxMHZmL29WazhlL2hLaGExZThaazhGZzNIOFVGaGRqMXVLbE9ITG1MQ2hRVEVHbWNkcjgvUzRNclRZd0Flc0I1cjNQMzBaUmNaSGROcE1RWWtsdVhpNWVmZjhscDNNKy90Z3dQTkxWK1VuN082VlY4OWFZK3RFMytPemJ5Y2k5SlJXTHZUeTk3b3A0bFpHWmdmbS8vMVRwOHdKQVVYRVIxbTVlTGFrTDhBL0U4SUVqeXgxcm5kTkthL0Z6YTlxNEdXWk5tWTNmLy9vTjY3WWFRbFBWajRyRzgwK1BxelRiR1l6N0drS2JBSVpUY1EzcTFYSzNOVlZHMTA0dEVSVlpBenE5SGh1MkhETFhONmdmZ1poR1VRQ0FySnc4czJnQUFPMWFOMEY0V0JBYVJ0ZXVVbHRsc3R2UE8zVTcvTFJ3bFUzZHF2V3VwVHNLQ3ZSektHQVZGcFhZMUwwNWNmWnRXR2lmV1ZOZlI1ZU9VcSt6d3NJUzdEdDBSbExYdFdOTCtQdjdWTnAxcmRIcDlDNExqWlp3blBSMHFscWpSVW1Kd1VONjBqdGo4Tno0YWNqT3ljZXdRUS9qMlZGOVVWcXFnWWVIMHNGc2xZK25oeExoWVlGSXY1RURBbmh5UEswTjRLd0xReGtNQm9QQllEQVk5ei9pMVV1bk4wYzFham1GVXZyVGtUUG44TjcwNy9IejU1UGc3M3Yzdm5zekdBeUdLSXFZOXZNaXJOKzl6eEF4UktUcmk2R2VuWjJTb25aaGVMV0JDVmozQ1pjdVg4S0diV3ZONWVzWjEyMzYvTFo4SVR3OURDZXd4ejc1UEs1blhFZGhVWUhMMXhBRUFlazMwcHoyS1N4MGZiNDdJU3F5THI3K2VBWW1melBKN0dFMFl0QVRGYzVGSlpmSlViZE9QWFA1WmxZRzhndnlKWDAwR2pXbS95ajErS3BNVnE3N0I4VWx4Wks2WjBlT2hZZXEvTHd2U3FWMGcwNnJMUk93S0tYUWFOVG85WEJ2eUdReXJOcjRMNklpNjJMUnNnVzRsWmVMTHUyN29WTzd6cFg0VGhpTSt3ZS95T1lCQUFrSEFLVkNqc2dxem4rVmZqMEwrUVdHKzBMcXRadVN0aHNaT1VpNGtBSkJFTERrNTBsbTc1VE4yNDlnNFpJTjVuNi96L3NJU21WWjZEWHJkc3V4c0FoWjkreW92Z0NBZ29KaWlZRFZ1WDBMakI5bkVHQU9IMHVRQ0ZnamhuUkg5eTZ0YnZ2OWNod0hsYXJNTTFTdExydVg4VHdQdWR3Z1ZPbjFBdlQ2TWc4cXVaMERDK0UxZ3ZEdGxESVBuQldyZCtIZnRYdnNYamN0UFJOcWplRmFhZGV0dzlNV0krbXlZYzBMQ2ZMSDJmTlhzUGRBL0cyL1IyY1JRb3BMcXY2NzQ2cjFlNkhSU0ErcjlPcmV4aXdNbWJET3BTYUsxS2FQUGVSeW1ZM24xUGZ6VmtqeWg5MHVQLzd5SDM3ODVUK2IrdVVydDJQNXl1M3c5dmJBN3ZXVkp3Q1doNmVIRXJYQ2duQU1sMEFKdkFqSFZhMlN5MkF3R05VUXZWNlBHK21wcUYybnZybE9vMWJqd0o0dDZQeHdIOGdWQ2ttOVRDNEh6MWZ0d1JRR2c4R29RblFwaWFmblJUVnVFU2FJZU8vTXhVdWV6MDc4QkxNbXZvdmFOV3RJUXI4ekdBekduVUlwUlg1UkVhYi91aGovYnQwQkFIcVJZbGRxWXZFWUlFbFQvZ3pWQ3laZzNTZGtadC9Fam4zYm5mWTVkUHlnK2ZVVFE1NjY2ellKZ2dDOVVQR1QxdmJRQzNwb3JISTYrZm42NGZQM3B1Q0xtWitoUTV1T2VQeXhZWkkraEpCeVErVUZCUVpqK3VTeTBGUnpGODNHNXAyYnpHVktLV2I5L0IyU3JseVNqQ09Fb0dZTnh4NFpCWVVGTnVLZ2RiZy9BTWpLenNTNnJXc2xkVEdObXVMaFRqMEFBS1hxVWhzaFN4QUU1QmZtSS9kV0RqUWE2V2RTV0Z5SWR6NTlDN2Z5YmlFdi81Yk41Nzk5ejFiejYvQ3dta3pBWXR3dmtPam9hRVZTVXVVdHd2NUtXZ01VdmlCQVNKQWZmSDNLRjVRcms1OFdyc2JHcllmc3RpMzRZejBXL0xFZUFMQjIrVFRVREE4R0FGeE55MFRMWnRIbWZ2WHIxb1JLVlhiZnNXNlByaGRoSXpBNDQyNkdhQThNOE1YK3pYTUJBQnFORmwzNnZtN082ZmZFMEI3NDMyc0dqOVF2Wi93dUVhTk13cFlsQ3JrY2pScEVtc3ZCUWY0T3IvdlJsRjl4TnNGKytMK2RlMDlpNTk2VEFJQlhuaC9zVUFTckRJcUtxelp2cWlpSytIdlZUcHY2aVovOVhPN1l4RXRYMGFYditITDdQZmQwUDRjZVovY2JIaW9sYW9RRkdBcVVxZ0RVZ3NGOWs3cmJOc1o5QlI4VEU4TW5KQ1RZaGtsZ1BGQnMzYkFTQzMvODJxYStaNThoZU9IMWlYaC8vRk5JUzAxMk9vZVByei9tL2JuSmJ0dXNyejVBU1VrUjJuWHFnUzdkKzBHcFVtSCs5MU93YTRzaG9zT2txVCtoYVl2V1R1ZS9ldVVTZnZ6MlUyUm4zc0JuTTM1RlJHUTlKQ1dleGRlZnZvV2lnbnprWk4zRXNLZGVOUGRmT1BkclhMNTBIaytPSFk5VzdQbUV3V0RjeDZUb1M2WkZjVjRGbE1la3hDdXBnZU9uVE1OVEEvcGhhSytlVUNqa0xzekFZREFZenFHVVl0L3hrMWowN3hvY09YTU9vRlFyVXZ5bDFoZTlBeVRmYytJVm1JREZ1SnRzMnJFQlAvOHhyMUxtK25MbTUwN2JVNitsWVBsL1N5VjFTb1VTZi8vNjd4MWROekg1QWlpMTNYK2lsR0w0Z0pIbzNybUhUWnRlcjhlRWoxNnpFYkFHOWhsczAzZnhYNHVndFJEZGVKN0hTMk5lQlFCa1ptZmlqUTlmUmNlMm5mRDRZOE53OXNKWi9MVnFLZklLOHN6NVA2d1JCQUdYTGw5MDZiM2R5c3QxcVIrRFVkMkppWW1SSzVYS1ArUGk0dElGUVZnV0h4OS9GTUR0SnpvQ0FCNEJoQkFQd0NCZ2VYdFdyWUJWRVdiUFh3bU5WZ2NBaUdrY1phNmZZOGREeGJMOSsza3JBQUJlbmlxODhyenQvVW1rMHZ0TVZTVVp2cGgwelN4ZUFVRGRPdUhtMTFxcjhITktaZFhrODF1OGJKUEU2eWkyZVFQOE92dTljaitUaDNxK1pQWVljOWEzdUZqcTBhUlNLZERWS3VUZm5SQVNMQlh4dHU4K2p1czNzaXR0L2djZG51ZFFJelFBQ3JrTVdwMmVBNlZCaUlwUzRoNEx5OENvM3JSbzBTS0k1L21mNHVMaUxnbUNzQ1ErUGo0QmdQMHZoSXdIR2xFUUhENHJtSENVRC9KV2JqYU9IZG9OUVJDUWxub1pEL2NhZUZzMmxCUVhJZjNxWlFpQ2dHKy9lQmRmemxxTXFQcU40ZThmaEtLQ2ZLeFpzUmpkZXZWSFNHZzRUaHpaaHozYkRRZHp2cDgyRVY5OS93ZHExUzc3dnZMaWs3MmcwOXorWHN0TGIzMkNEbDBldWUzeERBYURVYWtrSlduMEVSSHpaQjZCR1pUSGd1U3JhUjR6RnZ5T0hRZVA0S1VuaGlJdXBnbnp4bUl3R0xjRnBSVFhibVJnNGNyVjJIcmdNSEx6RFJIR1JHQ09yckIwNnMzcnlmZnNKZ0FUc0I1Z25oNDJCbHFkL1llQm5Od2NyTm9vRlgrOFBMM3h4SkFubmM0WjA3QnBwZHJvYnV5SlZ5Ym0vejRYalJzMlFYaG91S1IreVlyZmtXWVZhckZHYURqNlBkSmZVbmZpekhIc1BTdzkwVC9nMFVHSU1qNncvZjdYSXBTcVM3Rjk3elpzMzdzTklVRWh5SzFFMGFreTUySXczSWxXcXlVcWxhb2hnS0U4ejc4ZUZ4ZVhBR0FKZ0RXVTB1dW5UcDBxckxDZ1JUa1ZCZVNFQU41ZUtra292dXJHaWpXN1VGUjAreDQ4Z1FHK1pnSHJaUHhGSkY4eGhLQzFGbFVTazY1aHhlcGRBSUNVcXhtU3RvTkh6aUVuMXlEYWQyN2YvTFp0QVlBZGUwNUl5czJhMURXL0xpMlZybGtlcXFvUnNDekZLNW1NeDBmdmpFWnBxUWFlbmlxbjR5eHhKbUJaZTJEVkNBM0UxTW5PYzA3ZUxvSWdZTjdDMVM3MHZQdjA3OU1SVVpFMXl1MTM3R1FpRGgwOVp5NjNqbTJFRHUwY2Y5OVF1dUgwcXErM0orUnlIbHFkSGhUd0RDdjE1Vys2TUk3QmNCV2U1MldFa0tZQUhwZkpaTy9FeGNXZHBKUXU0VGh1UFNFazYvang0NFZNMEhvd2FOMnVDMnFFbDBVcVhmRGpOTnkwRSthOTc2QW44ZGlRVVpLNnJSdFdZdlhmdnptY2U5dUdmODJIU0hyMUgrWlNidUhNakhTRVdrV21hTndzRGlPZmVSVkxGODVHeHZWck9MeC9CN28vT2hCUGpoMlA2Wi85RDBxVkIxS1RMMEtsOHNTdnM3OHlqM3Y1elU4azRoVUFxRXRMb05mcHlyWERJVTZlNXhnTUJzTWRwS1dsbFFKcHl5SWFOVHNuQTcrb1JLMXVzZS9FS2RtaDAyZlFxVlZMUERkMENLTHJSTUJUcFlKS1dYVjVYUmtNeHIySFZxZERxVWFEckp4Y0xGMjNFZXQzN1VWQmNRa29wU0tBVEZHazcxKzlHUCs3dSsyOFU1aUFkWi9BYzV3a1JKMG9pdERwcFYvMGxVcWxPWmdOeHhIMDZkSFg0WHlYVTVOdEJDeFBEdzhNN0cxN1N2OWVKalA3SnNaT0dHTXVGeGNYU2RxajZ6YUFWcWZGMWJSVWVIbDZvMVJkWWo3UldLb3V4VmN6UDhlbjczNkJvRUJEQ0svTk96Zml2dzBySlhOd0hJYzN4LzFQOHZNcExpbkczSVhTL0J5aHdhRVk5YmdodE9PRlMrZHR4QzNyUEZrVmdlZDUrUHI0SWRBL0VFRUJRUWowRDBTOXFQb3VqR1F3N2kySVFTVm9DbUFxcGZRamp1Tk90bXJWNnBBb2lrZEZVVHdZSHgvdlBKR2ZDVXBWaEZBWlFDQ1h5OER6VlhzSzdwWG5CbUhVTU1OcDRha3pseURoUW9xNTdmblJqK0hoem5HQUhjK2FPMlhManFQNCt6L2IwSElBc085Z1BQWWR0SjhEYXVXYTNlYlhzNmErZnR2WEx5M1Y0TC8xZTgxbGZ6OXYxSzlidGlsbW1TdUtFQ0lKa1hnN3ZETitKQXFONHQ4dnY2OUYvTm15a0VzZDJqWEZxR0c5Y1BURWVmeStmTE81L3JtbkgwTzlxSm9ZTnVaakJBZjVZZVRqUGRDMVk4dHk4M1pVUk1EeThmRzhnM2ZsbkxXYkR0Z0lrRDQrbm5iemljSDRtVnZteXVKNUhuNitYdVZleDh1cmZLL0ZSN3ExUmhjWFBNMlVDcmxFd0dyVW9EYkdQdFhQWEJaRkVaeWJUNm9xRlhJTEc0aEs1MVBNZ3lsWWpMc0hUd2hwQTZBMXBYUXlnRk94c2JFSE9ZNDdwTmZyRDhmSHgyZTZNQWZqSGlVd09CU0J3V1c1T1pVTzh1WjZlbmtqS0NSTVV1Zmg0WGg5S1NrdXd1YTFmNW5IOXVvM3JGeGJ0cXhmZ2QvbmY0c1JZMTdCZ0tHamtabVJqdmRmRzJYVGIvRzhHVmc4YjRhNXJDNHR3WnpwSDBPa0luUVdPWHpuei9vQzgyZDlnYzdkKytLRjF5Y0NBSHIwSGd4Qlg3R3c5RmVTTHVCeTBua0FBTWZ5YWpFWWpHcEtXdUxaK1BDNlRSNVhLQlRQRTQ0TTFRdEN6TzZqSjdEMytDblVyeDJCUm5XalVLOTJMWVFGQmNITDB3TmVIaXJJNWRYM1lDV0R3Ymo3NkFVQjZsSTFpdFZxWk9YbUlqVTlBOGxwYVRoN01RbGEwNEVmU3JNb0phdUpJQzY0bWhSL3hOMDJWd1pNd0xwUGFOK21veVJjM3BaZG0vQ2psVUR5L1pRNUNBK3I2UWJycWkraUtDTDNWbzdEZHJsTWpuR2pYOFpuTXo3QlorOU53YW16SjdCa1JabHdmVFg5S3Q3LzRoMU1mdmNMSEQxNUdJdi9XbVF6eHpNam4wT1RoakdTdXA4V3pVRldUcGFrenRmSEQvTi8vd2xxalJvWGt4TWxiVHpQNDRXblg4SVB2OHdzOXozMTZkRVA5ZXJVUTJCQUVBTDhBaEFZRUFSL1gzKzNiKzR4R0ZVTkljUWJRQmRLYVNkQ1NBSFA4NW14c2JHblJGRmNVbEpTc3NWNXppeE9TUWxreExneExhdml6WTlhTlVOUXEyWUk4dklLY1RIcG1xUXR2RWFRSkJTZ0pmMzdkTVQ3RTJ3M2pxeDVjK0pzSEQrVldHNi9xbWIyenl0UldGaGlMdmZvMmtweTc3cVpXZVk1NnV0algwUXBLVlZqNTk0eUw2NlVxemNjWHE5NVU0T1FyMVpyY0NsWnFtMkdCZ2VnNDBQTjBQR2hadUI1SG92KzNJRFk1ZzN3d3BqSGNPTDBSVnhKdllFcnFUZHc5TVFGMUk0SXhWOExQM1VhMHRCWnRNR2k0aEpKMmROREpmSDZ1bDA0VGlyeTNjb3J4T3o1MGtNVy9uN2VXTDMwSzNoNzI5L1V0TTQ3MWpBNkFrdCsvdmlPYmFzSTFqL3JraExwbis3N2srZEJKdU14NW9uZWFOTEkvdC9HM1VhcGxKY0ozWVI2ZUdzOWVPYm56TGpiR0E5dEJBRG9UZ2pwQnVDV1RDYkxpbzJOUFVnSVdjeHgzSUhqeDQvZmdlc0tvN3BTV2xxMmJqaUtHTEg2NzBWWXQvSVBTWjJ6L01TYjFpeEhjVkVoQUtEZjRDZmg3ZVByMUlhRGU3Zmh0NSttZzFLS1pZdm1nQkNDdGgwZWhrWmp1MzVaMStsMU91aGgrNnRwNnFmVGxZbGFZMTk1MS96NjlQRkRPSFZzUDBZOTk0YlRUZHkvLzVodkZyQjRqZ2xZREFhaituTGp5dmxVSUdaSzdXaHVNWkh4ajNBVXo0a1EyMTFLdllwTHFWZEJBS2hVU3NoNUdYZ1pENDZ3ZlIwRzQwR0dVZ3BCRUF4Q2xrWUR3U0pzTkJYcE5Rb3NKaUpaV1pLblRjcktTaWh5T3RrOUJCT3dHSGVOc0pBYWFOZXF2Y3Y5cjE1TFFVWldoc1AyR3FIaGlJeW80L0o4Q25ubGhKWnFGTjBZYzZiTlE2Qi9JT3BIMVVkaTBnVWNQVlVtWUdmbFpPSE5qOGJiZlNBYzhPZ2dETzQ3eEthK1ZHMGI3aXZweWlVa1hibGsxNGIranc1RWh6WWRVVnBhZ2dEL1FBVDZCeUl3SUFnSGorN0hvdVVMSkgyN3R1K0dwbzJiM2VhN1pURHViZXh0NGhCQ09BRCtBUHdKSVEwNWpodmg2K3ViRVJzYnU0d1E4azlwYWVsRmp1TUtFeElTekxzbGhLTXFRb2tjQkZBcVpKREozUE9nc0hYWE1YTU9KUk5ML3RxQ0xoMWFJRGpJMXZ1cXNMREV4cnZHSG1vTGp4cExPSTR6QzBiVytUTXNoU1JLcWVTekpvU1lQWXh1TjFmVzNnT244ZGUvT3lUWFV5b1ZXTDErSDJReUhrbVgwM0FsdFV5TUNnendzVHRQVm5ZZTNwazB0MExYM3JIbmhFMTR3djJIenlBbDlRYWk2b1JqL0xqSG9kRnE4ZlNJUjhIelBKYXYzQzdwMjZWREM3dmlsU2lXZlViT1BMU3NRMEFlUHBhQUxuM0hWK2c5MktObWVERFdMcDltTGsrYitTZnk4cVhmWVY5OFpvQkQ4ZXB1bzlIcW5BcDFNaGtQaFVKdUkyQVZGcFZ0M0NaZFRqT0huZHl5NHlqYXRXNkNHVis4NnBJSFdHV2lWTWpMOGhWUWVHZ1ZwZXc3TnFOUzRUaU9tdTY3VHRhNklBQkJITWMxQmpCV0ZNV1UyTmpZcFpUU0ZYcTlQdlhjdVhPRmdCM1ZnSEZQb1ZhWDRybGhENWZiVDYvWFErK2k1MUpPMWsycythZnNrRjZiRHM3bjM3dGpJK2JQK3R6OHU5ZzhyaDM2REJpSm5Pd3kxOU5XN1RxamJjZnVMbDNmWUs4T0MrWk1jOWllbjVlTG43NzdGUGw1dWJoNC9nd21mUENsVGVoQ0U5VGlPd3p6d0dJd0dOV2ZCTzIxSkNRRFNBWXdQNkplNCthOFhEbUNFSFFHUWYwU3RWcEJLT0Vwb1J6QUZDd0c0OEdHVWtLSkFGQ1JndWdCbWtFcE9RUXFyRSs5ZUdhRHU2MjdXN0NINndlWUVTODg3ckROM2ptK3JKd3NwMk42OStpTDUwZTlhQzYzaVcyTE5yRnRYYktsb0RBZnIzM3dzdE0rR3EwR2I0NzdIN3c4eXc5ZFZOa0UrZ2NDeGczVmQ4ZC9nQ25mZlliNGhOUG1kbnZpMWREK3d6Rm14TE4yNSt2UXRoT09uVDdxMHJWRGdrSXdhc2pUVUtsVTZQK29OSkd5cjYrZlRmK0NvZ0tuODFGS2taZWZoNnljVEFRRkJpTW9JTWdsT3hoU1BIaTBWQVFGblFnT0RxYUVFSkZTU2draG9tSGZYd1RIY2FMaCtWa1VDU0hVK0pvQ29CekhpY2ErMUxnYkpSSkNxQ0FJSWlGRTVEaU9Hbkp3Q3lDRUNLYXlhRlFVQ0NHQ01aNnQ2ZHFDcWQ0MEJ3REs4N3dBZ0FxQ0lGSktCVUtJcVUwa2hJaW1lcDduUldQZURNRTRwNkRUNlR4NW5vOHlpaEZLanVNZWF0V3FsVklRQkdwOFB6RE9CYVB0MUhUck1MNTNHSzl0MmQvMG1scU1nV1VkSVlUcTlYcEpmOU0vblU1blUwY0lvVnF0VmtFcFZUa1NUcXlGRmlNMU9JNTdpMUw2cW9lSHgza0FoK1BpNG80UVFnNmVPSEhpQWloUlVVSmtCSUJDSVM4M1BOemRZdVBXd3paMUtWY3o4TUliMzJEK3pIY1FGaG9vYWR1OS94UjI3ejkxMjlkNzk0MG44ZTRiVHlJbk54LzlSMzRBcmRhd3p4bFJLd1NybDA0MTl6dDhMQUd2dnYyZHVUejlpMWZRdlVzcmMzbnZ4am5tMTNLNTRhdEdTYWxqb1dML29UTjRiL0k4U2Qyem8vb2dJVEVWeTFac3N6dW1RZjJJMjNxUDlsaS81WkJOWFhaT1BzYTlPUVB6WnI2TmVsRTE4ZmI0SndBQUdUZHpzR3RmMldmczQrT0pGOGNNQUFDY08zOEZUUzF5ZGxuKzduR2M2eUVFS3d1VmxhaDI0NmJVNHppaVZnaUdEZXAyVjY3dEN1OWIvY3l0NmR1clBhWk1lZ0VCL3Q2UytvTENzcEM2QzVkSXY2TnJ0Zm9xRjY5ZzhzQXlDbGdjUVV5WWwvZSs4TGc0ay9wc3V0ZFRVNDRpUW9oNVRURGRPeTN2cVNZczZxbkZHSE9kY1hMUmNoN1RtbUpxTTA0ald0eHJSY3ZybSs3WnhrdWExeGJUWEJiM2JORW9vbENMUHBickh5aWxJaUVFb2lnS0pwdE1hNlJwN1JGRjBmSTltZjRYWU1qUkpsajFFUVZCNkdnaGtEZHMxYXJWQU9QNllsNC9URDhIaTNVR3BqWEdaRC9LMWh1WXhsaXZVUmIvUythMFdxL3N6bW05ZGxuUGFXcDMxa2VuMDluTUFhTjRKWXBpQ0FCbFJkWTZRa2dVSWVSREFHOXlISGMyTGk3dUNLWDBJTS96aDQ4ZlA1NXNkeUpHdGFld0lNOXArN3VUdnpYbmpEcTBmenYrK1dNK0FPRExXWXVoTW9ZYnRCWjFsaXo0WHVJbDVld3d5czR0cTNGZzEyYno3MXpqcG5GNGU5SU15QlhTTlNjeXFnRmFQOVFWcGFXdWhVSDM5UFIyS21CbDNid09yZFp3Mk9UeXBRUk1mR00wWG52bmM3UnExOW1tTDdWNG1wWEpXTGl0ZXhaS1BWdTBhTkhJOGo3SmNSelZhclUyOTBxTzR5Z2hoS3JWYW5NLzR6T1V1V3pxVjFwYUtpbnpQRThCb0xpNDJGelA4N3prZFVGQmdhUS96L05VSnBOUkFKREw1ZlRHalJ2Z09JN0taREp6dlVLaG9Ba0pDWmJyam5tZGRyRGx3bUFBQU5JdVh6Z0Q0QXdBQkFjMzhsSDV5Y0prSFBXbVBPZEpJS3VhSk1BTUJxTmFJb2hVSUlKWXd2RW9MdEhSVzVsWHpqNFFnZXVaZ1BVQW85RTZpWjUxRzJOY1BlRm5qL20vejBOQm9YUGg1VlplTHY1YytRZkdqWFl1ZERuamxiSGpNVzdNSzVLNmIrZCtJL0dvZXFoMUI3ejEwdHNBQU03cTRTM3QralVjT0hZQW1kbmxweFk0ZnpFQi82NWZnYlp4RDZGMnpkcVN0b2RhUFlTNVBHOU9rdXlNVjhlK0RwVktaYmZOMDA0Yys1emNiTnk0ZVIxWk9Wbkl6TTVFdHZIL3JKeE1aT1ZrSVRzbnk1d2Y3WVdueG1GQTcwSGw2VG5zR1FBQUlBQkpSRUZVMnNDd1Jhbmc2M0NHRUhXZ2xFcThUeXc5VlV5dkxUMVVMT0U0enJ3QllDbVNFRUlnazhtc05zREw1bkt3VVdYM0dvN0VGOVA4OXNiSVpESnpQYVhVajFMNkxpRkVhM3JBTTBKTm5qaW1CenpMTnRPMUxUZmhMQi9XZUo2blZxZklLYVhVWks5a293K0doMFBZZWRpamNybWNBS2hoV1duNW5peXZZY2RyU0FrZ2xsTGFFc0JUbE5Lc3VMaTRpNFZxSVZNQWtRT0FRaUdyOGhDQ0FIQWw5UVpPbjAyeTIzWXRMUlBqM3B5T24yZTlLNm5uT002bGZGMTZ2ZUF3NUJBQS9QbjNWck40QlFEZE9zVld5SFpQVHhVMmJEbUlnc0lTS0JReWlDTEZ1czBISkgzOGZBMmloQ2lLV1BUbkJzbjFHaldJeEV0akIyTE54djJTM0VjbUZBcTVKQWRTdDA2eDBPbGNXNE9DQTZYQy80Mk1IQnc1ZnQ1dTM1emNmTHo0eGplWU4vTnROS2h2dUk4ditYdXI1Tjc5d3VqK1NMK1JoYmNuL1lnVHB5OWkwWThUMGFLWklUU2g1V2ZNT3dualdsd0o0UUx0b1ZKSm4yOEhQOVlaNTg1Zk1aZGZIemNVTWdlNXI2b0RKZ0hPMnRzdzk1WWh4Rlh5bFhSczNYbE0wdmI4Nk1lcTBNSXlsQW81T040c1lJV0NFS1hGUFZSeW56YjlYbGlIOXJWc3M3NmZtOXJzaFFOMnR0SHNyTTE2VFhHMGhwZ3dyU1hXZmF6dHRKN2IwWFh0clQrbTMwY25od2FHQU9odDdHT3pIbGg2aDlwWmwyQzlodGhab3h6MXMxNnZ6SDJzMW5DYlRxYjVMZjdXN0s2WDVmUUJBTjYwMXRuN1hPMnRkUmI5UEFraDdTaWxiVG1PRzJOYzY4Nlc2S2hHbzdmL1BZQlJmU25NTHhPd0JvOThEb0hCSVFDQTJwSDFjUE5HR3RLdmxlWE5MTWk3Wlg2ZGVmTTZGQlk1ZVRVYU5lclViWUNEZTdiaTBGNzdoMFhzc1gvbkp2UHJCbzJiNDkxUHY0UFMrS3lpVUtyUXRHVWJBRUJZelFqOHUzd0JOcTFlN3RLOFUzLzR3encyb2s0OW0vYm9SczN3NlRjL1krb25FNUNYbTQyUzRpSk0vK3gvR1BiVWkzajh5UmNrdjhlVzZ6UmZqZGM1aG5NODVWd1RtWXdzczdqZlVrb3BsY3ZsNXNOdnBudS9TU0JTcVZTV0J3QXNENUJRMHdFUnBWSnA3bTg1ajVlWGwwUnNzanpRNE9mblo5UGZkR0ZSRkdsWVdKaGxmM05iWEZ5Y1pJenhnSWJnWU8wQnBWUnZQQXhpUHV4b2VlakRkUGpFNm5DSTZacVN3eUhHZWFqRjY3b0F2SXlIRmhuM0NOblppWVhJUnFHNzdXQXdHQXgzd3I3TlBVQmtaR2JnMHVXTHVKaDhFZDA3OTNDM09XWU9uemlFZllmM3VOQVQyTEJ0SGRxMzdvQVdNZVVuZmJlSFFxNEFyQTdoRWF2TklJNFFlS2c4UUNuRmpadlhrWFRsRXM1ZE9JdlRDYWR4NCtaMWw2K1ZjUEVjRWk2ZXcrSy9Gc0hieXdlUkVaR0lxbDBYL1I3cGo5bzFhNk43cDU3SXVaV05RUDhnQlBvSElEVXRGVWRPU3IwdEh1N1lIYTFhdEpiVTVSZmtJeXZISUV5ZHR2QUNNL0hMa3ZuNFpjbDhsMnpNenMxMitmMHdIT05zTSs5TzZpdDdyanVjeDI2OHRqdmQ5S3BtbTJaS1FvZ1BwVFNNRUJSUmtmS0VFTWg0M3FuM3pOM2kxOS9YT1cxUFM4L0N1RGVuUTZjcmV3WWQwS2NqUG5uZnZ1ZW5KUysvTlFOSFQxeXcyM1krTVFWTHJieWVoZzZvdUpmT2pqMG5zSFB2U1lmdDlhTENBZU5tOW84ejNzTGtxWXV3ZGVkUjFLOWJDejk4L1Faa01obmF0V29DYjI4UHlHVXllSG1wRU9Edmd6cTFhOERieXdQL3JOcHBucXRudDFaNHRFZTdDdHNJQUQ4dlhtTVRMdEdTdlB3aXZQVG10L2pwdS84aEpOZ2YvNjByVzY5cTFRekJ3NTFqTWVUcFNlWTV2cHY3RjM2Yis2R05RT2dzRDJIakJwR29GUjU4Vy9aYmtuUTVIYmZ5eXA1dnJUMndIdTNlRnQvTytRdHF0UmFkTzdUQXc1MWprWmZ2L0hsWWF5VU02dlZDdVdNOFBWUlFLTzc4eEx0U2FaZ2pPRWdxT21ibjVBTUFwdit3VFBLemE5cWtMam8rNUo0UXVuSzV6SHlmb0ZZWnoxeGRJKzZrN1U2cDdMbGRtYStpMXpUK1RYa1kvMVhLbkJXaEt0WXJaOWR3ZHVqQTJSanJPU21sU2dDK0FNSTQ0RWIxV29ZWnJsQllrRzkrM2JQUFlBU0hscDNoV2J2eUR5eTF5b05zNHZ1cEV5WGxubjJHWU1TWWwvSHJuS2wyKzVmSFE1MTY0SlgvZldvV3J3QWdNQ2dFazc0cUMrTzcrT2Z2SEl5MlJhRlFTc2JhSTdKdUEzeng3VUpNKzJRQzBxOFpEbVNjUEhvQUE0Yy9LOG1KWlJsQ3NEb2YxR0E0aCtPSk40QTRVN215bnFYdTlqek8yc3JMUzIzdkFJdWo4ZVY5djNBeXp5MExUMnNHZzhGZ01Lbzk3TnZjZlVxcDJ2WTA5NmZUeTVLdWQyelhxV29OY2tCUmNSRisrdTFIbC90VFNqRnovcmY0NGNzNThQRjJubGpZbW5PSlo3SDh2NlhtOHF2UHZZN3cwSENIL2JOeXN2RGFCeTg3M2RnMG9WUXFvZEU0OWs0cktpNUVRdUk1SkNTZXcrT1BEUVVBdlA3Q0JITjdma0UrM3Zqd1ZjbVlBTDhBdlBEME9NQ1lIK3U3ZVRPUWxaTmxEcDFSR1RBQjYvYlI2ZWxOcFp3VXdYRHFqaEREa1Q1U2xsTWRObVhqVUdKNmJXdzN0NUd5Snd0aTNIU1N0RnVQc1RyZGIrNWp0TVhTWE1zMlVFcUo5ZWxzdytFK213Y3RZdXd2QWpnQjRMcXhFN0Y0ZjZaK2x1K0xLNi9lb2szeVdibGFiOVhHRVVJYUFERHZvRGphNkxPemtVY0JsQUpJbzVUT0ZRUmhiM3g4L09tb1JpMWZKQndaQkVDbTFla2hDQ0prc3FyendycDY3U2EyN0xBZlpyUjdseml6TURTb1gyY3NYcllKcHR0UFFtSUtmcGkzb3R6NXI2VTc5aUtkTWZzdmlUZlRvejNhb2s1a0RZZjlBZURiT1g5aC9xSTFxQkVXaUZsVDN3QUExSzBUN2xEQUNnN3l3OEMrWmV1UVVxbkFseCsvZ0hwUjRSZ3h1RHY4L1ExNmFVU3RVT3hlYjdzUjkvV3NQL0h2MmpJaFNTYmpiMHZBU3JsNkErczJIYlRiRmw0akNEY3lEQ0gzQkZHQVZxdkRvajgzUUswdXl4ODIvc1VoaUtnVmlwN2RXbVByVHNQUDY4eTV5OWl5NHdoNmRHMGxtYytaWjl6MEwxNTEyRllSM3BvNEczc09sQjFzc1BiQTh2YjJSTTl1cmJGcjN5bDgrTCtuY2VUNEJieiszcXdLWGVOU2NocDZEbnpMYVovSjd6K0xnZjFzUXpwcHJIS3Y5WG5rSVVSR2hKbkxaeEtTY2ZCSW1jZWRTWUNUeTJVSThQY3hpM1A1QlVWWXMyR2ZqUWc3NGVWaEZYb3ZsWWxPcHkvTGVVWlJZRHpkTElxaXlNSHEvbTY1SGhqRDdkbmM2eDJzSGFaN0dER0dxcFdNdFZ3R1VIWWZ0TDYzVzg0aldRL3N6QVBUZWdUYis2ZjFQTmIyTzd5R2kvT2I1eVVHVE90WEtxWDB0T1hhWXJXbVN0YkNjdnJZZk1iVzY3S2R0Y2Q2N2JhM2ZrdCtqdmI2bFBNOXdKSE5NZ0IxQUpoZGFDcXcxb25HdFM1SkZNVzVsTklEOGZIeDU2SWF4MzVDQ0xGTjFzcW8xaFFWbGdsWWlRbW5jU1hKY0MrczN6REdYTS96UE9yVWJZaUMvRnZJTnVZWWpxcmZDQnpoY0QwdEJXcGpQbDZlbDZHazJKQWJVYTVRUUtlMXpaRzViK2NtbkRpOFYxSTNZT2hvUERsMmZMbkM3b0RIbjBhM25yYWVzU21YTCtLUFgyYWFyOTJ4MjZNSUNuSCtYY05FY0dnTmZEcjlGM3o3eGJ0SXUzWVpiMDZjQ3JsY2p2eThYQnpZdFJrRitYa1FMTUs3eStRc2hPQzlpbHFyUHk5WDhiOVFTamxLS2VFTWNXd0pwWlN6ZkcwNGs4cFo5ckhwYjd3L2M4WjhnWVRqT090NkFvQXpQaE9aNjQzUEdaSnJtdnBadFRtYXovemFlSnZuWUhPazFvREZuTEQzdkdWdnJiQjhWakwxTTYwM1R0b1NLYVh4ZC84bnlHQXdHQXhHNWNBRXJQdUVFMmVPNDhUcDQ3aHk5VEt1WEwyQzRwSWlwLzJWQ2lXZWYrcEZTVjNLdFJUVXJsbTczRnd2QllVRitHZk5YemIxSVVFaEZiSlpGRVY4TjI4NmJ1WGxWbWhjN3EwY3pKZzdIWis4L1dtRjh0TGs1ZWRKOGxhVmxwWTQ3UjhhSElwT2JUdGpyeFB2c0tEQVlBenFNd1I5dXZkQjBwVWsvTFY2R1U2ZmM1eC9KcnB1QTRRRWhkclV6LzUxRnZLczR0bS85dndiWnBIT3k5TWI2VGZTbk5wN094UVZNVS8wMjZWWUp4N092NVg5UWxwYVdxa3hyQTluK2xlelprMmkwK2s0UVJBNFVSUTVRUkI0U2lubjdlME4wMnRSRkRsUkZIbVZTa1g4L2YyaDErdDVVUlE1VXh1bGxIaDdleFBMOGNhTlVFSXBKU3FWaWpNOVNNRW9EbEZLT1lWQ1lYcG9NOWVMb3NqeFBHOSttTFBzYjVvSGhyOUpjeCtaVE9aSENIa0pRSE5DeUMxUkZLZnFkTHBkZ2lDWWR5b3NOazdoNWVVbDJjRncxTS95dGVVbW42ZW5wN21OVXVxd24yVTl5c1JEaFZLcFhBdWdzYjJmbFlOTjBTSUE2d1JCV0VFcHZVZ0lLWXFQajA4eGgyMGlSRTBwZElSQXB0WHFvQmVFS2hXd2Z2MWpuVms4OS9iMlFGRlJXWTZrVHUyYkl6aklIK0ZoUVhobVZCOHNYbFlXeXVkU2Nob3VKZC9admVMcnoxN0NPeC9QeFpsemwrSGo0NG0zeDQrMDZlUHY1NDBPN1pvaUo3Y0FGNU91bVlXZVVuV1p3QjRWYVh0QXdNZkhFKzFhTmNHcnp3K0d0M2RaQ05TTFNkZHdOZTBtNmtYVnhMRlRpZVhhYUMzQVhVdlB4TFpkeHh6MnR5WTBPQUF0bXRYSDNGOVhPVHlrMEs1VkU0aVVZdWZlRTVqenpadnc4ZmJFMy8rVmVYMDFiMXJQTEpxOU5IWWd0dTA2WnQ1TW5ydGdGVHEzYnlHWnJ5cnlxT210d3RKYWUyQUJ3T0RIdXFCbHMyaUVoUVlpK1lyclhzV1ZRVW1wOUFER3dMNmQ4RkNic2czWFA1WnZsZ3BZRmdKY1pFU1l4THZzbXgrV1NlYnEwckVGV3NjMnVrdVdsNDlhbzRNZ0dINlhCSkdlejgvVGpraEpTY2d3aWV3V0cwZ2NBRVJGUlpIUzBsSWVodnNsSjRvaUVRU0I5L1B6Z3lpS3hMamhSdlI2UFcreCtRYVZTa1ZFVWVSaE9EeGozdGdTQklGWEtCUm1ZZCswamxpdUphYXl4VC9UbWtCa01wbWtUaWFURVo3bkNReS91eVliekp0Z0ptR081M25MRFR0aWFhdEZtMm5OSWJ4UnlaWEw1ZWI1TE8xQW1lREZHZjltQ01keGd3a2hnNDF0ZitsMHVxOHQxeGdUMXV1RDlib0VxN1hKMFRqck1xeldJZFBQd2FyZHBYSGxYYy9EdzhOdUgrTm5Fc3J6L0RJQTlld0pWdzdXdWx4SzZXb0FLMFZSVE5YcjlRVUpDUWxYYlRveTdpa3NjMkROc1RpZytPYUhaZm1qdkgzODhPWDNpN0ZqMHlyOE12c3JBTUFuWDgrSGg0Y25Kci83SWk0YW40bTh2SDFRbzJadCtQajZJeklxR3RzMy9XZWU0MXBxTWhiTm5ZN3paMDlJcnYva3M2OWg0UEJuWExJMU1EZ1VnY0Zseno2VVVteGN2UXhMRjgyQm9OZERxVlRoMlZmZXhjTzlCbFRvTS9EMjhjV0hVMllqNmVKWlhEaDdFdnQzYjhhWms0Y2hDQUphdGVzc0VjUGtjcFl1NWw1RlQ3bk1reWRQTG5PaDYvMkMrWHVDcGZBVUV4TkR0Rm90Z1NGdEE5SHI5VVFVUlJJZUhnNjlYbSt1RndTQkNJSkFUR3VJcjY4dk1hMTd4dThaQkFBdVhMaVFEK0QyOHo4d0dBd0dnMUhGTUFIclBtSC80WDNZdG1lTHkvMFZDaVVHOWg0TUFDaFZsMkxweWord2M5OTJqQnowSko0WU1zcnAyRVhMRnRqVUtSVks5T3IyYUlWc1hyUjhBWTZmbG00NCt2cjRRcWxRSWlzblMxTHZvZkpBcWJwc0EvZlUyUlA0N2ErRmVINlVWSVNyRE9JVFRtUENSK01CQUhITlc5bTBlNmc4MEtabFczVHYzQk94emVMTW01Sk5HemZENTQyL1JQcU5OR3pic3hYN0R1K3h5WlhWSnJhdHpYei9yVjhweWNFRkFMMjY5VWJiMkRKdmd0RGdVTWg0R2ZSQ3hiNW4rdm42SVRnd0JLSEJvZkJRZWVEVTJaTjQvcWx4aUFpUFFIQlFDTHk5dkNzMEg4TWhnbVVzOGV2WDdXOEtGeFhaRjVZek1qTHVubVczU1Z4Y1hBZ2haQ0NBNXNiM1ZuVHUzTG1LcWMxVlJIUjB0RktwVk9yZ2VBT1BFa0xVbE5JQ0FJbWlLUDZtMCtuK1NVaEljS3owRTFGTktLY0Q0S0hSNktEWEN4Wm4zdTgrcDg2VTViN3ExNnU5UkRnQmdQY21QRmx1Q0pMYkpUaklIei9QZWhkZmZiY0VmUjk1eUNiL0VJdzVxdVpNZnd2YmRoM0QrNVBuMloyblYvYzJhTmU2Q1hpZWcxd21nMUlwZHhoV2JzM0cvVmkyd3ZYOEc5WWNQSEpPSW55VVI3ZE9zWmoreFN2WXZiL3N3RUg3dGsxdDhtMjkrL29UR0Rta094bzFpTVNMYjB3My9CNFllZXVWRWViWGRldUVvODhqRDJIajFrT0FNVWVacFljWXJEeXcvbDI3R3lkT1g2cmd1M1JNLzk0ZDBMNXRVNXM4WU5ZZVdBRFFxbVZEeExWb1VHblhyZ2dsVnJtK0ZBcnAxMUNkVlM1TlQ0K3lzRlNSdGNNa09lRktMY1F3dVZ5Ry83MXFLN1JXSldxMTFpeGdnYUJFTGRPYWZsbW92VndUS1NrcDFsVUFnUHo4Zkx2MUR6S3RXcldLQWpBWWh0QkpKZFYxTGJyYnhNWEZhUUU0WGVzQWxCQkNDaWlsOFlJZy9KcWJtN3ZlZU5DR2NSOFJWYThoaGhxZmdVcUtpN0J4dFdGL24rZkw3cWxGaGZuNGFNSXpLTWd2eTRIMStmc3ZtVDJ3TElscjJ4bjlIMzhLcS85WmJLN2J1bTRGZG01WmJUZGZiLzFHMGxDdHA0NGRRRXp6MWxBb2xVaStsSUNMNTJ4RG5Kc295TS9EcXI4WG1jdGRlajZHMHVJaWJGeGxwVkVRZ3I2RG5yQTdSMmxwQ1U0ZDNZOURlN2ZoNUxIOU5sNWpvaWhLUExBczgzNHhHTlVjdTk4WkVoSVM3SFoyOU16SllEQVlETWI5QmhPdzdoUDgvV3czR0ozQkdSOThEeDAvaUYvK21JL3NYSU5nOU0rYXY5QzZaUnMwcU5mUTdyajBHMmxZdjgwMkw4dWpEL2VwVUVpL2JidTNZTTJtVlRiMVk1OThBYXMzL21jallEMHg1Q244OGZkdkVnRm56YVpWQ0FvSXh1QytsUnY1cExpa0dNVWxocGpxZlhyMFE2c1dyYUhXcU5Ha1FReGF4TFJFMDhiTklKYzVEa1ZSS3p3Q3o0d2NpMmRHamtYS3RSU2NqRCtPODBubmNUSHBBdUthU1FXeEUyZU80NDhWaXlWMU5XdlV3Z3RQalVOeFNUSFNiNlRoYXZwVitIajdJRFFrRE5jejBzMzlPSTVEb0g4UUNvc0tvTEVLSy9qOWxEa0lEd3VIVW1uWS9Ndk55OFhrYnlZaE55OFhLOWIrallrVEpqSHhpdkVnVUFJZ0hzQVJBRWM1amp0NC9QanhaSmRHQ3B5YThsUlBRS0RSNmlUQ1JWVVFYYmNXMHE5bndjL1hHOTI3dExJUnNDekZxMDByWnRnTkkvWFNXek9RY01Hd1NTV1h5N0JqamYxUWNmYnllMlhjekFXbEZCdTJIc0lHb3loakQ1UG5sWW5jVzRXWVBIVmh1ZSt2Um1nZ1hubCtjTG45N2lZOHo2Tk83UnBJdnBJT251Y3hmUERETmdLV2w1Y0htalNLd3ZRZmx1SFVtVExCS2FKV0NCS1RydUxZcVVRVUZCYWpvS0FZYWRlbEJ4WVdMRmt2S2Nzc1BMQk9uMDAyaTEyVlFmT1llbWpmdGluVVZpSDY3SGxnd1dMelc2bVVvMFpZb05PNTh3dUtKV0tSVE1iYjVLU3l4dE5UWmJlK3NFanErZXp0SlUxbFpPbGhaZDFlUDZxbXcrdU5mYW9mSW11SE9XeXZDdFFhTFFUUmVKOGdLRlZvUGRqSlprWlZVUURnTkNIa0VLWDBpRnF0UHNLOHJPNXZHamVMUStObWhyUkFHZGV2bVFVc3kxQjVnaURnY3RKNXliaVVaUHNlems4OS80YU5sM0JNaTliWXZYMmRXY0R5OHZaQnNaM0lEVnFOQmw5UGZoTktwUXB0TzNaSFJHUmRMRi9zUEkrVkpkczJyTFJiejNHY1JNQXF5TCtGRTBmMjRlakJYVGh6OHJEZFVJZkJJVFhRcmRjQWRPdlZIMy8vWG5hNGhubGdNUmdNQm9QQllOemJNQUhyUGlFb0lLamNQdTFhdFVlYmxtM1FJcVlsd3NOcWdsS0tkVnZXbU1VckFOQUxlbnc5K3l0ODkvbjM4UFdSYmxBSmdvRHZmNWtKblU3NndPRGw2WVZoQTBiQVZjNmNqN2ViOTZwWjQrYm8wYmtuVm0vOHo2WXRzbFlraGc4Y2lXWC8vU21wWDdUc1Y2aVVLdlRwMGRmbDYxZVV5ZTk4amdOSDkyUCs0cm5Zdm1mcmJjL3p3MWR6NGVkYjlwbGVUazNHOURuVGJFNDI2blJhdlB6dUM3aGxjV0p5K01DUkdQWDQweEFFUFVLQ1F4RVNGSXBBLzBESVpESjhNMmNxOWgvWko1M0RHSklEQURLek0vSHh0QStSa1hrREFIRGw2bVc4UGZsTnZEZitBN1NJYVhuYjc0ZkJxSTRZVDZBbkdjTWxyUWR3cGJpNE9Ec3BLYWxpeWVPSXFBYUlEZ0EwV2ozMFF0WG1PWTZ1Vnd1Nzk1L0NnTDRkSVpmYkR6MVhWRlNDZ2tMSG9WQXR4U1UvWHkvazVUdDJPT080SXRRSUsxdEhjbTdsWTkybUF4VzJ1NlJFN2RLNEJ2VWozQzVnQVVERDZOcEl2cEtPSGwxYklUUTR3RzZmNHVKU3JGeXpXMUtYbHA2RnIyY3R0ZHZmUkVGQnNhUmNGU0VvTlJxZHBHelBBOHVTMXJHTnNQN3ZiNXoyK1hMRzd4SnZzZ2IxSTdEazU0K2RqbkZFeWxXcHQ2bXZqNWVrYkMySSt2bVZ0Y2MwanJJN1oxUmtEVHc3cWcrMjdqeUtFNmN2NHBrbiswaCtsNnNLdGNiQ0E0dVMwaUpGYWRXcTNvd0hDa3FwU0FnNVJ5bGRRU25kcU5GbzBzNmZQNTl0OHRCaVBEaG9OR1dlclRLWkhPMDZka2V0Mm5YTmRmRW5EbUh6MnI4QkFCTW1Ub1ZDb1VUNnRTczRmZndnZXZVMzVBMjBGK0syVm1SZGpCajlNblpzV29Yblgvc0ErM1p0d3E0dGEyejZtVHk4TkJvMXJsOUxRYjBHVGVEdDYvaVFBeFZGc3hBbVZ5aWdWSG5ZN2NkekJwdE9IeitFZjVjdndLWHo4WFlQNjhnVkNyVHQ4REM2UFRJQXpXTGJtZy80YUN3aWR6QVBMQWFEd1dBd0dJeDdHeVpnM1NmNCswazMzbmlldHhGR25udnllWVNIbFoxZ0pvVGdyWmZleG9SSnI2T3dxTUJjbjVXVGhTa3pQOGNYNzM5cEZrRUE0TmMvZjBaaWtqUmhPZ0E4TVdTVXl4NWdKODRjeDdRZnZyUUpoU2VYeWZIS3M2ODVIVHQwd0hEc1A3SVhWOU9saDBwLyttME8xQnAxcFh0aVdhTFZhbXh5VkZVVTg4bHNZOWpHeWQ5TVFvbWRQRnpXM21jQTRPL3JqeTd0dTlxZE43SldIZXlIVk1CS1RrbENnM29OY09aOFBLYi9PQTM1QmRLUVJES2VSNEMvODFQM0RNYTlCS1gwT29DakFINC9lZkxrL2p1TzYwNDROU2pWZzhBOUhsajFha0doa09QcEVZL2FlUGFZV1A3dkR2eTB3TmFUMVI3Wk9ma1k4TVFIRHR0VktnWDJiM2I5eEhSbDg4N3JUK0NkMSsySENoSkZFYi8rdmc0Ly83Ylc3dWFWTmY1KzN2ank0eGZSdm0zVGN2czJyQitCVGRzSW5oL2REenFkL1oreGw1Y0hPcmR2anAxN1Q3cndUaHhqSFM3dmJsQlNLZzNSNThnRHl4MFVGcFpJUEt3SUlTZ29MRWFwV2dNL1gyK2NUYmlNQTFaaElFTXN3bGY2KzlsNkRjdGtQS1pNZWdGS3BRTFpPZm40KzcrZFdMbG1EM3AyYTRWWG5odGNwVjVabGlFRUNhRWxxcElTNW9IRnFGUjBPcDBnbDh1dlVrcTNpYUs0TUQ0Ky9oU0FxajFkd2FoMmxKYVVIWlpRS3BVSUM0OUFXSGlFdVM0dk45djh1bVhyRG9nL2NRakxGczBCSVFSZVhqNU81KzQ3NkVuMDdqOENjb1VDKzNhVjVkdTBYSXV6alFma0FDQ3NaZ1Q2RG5yQ1llZy9HRDNHM25weEtBQ2dhNC9IOE1MckU1M2FRRUhOK2Jvc2lXN1VETjE2OVVmSHJvL0MwMDVVaVJLTGZOQXlSZlZaQ3hrTUJvUEJZREFZRlljSldQY0pJVUVoYUJIVEVpMWlXaUsyV1N0Y1RrM0MzRVZ6eWgwWEZCaU04YysvZ2FuZlQ1SFVKeVpkd0ZlenB1REROeWRCcVZSaDlhWlYyR0FuZEdCMDNXajA2OW5mSlJzUEhqdUFHVDkrYlRlUDA0dWpYMEpFemRwT3g4dGxja3dZOXo5OE1PVTlHeSt3UmN0K1JXNWVEcDRaTWRidUtjS0swS3h4YzR3YStqUUFTQVMveXNSRDVRRnZMeDhVRkJhNDBOdVFHOHdSVWJWdFQ2VW5YYm1FL3phVTRQZS9mNE1vU3ZjMkF2d0RNZVdEcjhyOXZCbU1lNFdrcENSdGRIVDBvQXA3V1RtQjZnVU5rZkU2QUNndVVVT3JxOXBEN1hYcmhHTkkveTRJQ2ZaM0tHRGRUWGlPTDlkN0J3QkVrVUtyclpqWGo2dDlBQ0E3SncrZlRsc2t5VytsVU1oUnYyNU5uRTlNTmRmRk5JNUMwdVYwYUxVNjVPVVhZZnk3c3pEbWlkNFk5K3dBcUZTT1QxN1hyMXNML2Z0MFJJUDZ0YzNoRnUzUnUyYzdpWUFsay9FSUN3MUVjS0FmUWtNQ0VCVG9DMzgvYi9qN2VXUGZvVFBZZHpBZWRXclhRT3ExTW84anVhenNLOWNyenczQ3FHR1B1UFFadUVKWXFPRVFTMUdSTk5XTmgwZjFPWFdlZENWTlVnNEo5c2Vob3dtWTlkTS9Ec2ZVclJNT0dEMnpKbnp3ZzAzN0UwTjdva2tqd3hwNFBjT3dTU3NJQXJic09JcUhPOGRWcVlCVldGd0tuVkhvRmlsS3IzdDZNZzhzUnFWeTl1elo3SmlZbVA0SkNRbTJzZE1ZRHl5NUZ2bDJWUjZlVHZ0ZU9Ic1M2ZGV1Z0ZJS1NpbDJiMXRyenFWbEQ1N256YzlWLzJmdnZzT2pxTjQyanQrenUrbU5Ha0pJNkQxSVJ3RUI2WUtDS0lJZzJMQ2dZbGNVRzJMRHJqL2JhME5Gc1lBaUNvS0M5TjU3N3dRU1FrSkNTVWpQWnVmOUk3Q3lwQkFpc0V2NGZxNkx5OHpNT1dlZVhXS0F2ZWVjYy9vc3B0M2JONmxSazVhU3BKVkw1enZQaDBjVVBGUDJkSmtGUEx4WGxLakdMZVhuSDZDTTlEU1ZxeENxZHAxNjZwb3UxeXU4Z0gvL25KS2VscXI5ZTNkS0p4K1dZQVlXQUFEQXBZMEFxNVNvVTdPdVhudjJEZWZ4dmdQRjIrWkZrbHEzYUtQcnUvWFdYN09tdXB4ZnYyV2RScjB6VXMwYnQ5QlBrMzdJMTgvUDEwL0RoNDJRelhiMmI2TzVpK2ZvazY4L3pCZW1TRktYRHQxMGJhZmlMUUZZdTBZZERSdnlzRDc2Nm9OODE2Wk0vMFA3WS9acitMQ256MmsvcmpNRkJRWXA2b3pOaVMrRXExdGRyWWtubC9Rb1NuQlFzTXFYcTFEbzlUcTE2dVU3TjJmUnJBTGY2M0pseTJ2MGMyOHFQS3hLQ1NvR1BKWjVQc01yU2NxeDZKaTNvUXhKU2p5U3JOUzB6TE4zT28rcVJsVFNYWU9LL3JrWUVWNVJiYTdNUDh2b1FPeGhIWXpMUDVOVEovZHVpcXdTbXUrOHp4bFBKemR1Vkt0WU03Sm16MSt0RWFQKzNXY2lva3BGVGZuNXpiUDJPeHZUTlBYYmxQbjZkTXp2THFHTXQ3ZVgvdmZHdzFxd1pMMUxnTldvUVEwTnZiTzNoby84VEhaN3JrelQxUGZqWjJqR25KVjY5UDZiMWIxeks1ZDl3MDZwVXl0Q3RXcWMvVUdGRG0yYjZJbGh0NmgyelNxcUZobW1TcUZsQ3h4UGt0cTBpbEwvUGgwVkVoeWd1NGI5KzE2Y0h0cUZWU3AvM3BlNWN6Z2MrWmFVOUtRWldFdVdiM1k1cmxrOVhQWHFWQzIwZmF2bTllWHY3NnY0aENNYSt2aTcrWllYbEtRZHUvNmRrUjF6MERYb0xlajcvRUt4MjNPVmtIajgxUGVlYWNoTTBubittUVJJeXQyNmRTdkJLTFIvNzA0dG5QTzNETVBRaWlWem5lZE5oME1UdnY5TXljZU82TmpSSktVa0gxUGlhVE9rM25uNUNaZHhGc3orUzMxdnZkZTVMMkpSUXNQKy9iUHlsM0dmYThhZnZ5Z25KMXZwYWYvT2RLcFQvNHA4L1hLeXMvWDM1SitkSWRLeVJiT2QxNEtDejc2Q2g1ZVhsd2JkL1loQ0sxVnhXU0x3ZEQ5OTg3RTJyRjB1WDE4L1dhMDJ4Y1ZHSy9Ya1E0S2hZVlgrODhPTkFBQUFjQzhDTEVpUzdobDBueEtURG12bHVoVXU1N2Z0MnFwdHU3WVcyR2ZZa0lmUE9rUEpicmZyeDkvRzZZOUNOdWl0V2EyVzdyL2p3WE9xdFhPN0x0cTFkMmVCTThMV2IxNnJSMTk0V0k4UGZWSk5vcHFlMDdqbjZ0YWJCc3Vua0NmNjlzZEdhOTVwLzZBc1NKdlRBaXd2TDI5RmhrY3Fza3BWUllSSEtyeFN1Q3BYcXF6S2xjTGxmNWFuS2N1WExhK0l5aEdLUGZUdjArMEZoVmNSbFNQMDRwTXZhOU8yRGFwUXZxSzgyZEFZS0ZSbVVrYWNkMmhBc2d4RFI0NmxLUG1NL1l3dU5COGZiNFZXTFByLzBSNWRyMUtQcmxlNW5KdTNhSzFlZlAxcjU3RmhHQ3BmTGxoSlIvS1dFWTFQT0tvZVhhN1M3UU82S3pDdzZKOHQ3bUNhcHVZdFdxY3Z4LzZwM1h0ZFord0VCd2ZvblZjZVVLdm1EYlJneWZwOGZkdTNiYUxSSSsvVHlOSGZPR2VGSlJ3K3FoZGVHNlBQdjUyc3dmMjdxWGVQcTExbUpZVldMSGpmcXpQNStIanJ0Z0hkaTlVMm9rcW9JcXFFYXVMa2VTN25RNEx6TDNGMFBtM1l2RHZmei82Q2x0MDdHSmNvaCtQc1N6R2VrcGJ1R3Q1bVo5c1ZFMXU4V1lGQlFYNHFFNUszUk5YaTVSdGRydFd0RmFHcUVRV0hURUZCL25ydWlkdTBiLzhoUFRyaUk4VWRTaXF3M2FxMTI3Vmk5VlpkMWJLaFM2QnB0VnFMRlV5ZUwra1pXWXBMT0pwM1lDamRkQmd4RiszbUFDNDd2bjcrK251eTZ6Nk1rZFZyS3lnTUphR1BBQUFnQUVsRVFWU2tyS2I4K2wyeHgwbE1pTk9PTGV0VnYxR3pzN2E5dW1NUC9UNytHMmRnbFh6OHFNdjEydlVhNllwbVYrYnI1K1h0cmJuL1ROSGgrSVA1cmtVMWJWV3NPcnYyN0Z2azlVcmhFWXI1ZlhlQjE3cjM2bCtzZXdBQUFNQnpFV0JCT3ZsaHovQmh6MmprMnk4VXVNL1ZtVzdyZDRjNnRPbFlaSnVFeEFTOTk5bmIycmxuUjRIWEs1YXZtTGRFWVFtV2RiaG4wSDJLTzNSUTY3ZmszNVBrNkxFamV1bnRGOVNqVTAvZDF2OU9CUVVXdmI1N1NWM1g5WG9GQnhXOFNmR1NsWXZQR21EVnFsNWJqOXo3dUdwVnI2WEk4S3JGbXNsV21PcFZhN2dFV0dkcTNhS05IaHY2cE5MU1UvVi8zMzZpQ1pQSHExL3ZXOVMxUXplQ0xLQUFSNC91VGdrS2JSeHJ5RkJPVHE0T3hDYXFUY3NHN2k2clVPczI3dFRZbjZacnlmSk5MdWVIRE82cDNqMnUxbDNEM2xSeVNxcnM5bHg5UFc2YXhrK2FvOTQ5MnFwcnh4WnEwcWkyODRubXVRdlhhdGVld24rV25HbHZkSnpMY1hKS21yNGNtMytUOTZMY2VIMDdCUWI0YWNhY2xabzRlVjZCOTI5UXI1cmVmWFdZS29jVlBXdXBhOGVXQ2crcm9PRWpQMVBDNFg4L1hJczltS2kzUC94WkgzM3htenEwYmFMdW5WdXBZN3RteFhycXZEQ21hU281SlZYQlFRSDVuZ2pmdGlOYTMvMDgzZVZjWVdGTmNadzRrYTY5MFhIeTlyYkp5OHNtTDV0TjN0NWVzdG1zT3BHYXJvMWI5aFM0SDFwNFdQN1p1NFB1ZXpYZlVvUG5ZcysrZzdweDhQUEZhbnZMVFowMDR2SEIyckp0WDc3ZjErWk42cXBTYURrRkJma3JQVDFMWGw1V2hRUUhxbUc5YW5yb3ZyN2FFeDJuVVc5K3EvVDBvbWMvUHYvcVYycmRLc29aMGtwU3ZUcVI4cm1Jczg4eU1yTVVmL0w3elRDVjVuRGtFbUFCdUdBcVZZNVFTSmx5U2sxTmtZK1ByeXBWanRROUQ0OVEyWElWRkZtdGxyS3lNbFdtWEFXVlBmMVgrVkNWcnhpcThoVXFLU2lrcko0YTJrK1ZxMVNUdFpqLy9paFR0cnhlLzk5MytuUGk5NG85c0UrWkdlbXlXSzBxVTdhY29ocTNWTmZyK3hVNk16bXFTVXRuZ0dVWWhrTERxcWhubjRIT1pRai9xL29uSDFxMFdxMnkyYnprNitldkNxR1YxYUhMZFFSWUFBQUFwUUFCRnB4OGZIejEvR01qTld6RS9VbzdiZVBiTTNXOHVwUDYzekNneUxHV3IxNnFqNy8rVUducEJjOWFLRmVtbkY1NzlnMVZMRit5RC9Sc05wdWVmL3hGdmZMK0tHM1p2cm5BTmpQbVRkZXFEYXYweVJ1ZktjQS9vRVQzMGNuOU5DNlVyaDI2RlhvdHg1NmorTVB4T2hnWG83aUVPTjF3N1kwdUlWZHVicTZXcmxxaTMvLzZUWHYzRjd4a3BHRVlHbnp6N2VyWCt4WVpocUYxbTlaS2tvNGNUZEtYMzMrbWlWTW02TDFYUGxUNXN1ZDNLU3VnTkRDa0xaTDZTZEt1ZlhGbjczQVJaV2ZuYU1YcXJWcTlmb2ZtTDE2bjJJUDVsd3pzMUw2WkhyaTdqNnhXcXo1ODh4RTk4ZnduT3A2Yzk3TTlMUzFERXliTjBZUkpjeFFRNEtkNnRTUDE1cWlobXJ0d3JhYlBXbDdpdWs2Y1NOZFgzNTFiZ05XNlpRT05mdjlIN2RtWC8rbHNtODJxT3daZXEvdnU3QzF2YjY5aWpkZXdmblg5Tkdha1huNXJyQll2YzUzMWs1bVpyWmx6VnlubFJMbzZ0VzkrVG5XZXlUQU05YjF0cEpKVFVoVVE0Q2MvWDI5NWUzc3BQVDNUK1Q2ZjdxcVdEVXQ4cjR6TUxOMzk4RnZuMU1mZjMxZFJEV3FVK0o3bjA1aHhya3NVZTN0N3FYbVR1aklNUS9PbnVlNXQ1WEE0OUg5ai9zZ1hBRXBTV0tWeUdqVmlpQjRkOFpGeWN2TDIwenllbktvWnMxMW5qN2YrRCs5MVNXUmtaaXMrNFpna3laVFNMQVl6c0FCY1dGLzhOS1BBOCs5OE5yNVkvZC8vY3FMOEExeG42UTU1OEdrTmVmRHBRdnRVcmxKVjl6OCs4aHdybGU1NzVIbmQ4OUN6TWd5ajBKRHJ2NGlvV2xQai8xcDUzc2NGQUFDQVp5REFndFA2emV2MDdmaXZpd3l2SkdueDhrWHk5ZmJWTFgwR0ZybzNrN2UzanpLekNuNXFPamdvV0srTUdIM1c1UWZQeHNmSFZ5T2ZmRm12dlB0U2djc2NXcTFXRGIzdC9uTU9yNkpqb3ZYQkYrOHAvdkFoeFI4K3BHdmFkRlN0NnJYL1U2MkZ5YkhuNkhCaWd1SVB4enZ2ZHpEK29BNGVPcWpEU1FrdXkwSGRkTjNOa3FRang0NW8wYklGK252T05DVWtKaFE1ZnUvdU43aUVqZHQydXI1UDJUazVLaHRTdkNXMGdNdU5LV1BqcWZrNU8vZm1EMWZjeVdJeE5HYmNORzNadHEvQTY3Y042SzdISHZqM2FlakdqV3JweDY5RzZxa1gvODlsM3lDZERMUDgvSHhVb2Z6Wjk2SzRFQ3dXaTU1ODZCWTlOUHgvTHVkYnQ0clNNNC9lcW1wVnc4NTV6TEpsZ3ZUUlc0OXF3ZUwxZXUvVENmbVdvSHRrYU5ITEVSWFhGVkUxdFhqWlJxV2xaU2d0cmZCWlRXMnZhcVJhTlVxKzkyQm94YktxR2xsSkIyS0svcGwvdW9GOU84dkx5elArbWhkMHhuS1ZWMS9WU0FFQmZnVzJ0VmdzQmM2TUM2dFVUbDk5K0xTcWhGZlVRL2ZlcEE4L24xam8vYnAzTHQ2eVZPZExhbHFHRXAwendJd1QyYWxIRHB5bEN3QzQxWm5oMVlWa0dBYjdVQUVBQUtERVBPT1REWngzNTdLL3hmck42L1RMbFBIYXVtTkxzZHJiYysyYU1XKzY1aXllbzU2ZGUrcUdhMjlVeFFxdU02bWFOMjZoKys5NFVKK04vZFRsZk5reTVUUnErQ3VxV3FYd2pkdlBoWit2bjBZKzliTGUrbmkwTm03ZDRITHRrWHNlVit1V2JTVkpTVWNTODgxUytuak1oMHBMVDlXUlk2NGJ3eDlLaU5PaGhIOW5XM2dYc3NUaDNFVno1T1BqVytDMWZRY0tuaEYxeW51ZnZhUHR1N1lxNldpU1RQUHN2MWZlM2o2YXUzaU9GaXlkcDQxYk54U3JqeVQ5TTIrR09yWHJvcHJWYXNrMFRhMWE3L3AwWXBPb0poZmtTVWlnTkxCTG0wOHRRcmJidzJaZzJXdzJ2Zm5TVU4weVpKUXlNN09kNSt2WHJhWW5IN3BGTFpyV3k5ZW5jbGg1amZ2aWVVMmNQRjlqdnArbTVKUi9IMVo0K0w3ekUraVVWT3RXVVdyZnRyRVdMZDJvMXEyaU5HUndUN1ZzVnY4L2ozdE51NlpxM2FxaGZwKzZVQk4rbjZQWWc0bHFjMldVNnRldGRsN3FibGl2ZXI1WlhtZXFGaG1tVVNQdStzLzNhdDY0YnJFRHJFN3RtK24rSVRjVWVDMGtPRkJXeThYNUlOSFBOKy9QejlkZXVGZlZJc09jeXh6MjYxUDBFc1FQRCswcmYzOGYvZCtZUHlSSmRXcEY2TU0zSDFGWXBielp3cmNQdkZaeDhVbjY5WTk1K2ZwMjdkaFNkV3BGWG9CWFU3ZzkrK09WWXo4NVc5czA5OGJGeGFWZjFBSUFBQUFBQUNpbENMQktxWmlEUlQvOG01bVpxWVhMNTJ2YXJLbmFIeE5kb252azVHVHJ6MyttYU9yTVA5VzRZUk4xYnRkRmJWcTJkWVk2MTNicXFaaURNWm82YzRva3FYcGtEWTE4Y3BRcWxLOVlvdnNWSnNBL1FLT0d2Nm94UDN5aEdmUHlsaHk2OWFiQjZ0U3VzN1BOOGpYTDlOdlVYMTM2N1R1d3QxamplOWtLWHJacTdJUnZTbHh6UmthNkVvL2tYL0tyTU5uWldmcDR6UCtLMGRKVlZuYVdYbnp6ZVEyODZWWWRTc2liNFhXNks1dGRkYzVqQXBlTGc5czM3S3hldjBtR1lSaCs4WWVQS1NZdVVaSGg1L2ZuMTM5UkpieWk3cm45ZW4zeDdaOXFjMldVK2x6WFRwM2FGNzJ2azgxbTA2Mzl1cXAzajdhYVBudUYvcHE1VEtFVnlxcHU3YndQL0Y5OS9tNjkvT3gvRDF2T3hhbWxVWWMvUEZBUERPbHozc0tsVTN4OHZIVnJ2NjRhMExlekZpN2RvQXJsQ3Q2N3NDUWExcXNtYjI4dk9Sd09tYVprR0huTEh2cjcrYXBTYUZtMWI5TkV0dy9vTG4vL2doOTJPQmVOR3RiUTVMOFdGWGpOeTh1bTh1V0NGVlcvaG5yM2FLdjJiWnNVT3M2ZjQ5Lzh6N1dVeEwxMzlGTFZpRkQ5UG5XaFdyZUtPbXY3dTIrN1hrbEhraFdmY0ZTalI5NG5Qei9YaDBsR1BENVl6WnZVMVU4VFoybkhyaGlGQkFmbyt1NXRkTitkdlM3Z3F5alk4dFhiL2owd2xIOXpUZ0FBQUFBQVVDSUVXS1hFcnIwN05lN1g3K1RqN2FPMGpMUUNaMU5aclRhZFNFM1IyQW5mYXNtS1JZVXU4WGU2eGcyYnFFMnJxL1h6cEI5MUlqV2x3RGFtYVdyRGx2WGFzR1c5dmgzL3RiNTg3eHY1K2VZdERYVFh3THUxUHpaYTNsN2VHdjdRQ09mNTg4MW1zK25CSVErcldtUjE3ZGk5WFFOdkd1Unl2YkNsRG92RGNnR1d2S2hSdFlaV2IxaDEzc2FyVTdPdSt2WHFyeVBIanVpckg3NXd1WmFXbnFwdmZocVRyNCtYelV1dENMQ0FJcG5TNzRZMFdKSituYkpJVHoxNDhXY3FOV3RjVjJzV2ZGM2d0ZHNIWEtzKzE3VlQrWE1NWlFJRC9kWC94azdxZjJNbmwzMytMQmFMMjJabFJsUXAvcDZJSXg0ZnJCR1BEejZuOFMwV2l6cTJhMWJvOVliMXF4ZjZQaGVtZmRzbVdqYnI4M1BxVTFJMzllcWdtM3AxdUNqM3VsQzZkNzVTWGE1cFVlejJ3eDhaS01Nd0NnMWx1M1ZxcFc2ZEx1NXlnV2ZLeU1qUzdJWHJwYnkvRDVtR3d6N0ZyUVVCQUFBQUFGQ0tFR0NWRWhIaGtkcTZZNHZzdWZZQ3Ixc3NGb1VFQmN2YjIwZUg0dVBPR2w0RkJ3WHJ6Z0YzcTJ1SGJwS2tOaTNhNnN0eG4yblo2cVZGOXJ1MlUwK1hrTXBtcytuWlIxK1FyNC92UlZuNy9McXV2WFJkMS94UFg1Y3JVNjVFNDVVclcxNFYva1A0VlpocWtUVUt2V1lZaHNKQ0s2dHFSRFZGaGtjcW9uS2twczM2VTd2Mzdjclg5b29HamRXdjl5MXEyaWp2UTFtSHc2SGxhNWJsVzA2eElPMWJkempuL2NHQXk0M3BNTWZLYWd5V3BIL21yOVhEOS9TV2ozZkJzekxkSVcvbXpYK2JVY1MrRkxpWXp1WDc3VkpZNG5iNTJ1MDZjdXpFeVNOeng3NmRXemE1dVNRQUFBQUFBRW9OQXF4U3dzL1hUM1ZyMWRQV25RWHZZMVcvZGdQbjBuNzMzemxNVDczMFdJRmhsNCtQajNwMzc2T2JlL1dYdjkrL202NlhMVk5Xeno3NmdqWnUzYUJ2ZmhxajZKaDkrZnBXTEY5Ui9YcjF6M2ZlRTBLUzhtWExGM3F0WE5ueUNxOFVyc3FWd2hVZUZxN3dTdUVLQzYyc3lwVXFPOSt6K1V2bTV1dm5VOGplV0pMa01FM2w1R1FYZXIxRzFid0FLOEEvUURXcjFWS05xalZVTGJLR2FsU3RvWWp3eUh4amx5dGJUaSs5L1lJa0tTeTBzdHBkMVY3WHRPMlVieTh4aThXaTRjTkc2UG5SenlqMlVHeWg5N2RhcmVyVDA3MTczZ0NYQWt1MmZZdnA2N1hYTUl5YVNVZVN0V2xidEZvMnFlUHVzZ0I0QU5NME5YM09tdE9PTlVtU3c2MUZBUUFBQUFCUWloQmdsU0pSOVJzVkdHRFpyRGJkMXY4TzUzSDF5T3JxZlcwZi9mSDNKT2U1QVA4QTlleHl2WHAzNzZNeUlXVUt2VWZqaGszMDRldWZhTW5LeFpyNDV5OHVRZGE5ZzRjNkF4OVBVN1pNT1RWdTJFU1ZLb1lWR2xLZHE2Ly9OMWJCUVFYUGZGaXljckhlK2JUd2ZVYkN3NnJvaTNlL1Z1VktsWXQxcnlaUlRYWDNvUHRVdjNaOTFhdGR2OGkySWNFaGV1T0ZkL1QrNSs5b3c1YjFCYmE1OWFiQnFoNVp2VmozQmk1bjJkbkhVN3g5S3k2VVZETTFQVk9yMXU5VWk4YTFpOXhuQ3NEbDRYRFNjYTNaZUdwMnRKbWE2OUJVTjVjRUFBQUFBRUNwUW9CVmlqU3NHeVdyMVNwdkwyOEZCZ1FxdEdJbDFhL2RRRjNhZDFXVnloRXViUWZjZUtzV0xKdXZRUDhBWGR1cHB6cTE2MUxzbVZLR1lhamRWZTExOVpYdHRHSExlazJmODVkTVNhMWJ0cjFBcit5L3MxcXRldTNaTjl4ZGhwUEZZaWwyZUhWS254NDNGcnR0U0hDSVhoMHhXc3RYTDlYc2hiTzBjKzhPcGFXbEtTdzBURGRkMzgrNU5DU0Fvc1hGeFdWVUQ2cTR3cFI1cTkyZTY3TjUyMzZsbkVoWFNMRDdaNVlDY0s5TjIvYnIyUEZVS1cvMjFXWVpSdUZUbndFQUFBQUF3RGtqd0NwRm1qZHVvZC9IL2xtc3RuNitmdnJ3dFU4VUVsenl2Vk1NdzFEVFJzMmMreStkTHgrTi92UzhqbmMrdEx1cWcxbzJ2ZExsWEZHQjM5Vlh0dE9VY1g5ZGhNcUsxcnBsVzQ4T0ZvRkxnS2xjYzcxc2xrT1NxcS9idkVmN1l3K3JjY1BDOTdFRFVQcGxaK2RvMmVwdE9wNlNKdE0wVFZOYUZldElTM0ozWFFBQUFBQUFsQ2FldnpzMkxwai9FbDVkYm13Mm13SURBbDErc1lRWWNIbElTN1p2bHFGdGtoUi8rSmdtVGwzczdwSUF1Tm5lQXduNlovN0ovYThNSTlsaWFyRjI3ODV5ZDEwQUFBQUFBSlFtQkZnQUFCUWhNWEZycW1rM3Z6NTEvUHRmU3hRVGwramVvZ0M0MVc5VEZ5a3UvbWplZ2FsZHgzTk8vT1B1bWdBQUFBQUFLRzBJc0FBQU9Jdjl1emI4YnByYUlFa1ptZGthL2VFdnlzMTF1THNzQUc1dzhGQ1N4azJjSzBreVRkTmhLdmZEWTN2M0pydTdMZ0FBQUFBQVNoc0NMQUFBaXNHUnE2ZE5LVTJTRmk3YnBMV2JkcnU3SkFBWG1kMmVxN2MvL1UxMmUyN2VDVU1yOTIvZjlLdTc2d0lBQUFBQW9EUWl3QUlBb0JoTzVLYXNsR25PbGFUTXJCejkvdGRTcFdka3Vyc3NBQmZSdXMxN3RIakZscE5IWm83RE5OK1FaSGR6V1FBQUFBQUFsRW9FV0FBQUZNT3h2WHVUSGFaK2xjeFVTWm8yYTZWV3J0dnA3cklBWENTcGFSbjZlZEo4SFU5SmsybWFwc00wRm1UbGFJVzc2d0lBQUFBQW9MUWl3QUlBb0pqc1pzWU0welRtU2xKYWVxYmUrZlEzSlIxbDZ4dmdjakJ0MWtyOU0zOU4zb0ZoSk12VWR3bDdOaWE2dXk0QUFBQUFBRW9yQWl3QUFJb3BidWZPSkljOTV6bFRacm9rYmQ4ZHEyZGYvMDVaV2RudUxnM0FCYlJsKzM2OTgrbHZ5c3pLeVR0aG1qTnkwNUorbDJTNnV6WUFBQUFBQUVvckFpd0FBTTdCZ2QxYnRqcE1QU0daMlpJMGYrbEdmZm5EZEdYbjVMaTdOQURubVdtYU9uQXdVUTg4ODZtT3A2UkpraHltR2V0SVB6WXNOalkydzkzMUFRQUFBQUJRbWhGZ0FRQndqZzVzdDQwMVRZMlZ6R3lIdzlUM3Y4elJUNVBteXpTWmpBR1VKckdIa3ZUS2V6OHBMdUhvcVZQN0pXUEFnUU1IanJtM01nQUFBQUFBU2o4Q0xBQUF6dG1hbkJ5NytickQxQ3BKT3BhY3F2OTkrWWMrR2pORnVia09keGNINER4SU9wS3N4MTc0UWd1WGJUNFpUcHVwcHNQeHdmN3Q2MWU0dXpZQUFBQUFBQzRIQkZnQUFKVEF3ZDBiWTNNeUhmZWFwaGx2bXFhWm1wYXBUNytkcWxmZi8wbEhqNTF3ZDNrQVNzaHV6OVdxOVR2VjkrN1JXcjlsbjNJZERrbktjVGowYS9TT2paOUp5blYzalFBQUFBQUFYQTVzN2k0QUFJQkxWVnowcHUwUjlScGRhek1zWDVpbXJuSTRaUG5wOXdXS2pqbXNXMi9xcVBhdG94VGc3K3Z1TWdFVWcybWFpajZRb0QvL1dhNmYvMWlneENQSnA2NmNNRTM5THpmdHlGdVM3RzR1RTdnZzl1emVvVmt6cHJxN0RBQ1h1VDI3ZDdpN0JBQUE0R0VJc0FBQStBOWlkMnplR0ZIL2l2dXQwcmVHakpZT2gwT0xWbXpSaHEzNzFEU3FoaDRmZXFPYU5xcmw3aklCRkNFOUkxUGYvVEpiazZZdFVXeGNrbkxzZVpPc1RDbmRkT2hkSXl2NTNkalkyRXgzMXdsY0tNdVdMTkN5SlF2Y1hRWUFBQUFBdUNEQUFnRGdQNHJkdm1sVFVKWDZQY29IK240amk5blZrQkdRY2lKZEM1ZHYwY0xsVzlTcVdSM2ROYUM3bWpXcUtUOWZiL240ZU1scXRjaHFzY2hpWVRWZjRHTEp6YzFWcnNOVVRvNWRtVms1T25yOGhLYitzMXpqLzFpb0k4ZFNuTzFNVTdtU2VWZ084N245T3plT3k4dXlnTkxGSWZPUVZVcVZqRUIzMXdJQXB6Tk5aVGhrSG5KM0hRQUF3UDBJc0FBQU9BOU9ITngrNUlSMGM3WDZUUWRJR2lxWkhRekRNQ1JwMWJwZFdyMStseXFVQzFhMWlFcUtESytnb0VBLytmdjd5c2ZieTkybEE1ZU4xTFFNcFdka0tlbG9pdmJISE5hQmc0ZVZtWlhqMnNnMEQwdm1oQndaLzNkdzU4YWQ3cW9WdU5CTU0zT2FLWi95a2xIWDNiVUF3T2xNMDl4aktuT2F1K3NBQUFEdVI0QUZBTUQ1azd0Lysvb0oxYXMzbk92d3NYU3d5UHFTWVJoUnludVNWSWxIVXBSNEpFV3JOK3h5ZDUwQXptREtURE1kbW1BMzdaK1lxY2QyeGNYRnBidTdKdUJDaXRteEkwN1NtKzZ1QXdBQUFBQUtRNEFGQU1ENTVZaU8zaG92NlZkSnYxZXIxN2lEWkF3eERLTzlJUVhJTUgxbHlrdUdZVFZOMDJJWUJtc0lBaGVKYVNyWE1KUnJtc3FWb1N6SnpKVERTSEFvZDd5Wm52MURUTXlPT0hmWENBQUFBQUFBOGhCZ0FRQnc0ZGozNzlnNFY5TGNjclZyQjRkWWZHcVlocVc2YVRFcUdnNHp3RFFVSU5OZ0RVSGdJakZOUjdycHNLU2JNbE1NUTdIWjJkbDdEKzNiRmlQSjRlN2FBQUFBQUFDQUt3SXNBQUF1Z3FPN2Q2Y2NsVFlvN3hjQUFBQUFBQUNBSXJCc0VRQUFBQUFBQUFBQUFEeUtSOC9BMmhXOVYzL1BtK1h1TWdCQWtyUjE1emJsNXJMS0ZBQUFBQUFBQUFCY2FCNGRZQzFmdTBxck42NXpkeGtBSUVuS3pjMlZQZGZ1N2pJQUFBQUFBQUFBb05UenVBRExJZk9veFZTV1lSZys5bHc3SHhZRDhEaW1hVHBNR1VkalkyTnozRjBMQUFBQUFBQUFBSlJHSGhkZ1dXUk1OUXl6akdtcXBydHJBWUNDbUthWnFGeGp2Q1FTZGdBQUFBQUFBQUM0QUR3dXdJcmV2ajVhMGhzVkt6YjBjM2N0QUZDUXhNU3RXWktZZlFVQUFBQUFBQUFBRjRqSEJWZ241U1ltYmsxMWR4RUFBQUFBVUJxVnJWa3pKTkE3cUxWVlJwaTdhd0dBMDVtTzNNUVVlOXFTWTN2M0pydTdGZ0FBNEY2ZUdtQUJBQUFBQUM2UUlLK2dheTB5L21jWUNuZDNMUURnd21KSkRQSUtldmlZOUt1N1N3RUFBTzVGZ0FVQUFBQUFseG1MWVRRZ3ZBTGdpUXpEcUdpUkdyaTdEZ0FBNEg0RVdBQUFBQUJ3R2F0WnE2NXExYTdyN2pJQVhPYjI3TjZwdlh0MnVyc01BQURnUVFpd0FBQUFBT0F5MXJaZFI5MTI1MUIzbHdIZ012Zmo5MThSWUFFQUFCY1dkeGNBQUFBQUFBQUFBQUFBbkk0QUN3QUFBQUFBQUFBQUFCNkZBQXNBQUFBQUFBQUFBQUFlaFFBTEFBQUFBQUFBQUFBQUhvVUFDd0FBQUFBQUFBQUFBQjZGQUFzQUFBQUFBQUFBQUFBZWhRQUxBQUFBQUFBQUFBQUFIb1VBQ3dBQUFBQUFBQUFBQUI2RkFBc0FBQUFBQUFBQUFBQWVoUUFMQUFBQUFBQUFBQUFBSG9VQUN3QUFBQUFBQUFBQUFCNkZBQXNBQUFBQUFBQUFBQUFlaFFBTEFBQUFBQUFBQUFBQUhvVUFDd0FBQUFBQUFBQUFBQjZGQUFzQUFBQUFBQUFBQUFBZWhRQUxBQUFBQUFBQUFBQUFIb1VBQ3dBQUFBQUFBQUFBQUI2RkFBc0FBQUFBQUFBQUFBQWVoUUFMQUFBQUFBQUFBQUFBSG9VQUN3QUFBQUFBQUFBQUFCNkZBQXNBQUFBQUFBQUFBQUFlaFFBTEFBQUFBQUFBQUFBQUhvVUFDd0FBQUFDQVM4aVVYNy9UbG8xcnp1dVlwbWtXZWkwek0wTjJ1LzI4M2c4QUFBQTRHNXU3Q3dBQUFBQUFBTVV6OXZOM05YUGFSUG42K3VuNTBaK3FUdjBySkVrL2ovMVVVMzhiSjBrYS85ZEtiZG00UnE4Lzk2QWs2ZlVQdjFONFJIWGQzYStqSktuLzdmZXI3OEI3bkdNZVBaS29sNTY2VzIzYWQxTzM2MjlXYUZnVmwzdSs5dXlEMnJ0cnErcEhOZE9vZDc0c3NyNzVzNmJxeXc5Zms4VmkwVTlUbDd0Y2UyQndEeVVmUDZySG5udFRyZHQxa1NTOU91SUJiZHU4VmpjUHVrLzlCdC9uYlB2MUoyOXF6b3cvenZwK0RMcjdFZlcrK2ZZQzc5T2p6MERkT2ZUSnM0NEJBQUFBejBTQUJRQUFBQUNlemF0U3BVcmVDUWtKYWU0dUJPN1hzSEVMelp3MlVabVpHWHIvdGFmMXhrZmpWSzVDNkg4YWMvSXZZM1VrTVVGLy9mR1Rycnk2azNKeXNuVTBLVkdTbEpXVnFiMjd0a3FTeWxXb3FFM3JWcnIwOVE4SVVLMjZVWVdPdlh2SFppMVpNRk9TbEptUkxrbGFPSHVhZG16ZElFbUtQeFFqU2Rxd1pwblMwazVJa2t1NFZoenZ2LzYwTnExZG9TNDkrK3IyK3g0L3A3NEFBQUR3WEFSWUFBQUFBT0RCbWpWclZsSFN6UER3OEFSSkV3M0RXR1czMjJNMmJ0eVlKTW5oN3Zwd2NWMTFkV2YxN0hPcnBrOFpyK1RqUi9YVHR4L3JrV2RlTC9GNGNiSDdOZStmeVpLa2J0ZjNVNTM2VitqTGoxN1gvSmwvNW11N2RNRk1MVDBaUnAxU3UxNGp2ZmJCdDRXT0gzdGduMlpNbWVCeWJ0MnFKZm5hN2Q2eFdidDNiSllrOWV3elVEZjB2MFBYZE91bGo5OTZRVW1KOGVyUzR5WmQwNjJYbGkyY3JlbFR4aXNvdUl5ZUh2VytLb1JXMXBiMXE1U1ZsU203UGFmRTd3TUFBQUE4RHdFV0FBQUFBSGc0d3pCc2tqcWJwdG5STk0xNHE5VzZzVm16WmlzZERzZVMrUGo0SmN6T3VyemNldGREMnJSdWhVelQxRzMzL3JjWlJ6OTk4NUhzZHJzcVZBelRnRHVIU1pLOHZYM2s0K01yblp5QkpVbFdxMVUybTFlKy90NCtQcEtrZ3pIUk9wcDBXSEV4MGRMSlBiVTJyVnNwUC84QVBmYmNtNUtrTVIrUFZucGFxcTYvYWJCcTEyOGtTZnJ0eDY5ME1HYWZybXJYUmEzYmQ1VWtoWVNVazQrdnIwTERxc2pMMjF1U1ZDRTBUSFhxWDZIZDIvTkNMcHVYbDNQNVJBQUFBSlJPQkZnQUFBQUFjSWt3RE1NaUtkdzB6Y3FHWVhTeldxM1psU3RYVGdrUEQvOUYwcGZyMXEzYjZ1NGFjZUY1ZVh2cjBXZEhLNlJNT1FXSGxDM3hPQ3VXek5YYWxZc2xTZmMvUGxLei81NmszZHMzcTBQWFhocnk0Tk9LaTkydjRRL2NJdE0wZGMvRHo2bFQ5eHNLSFd2bXRJbWFPVzJpODlnMFRiM3g0c09xMjdDSm5uL3RFOW50T1Jwd3g0UEt5c3JVRlUydlZNVks0Wktrbk94c0hUK1dwSnExRzZoNnJYcnk4ZldUemZidlJ4VU9CNU1NQVFBQUxsY0VXQUFBQUFCd2lUQk44OVNYaG1tYVZzTXcvQ3dXaTUra1J5VTkycXhac3cyR1lVeDBPQnp6SFE3SGZpOHZyNFExYTlhd3Jsb3BGRm10MW4vcW4zejhxTDc1OUMxSlVvV0tZVnEzYW9uK21mcUxjbk56VmFaY0JYMyt3Y3V5MjNPYzMzTS9qUG1mZnZ6NlEwbFNtL2JkZE84anp4WDdYdDk5K1Y2QlN4SVc1S0duWGxHZEJsZG94RU9EcE5ObWdQMzI4eGhOL21XczdMbDJTZEt4STRtNnEyOEhWYWxhVTBGQndlZjQ2Z0VBQUhBcElNQUNBQUFBNFBGTTB5d1hGUlZWMjkxMXVFTk9UazZvbDVlWHQyRVkrYTZkQ2hkT1hUTU1vNG1rSm9aaEhMZGFyWnZzZHZ1NkprMmFiREJOYytYR2pSczNYL1RpY1Y1OS9jbWJXanh2dXZQNHhnRkRkT09BSVNVYXkycTFLU005VlpLVWxCaXZ2eWYvTEVtcVdxT09PbmJyclZsLy9lYlNQaVA5MzFVcU03TXk4bzEzNjVDSDFXL1FmWHJ6cFVlMWIvZDJXU3dXZmZIakRGbHROdjF3TXZnS0tWTk9UVnEwS2JDZWhYUCtjbjV0bXFZenVEb2wxMjVYcnQzdWNpNHJLMVBaV1prU0FSWUFBRUNwUklBRkFBQUE0Rkp3dDQrUHp5M3VMc0lkVE5PMEdJWlI3aXh0Sk5jZ3E0eWs5aGFMNVdwSkdaS1Ntelp0K285aEdOK3RXN2R1NGNXcEhPZGJUazYyUzdCalB5UFFPUmVCUWNGcTNiNmJZdmJ2VVZycUNTVWRQaVJKdW1Qb2t3cXJVbFc5K3Q2bWFiLy9LRWthK3RpTEtsdStvajRjUFNKZnNIU0tyNitmamlRbWFOL3U3ZExKcGYrV0xacWw3cjM2Tzl2NCtQb3BvbHJOczlZV0ZGeEdnKzUrUk5zM3IzTXVjZGovOXZ2bDVlV3Q3VnZXYSsyS1JmSVBDTlNOQTRZb0tMaU12THk4VlRlcWlXclZpWExlR3dBQUFKYytBaXdBQUFBQUhzazB6VXpETUhJbFdRM0RDSlFVNk82YTNNVTBUUm1Hb1lKbVlaM2U1clFsQmsrMXQwZ0trQlJnR01ZUVNVT2FOV3UyTlNQSHNTZkxMcW1JOGVCNTZqVnNJdE0wdFdqdTMrZGx2SWVHdjZMc3JDdzlQV3lnSk9uS3RwMFUxYmlGSkNsbS94NUpVcldhZFoxN1gxbHROaW1yOFBIbXpwanNjanoyODNlVmVpTFplWnlZRUtkSlA0MDVhMTBCZ1VIcTFmYzJMVjB3VTVKVXQwRmo5UjE0anlUSlpyVnA3WXBGOHZIMVUrK2JiM2YybVRycEIwWHYyYTROYTVicFJNcHhTWkt2ajEveDN3d0FBQUI0SEFJc0FBQUFBQjdKNFhETXMxZ3MvMGlxNis1YTNNd21LVnlTZDBFWFR3K3RUamt6NkRKTk0xdlNDdE0wbHhtR3NjNmVhN1F6WllyNDZ0TFN1Y2VONnRDMVY0RUJWbVpHZW9uRy9PM25NVG9jZjFCZTN0NGFmTzlqTWsxVDJWbFpPcHdRSjBtS1AzaEF3KzY0WHBLVW5wYTM1T0RxcGZPZDUwTERxdWpsZDc3UzBTT0ptcG9nMElrQUFDQUFTVVJCVkQxOWtzdllQajYrbXZqalY0cW9tamZycW5hOVJucmloYmNMckdQWTdkZTVIRS83L1VkRjc5a2hTZXAwYlo5ODdiT3pNalYvMWxSRlZxK2xXblVhYXVtQ21jNzJwelM0b25tSjNoTUFBQUI0QmdJc0FBQUFBQjVwdzRZTnE1czJiVG80T3p2YjE5MjF1Sk9QajA4bHd6QW1TYXAxNmx4Qm9aWE9DSzVNMHpRTnc5aG5tdWJQRG9kamd0MXVQK1RyNjN0aXpabzFPZFhyTjYxWDFHd3VYRHAyYnR1b3dLQVFwUncvS3AwTWpZcHIzYW9sbWpicEIwbVNyNisvM24vdGFTWEV4V2pnWFE4NTIyUmxaZVpiTnZEMGM5N2VQcEtrUHlaOHEreXNMUGtIQkNvOUxWVVdpMFgzUHZLOFpKcmFzbW1OWWcvczFhN3RtL0lGVllXNXNtMG5MWm83WGNFaFpYUk4xMTdPOCtHUk5kVDh5blphdTNLeHZ2endOVjEvMDJEVnF0TlF0ZXMxVXVxSkZObHNOcFdyRUtyMm5hOVQ0K1pYRmZ1OUFBQUFnT2Nod0FJQUFBRGdxUnpyMTY4Lzd1NGkzSzFaczJZV1NYYWRFVndWTU12S05FMHoyVENNQklmRHNjdzB6ZkU1T1RuenQyN2RtbjN4cThiRnNHbjlTdjM1Mi9jYStzZ0xpdDY3VTVMa0h4aFU3UDZybHMxM2ZrK2RTRG51WEhvdk1DaEVEencrVXVscHFiSmEvLzNZNFAzWGhpc3JLMU5SVFZxcVQvKzdKRW5lUG5rQjFxa1pZTmQwN2EzcFU4WkxrdHAxNmlGSktsTytvcXJYL0hjaTVjb2xjN1YxMDFvRmg1UlYzMXZ2Y2FtcFp0MkdrcVJLbFNNMCtPNUh0WC92RGkyWVBjMmxUZTM2alp4N1k4WHMzNlA1czZhcVZ0Mkdxbld5N3ltbmx0NEVBQURBcFlrQUN3QUFBQUF1RVlWOEdKOHBhYlZoR01zZERzZEtoOE94ZE1PR0RYR1NDcDZtaFZKajU5WU5rcVMxcXhZcjRWQ3NKQ2tvdUV5eCt6ZHJlYlhtL1RORmhtRW9MRHhTRVZWcnFrcGtEZFZ0MkZpaGxjTDEwVnZQS3lzelF6Y1B1bGUxNmtZNTk4QUtEQXBSelA0OVdyNW90a2E5ODVVa3FVYnRla3BKUHFxcU5XcTczR1A2NVBIYXNtbU55N240azdYbTV0cTFhZjFLbDJ1YjFxL1VvOCtNbHJlUGo1WXZucTM1TS84czhqVnNYTHRjRzljdUwvQmF1MDQ5WmJQeHNRY0FBTUNsaXIvSkFRQUFBTUFseHN5Yk5yUGI0WENNZHpnYzR5VWxiTnEwS1VWU3JydHJ3NFdWY1hJZnFsTmF0ZWtvZi85QTUvSHBNNTNPcG5IejFucmhqYzlVcTI1RCtmbjV1MXlMaTRuV2lzVnpaSnFtNmpTNFFyWHFSam12WldhazY5ZHhueXNySzFNcmw4eFZtdzdkVksxR1hUVm8xRno3OSsxeUdXZlA3bTFhczN4aGdmZFBTejFSNExWY1I5NjNzYmUzVDRGTElwcksyNmRMa213Mm04c3NzZE14K3dvQUFPRFNSb0FGQUFBQUFKN1BORTN6bUtSRHBta3VNVTF6L0lZTkd4YWRXbG9RbDQvTkcxWTV2NzYyOXkzcTJXZWduaDQyMEhtdWJvUEd4UjRyMTVHcm9PQVFiZG13V29jTzd0ZkJtR2pGeFVTcmZaZnJ0SDdWRXBtbXFhRGdNcnEyOXdEcHRDVXNBNE5EMUxIN0RmcG42cSthT3VrSHRlblFUUTBidDVCaEdQa0NyTUYzUDZxK0ErNldKS1VrSDlPSGJ6Nm41T05IWmJGWTVIQTQ1T1h0cmR2dWVVeU5tclJ5OXZIMTlaTWtEWG53YVExNThPbDhkUitJM3EwUkR3MDYrUjRNMEczM1BsYnMxd3dBQUlCTEJ3RVdBQUFBQUhndzB6VFRKWDN1Y0RoaXM3T3psMjNidGkyZTVRRXZYNjNiZDlYaWVkTlZ0WG9kOVJsd2wwWU52MWM1MlhuYm5Ga3NGalZwMGFaWTR4ell0MHNqSGg1YzREVS9mMzl0WEx0Q2tuUkQvenZrN3grZ3JNeE1aYVNuU1pKc05pOWRkK090bWpsdG92YnQzcTV0bTllcVFhUG1CWTVWdGx3RkJRV1gwYktGc3pSKzdDZEtQbjVVa3ZUNGMyL3A5d25mS0hyUERvMzkvRjFkZFhWbmRldlZYdzBhTlZOR1JycTJyRjlWNEhpU2xKUVk3L3c2L2xDTVZpMmRYMmpiU3BXcnFHcU5Pc1Y2VHdBQUFPQlpDTEFBQUFBQXdJT3RYNzgrV2RLbmtoenVyZ1h1WnhpR25uamhIZGxzTmlVZGp0ZVIwOEtjbHEydlVZWFFNRWxTbGNqcWV1aXBWeVJKb1pXcTVCc25MTHlxRE1Od3pxbzYzYW53cW5KRU5WVUtpOUNzdnlkcHg4bjl0aVNwUXNVd2hZWlYwUlhOcnRMR3RjdjE5K1R4QlFaWWRydGQ0Nzc2UUt1V3pkZnhvMG5PODczNzNhRldiVHVxYW8zYWV2MjVZVXBLak5lS0pYTzFZc2xjK1FjRTZxbVI3K3FEMGM4VTYvMVlzM3hob1VzVVNsTDNYdjBMbk1VRkFBQUF6MGVBQlFBQUFBQ2V6V1RHRlU1bnMrWDlVNzVDYUppR1BmV0szbjNsU1Zrc0Z0MXd5NTNPTm1YS2xsZTd6ajJkeHhrWjZTNWplUHY0cUY3RHB2TDI4VlpFMVZxS3FGWlRrZFZxS2p5eWhsWXVtYXVmdi8xRWR3NTlTZ2VpZCtubmJ6OXg5ck5ZTExxeWJVZEpVcmZyYnBacE90U24vNTBxaU0xbVUxWm1oak84c3Rwc3V1WDJCM1JEdnpza1NaVXFSMmpVTzEvcDQ3ZGYwSzd0bXlSSkRSdTNVSEJJV2RtOHZNN0xlMVhZL2xnQUFBRHdmUHhORGdBQUFBQ0FTMVR6Szl1cGM0OGJWYlpjUmRXcTAvQ2MrbzU2NThzQ3ozZnMxbHRYWHQxWi92NEJzdHBzTWd4RFByNStDZzJyb3Q0MzMrNWNrcTlsbTJ2VXNzMDFSZDVqNEYwUGFmWHlCV3JjdkxWdUhuU3ZJcXJXZExsZUlUUk1MNzg3UnZObi9xbS8vdmhaMS9ZZW9JaXFOZlhENUNYbjlGb0FBQUJRK2hCZ0FRQUFBQUJ3Q2J2OXZpZms1ZVZkWkJzL1AzK04vMnRsc2NmMDl3K1FKRFZxMGxJL1QxdFI3SDRkdS9WV3gyNjluY2RseTFYUVorUCtsbyt2YjZGOUxCYUxPdmU0VVoxNzNGanMrd0FBQUtEMEk4QUNBQUFBQU9BUzV1dnI1KzRTaWxSVWVBVUFBQUFVeHVMdUFnQUFBQUFBQUFBQUFJRFRFV0FCQUFBQUFBQUFBQURBb3hCZ0FRQUFBQUFBQUFBQXdLTVFZQUVBQUFBQUFBQUFBTUNqRUdBQkFBQUFBQUFBQUFEQW94QmdBUUFBQUFBQUFBQUF3S01RWUFFQUFBQUFBQUFBQU1DakVHQUJBQUFBQUFBQUFBREFveEJnQVFBQUFBQUFBQUFBd0tNUVlBRUFBQUFBQUFBQUFNQ2pFR0FCQUFBQUFBQUFBQURBb3hCZ0FRQUFBQUFBQUFBQXdLTVFZQUVBQUFBQUFBQUFBTUNqRUdBQkFBQUFBQUFBQUFEQW94QmdBUUFBQUFBQUFBQUF3S01RWUFFQUFBQUFBQUFBQU1DakVHQUJBQUFBQUFBQUFBREFveEJnQVFBQUFBQUFBQUFBd0tNUVlBRUFBQUFBQUFBQUFNQ2oyTnhkQUFBQUFBREFmVTZrSkN2dVlJeTd5d0J3bVR1Umt1enVFZ0FBZ0ljaHdBSUFBQUNBeTloZlV5ZnBuK2wvdXJzTUFKYzV1ejNIM1NVQUFBQVBRNEFGQUFBQUFKY2J3OHcwVFNQWE1HUzEyKzJ5MiszdXJnZ0FKRW1tYVRwa0tOUGRkUUFBQVBjandBSUFBQUNBeTR3OVYvTnNodjV4U0hYZFhRc0FuTTZROXVUbUduUGRYUWNBQUhBL0Fpd0FBQUFBdU16RTd0eXd1bnIxcG9NTlpmdTZ1eFlBT0ozRFljMktPYkNKRGJFQUFBQUJGZ0FBQUFCY2hoelIwZXVQdTdzSUFBQUFBQ2lNeGQwRkFBQUFBQUFBQUFBQUFLY2p3QUlBQUFBQUFBQUFBSUJISWNBQ0FBQUFBQUFBQUFDQVJ5SEFBZ0FBQUFBQUFBQUFnRWNod0FJQUFBQUFBQUFBQUlCSEljQUNBQUFBQUFBQUFBQ0FSeUhBQWdBQUFBQUFBQUFBZ0VjaHdBSUFBQUFBQUFBQUFJQkhJY0FDQUFBQUFBQUFBQUNBUnlIQUFnQUFBQUFBQUFBQWdFY2h3QUlBQUFBQUFBQUFBSUJISWNBQ0FBQUFBQUFBQUFDQVJ5SEFBZ0FBQUFBQUFBQUFnRWNod0FJQUFBQUFBQUFBQUlCSEljQUNBQUFBQUFBQUFBQ0FSeUhBQWdBQUFBQUFBQUFBZ0VjaHdBSUFBQUFBQUFBQUFJQkhJY0FDQUFBQUFBQUFBQUNBUnlIQUFnQUFBQUFBQUFBQWdFY2h3QUlBQUFBQUFBQUFBSUJISWNBQ0FBQUFBQUFBQUFDQVJ5SEFBZ0FBQUFBQUFBQUFnRWNod0FJQUFBQUFBQUFBQUlCSEljQUNBQUFBQUFBQUFBQ0FSeUhBQWdBQUFBQUFBQUFBZ0VleHVic0FBQUFBQU1ERkZWcWpVU1UvTDZPZlliWFdkbmN0QUhBNmg4T3hQelBiTWY3d3ZzMEo3cTRGQUFDNEZ3RVdBQUFBQUZ4bS9MeXQxeHVHTWRxUVF0eGRDd0Njem1veFV2MjhyU21Tdm5WM0xRQUF3TDBJc0FBQUFBRGdNbU1ZUnFSaEVGNEI4RVJHb0dFbzB0MVZBQUFBOXlQQUFnQUFBSURMV0l0V2JkU3lWUnQzbHdIZ01yZDYxVEt0V2JYTTNXVUFBQUFQUW9BRkFBQUFBSmV4QmcydjBFMzlCcm03REFDWHViUzBWQUlzQUFEZ3d1THVBZ0FBQUFBQUFBQUFBSURURVdBQkFBQUFBQUFBQUFEQW94QmdBUUFBQUFBQUFBQUF3S01RWUFFQUFBQUFBQUFBQU1DakVHQUJBQUFBQUFBQUFBREFveEJnQVFBQUFBQUFBQUFBd0tNUVlBRUFBQUFBQUFBQUFNQ2pFR0FCQUFBQUFBQUFBQURBb3hCZ0FRQUFBQUFBQUFBQXdLTVFZQUVBQUFBQUFBQUFBTUNqRUdBQkFBQUFBQUFBQUFEQW94QmdBUUFBQUFBQUFBQUF3S01RWUFFQUFBQUFBQUFBQU1DakVHQUJBQUFBQUFBQUFBREFveEJnQVFBQUFBQUFBQUFBd0tNUVlBRUFBQUFBQUFBQUFNQ2pFR0FCQUFBQUFBQUFBQURBb3hCZ0FRQUFBQUFBQUFBQXdLTVFZQUVBQUFBQUFBQUFBTUNqRUdBQkFBQUFBQUFBQUFEQW94QmdBUUFBQUFBQUFBQUF3S01RWUFFQUFBQUFBSlRRNGZpRE9oZ1RMYnZkN3U1U0FBQUFTaFdidXdzQUFBQUFBT0I4U3p4OFNEOTkvWkZhdE82Z0ZsZDFrSDlBb1BQYTlpM3JOV2Y2SDBvNkhLK1JiMzB1aTZYd1p6c1h6NTJ1LzN0L2xQd0RBdlhOcjNNbFNTODhkcWYyN3Q1V3JEcHExbTZnMFI5OWZ4NWVVY2tkTzVxa1liZGZKMG15ZVhucGg4bExMdXI5WHgzeGdMWnRYaXRKZXZLRmQ5U3FiY2NTOS9uK3kvYzE3NThwcWxhenJvYS85TDZDZ2tNdWNQVm5OK0g3ejdSczRTeFpyVlk5L3R4YmF0bm1tbUwxTy9XOVZSSk5tcmZXczY5OVhLSytBQUFBbHdvQ0xBQUFBQUJBcWJONjJRS3RXREpYSzViTTFTdnZmYTI2RFJvN3IvMzl4ODlhdFd5K0pHbjIzNVBVdlZkL04xYUs0a3BKUHE0WmYvNGlTZHE1YmFOV0wxK2dUdDF2Y0hkWjJycHhqU1RKTUF3MXVLSjVpY1lZY01lRENxdFM5YXp0dnYyL3QzVWk1WGlKN2dFQUFIQ3BJY0FDQUFBQUFKUTZxNWN2a0NTRmhVZTZoRmVTZFB2UUo3UnU5UkxaYzNMMHk3alBkWFhISGdvSURNbzNodDF1bDhOMHVCeWZQbHZyeXJhZDlNUUxieGQ0LzdHZnY2dVoweWFleDFlRW9PQVExYW9icFQwN3Q4algxMC8xenZoOXZkQW0vekpXQ2ZFSFhjN2xaR2NwK2ZoUlNaS3ZuNzkrL09haklzZTRZK2lUOHZQenozZCt5cS9meVdLMW5yV0c5TFRVYzY0YkFBRGdVa1dBQlFBQUFBQW9WWklPeDJ2YnByemw1OXAzdVU2TDVrNVg2aG16VnNJanFpdnA4Q0cxdmVaYUxadzlMZDhZZFJzMjBZdFAzT1U4VGs5TDFlMTkyakpieTQwTXc5Q29kNzVTOUo3dHFsUTVRc0VoWlMvcS9kZXNXS1RkT3pZWGVqMzFSSXJtei95enlERUczZld3VkVDQWRkT3Q5Nmh5K05sbllJMzU1QTFtWUFFQWdNc0dBUllBQUFBQW9GUlpNSHVxVE5PVUpMWHZmSjNlZTNXNER1emJWV0RiMlg5UEt2RDhTMjk5ZWRiN2JOdThUcStPZUtEQWE0ZmlEcHhUelNnZUx5OHYxYWwvaGJ2TE9POG0vVHhHaG95enRzdkt5cndvOVFBQUFIZ0NBaXdBQUFBQVFLbVJrNU9qMmRQL2tDUUZCb2VvWW1obEJRWUdLVEE0eE5rbUl5MVZ1Ym01a2lTcjFTcS9nTUI4NHdRRmg2aDdyLzQ2ZEhDL05xMWJLYXZOcGk0OWJsTDlSczIwZTN2ZUxKd1RLY2UxYmZQYWM2clBORTB0blBPWDVrei93eG1xaFVkV1Y4ZHV2ZFh0K240eWpMd1FZK21DbWZya25SY2xTVTJhdDlaRHcxL1ZoSEdmYWZXeUJjckt6RkRkaG8wMTVNRm5WTGxLVlMxZE1GUFRmdjlSc1FmMnlzOHZRRzA3WHF0QlF4NlJsNWRYZ1RYWTdYYjlPZkU3elo4MVRVZVBIRmFGaW1HNnBsc3Y5Yjc1RHRsc3JoOFRKQjQrcEQ4bWZLdjFxNWZxUlBJeEJRV1hVY01tTGRWMzREMEtqNmptMGpicGNMeCsrK2tyclYrOVZHbHBKMVFsc29adXViM2dnSytrZlliZGNiMk9IVW1VSkwzOWZ6K3JhdlhhT25ZMFNjTnV2MDZTWlBQeTB0amZGdWlQQ2Q5cTRleHBPbllzU1pYQ0luVGpnQ0ZxMzdtbnkxaFptWm1hL010WUxWMDRVMGVTRWxTdWZLaTZYdGRYOXB4c1RmenhLMGxTOTE3OU5lVEJwMTM2QlFhSDZQTWZwaGY1dWs3MzlhZHZhc0dzcWZuTzEybHdoZTUvZkdTeHh6bGR1ZktoSmVvSEFBQndLU0hBQWdBQUFBQ1VHb3ZtL0tYalI1TmN6bzE4Nnd2bjF3bUhZalg4d1FIU3lRQXJ0SEtFUHZpeTRMMnFoano0dEJiUG5hNU42MWJLeDhmWEdXUk0rKzBIU1ZMOXFHYnFkOXRRU2RMcVpmTTE0ODlmWkxQWjlPeHJuempIT0gyL0k5TTA5ZG43TDJ2eFBOZndZOS91N2RxM2U3dDJiZCtzaDRhL2txK090TFJValh6cWJpVWNpbldlMjdSdXBkNTQ4UkYxdS81bWpSLzdxZk44VG5hMlpreVpJRU9HN2hqNlJJR3Y2N1AzUjJuWndsa3U3OG12NDc3UTRVTUhYUUtWUFR1MzZNMlJqeW90OVlUejNMR2pTVm95YjRiV0xGK29sOTc2UWpWcTEzZU84ZkxUOStuNHNTUE90dnYzN3RUL1JqK2pvT0F5QmRaUmtqN0ZjZWJyaTR1TjFtZnZqMUxaY2hYVXFHa3JTVkoyVnBaR3YvQ1FkbTNmNUd5WG1CQ244V00vVlpseUZjNTZENXZOcGwzYk4ybnZybTFGdHV2U3M2OHpsSFRXRXhPdHB4NjRwUVN2TEwrQ0FqWUFBSURTZ2dBTEFBQUFBRkFxWkdkbDZZOEozeGJaNXZzdjM1YzlKMGYrQVlGS1QwdlY0ZmlEeXMzTmxkVnFWVXJ5Y2ExYU9rOWRldDVVYUgvVE5PVXdIWktrNEpBeWltcmNRcElVdTM5UFhnUERjSjQ3MDh4cEU1M2hWYjJvcGhwNHg0TXlMQmI5T3U1emJkMjBWb3ZuVGRmVm5YcW9hWXMyTHYxMjc5aXM4SWpxdXZXdWg3UmoyMGF0WGJGSWtwUjArSkRHai8xVVRacTNWc1BHTGJSd3p0ODZHTE5QT3JtTTRtMzNQaWFMeGVJeWxqMG5SeXNXejFHWEhqY3B0SElWclZvNjM3bXYwL3haVTlYMXVyNnFWVGRLV1ptWittRDBDS1dsbnBETlp0T2d1eDlWVk9NVzJyVjlzOForL280eU05TDE3V2Z2NkxVUDh0N3ZyejRlN1F5aS9BTUMxZTM2ZnZMeTh0S3N2eWJwMkJtQjRpa2w2WE0yOXB3Y3JWMnhTTDM3M1NHcnhhcnBVOFk3bDkyYlBmMTNaNEQxNTIvam5PR1ZZUmk2cGx0dlZRNlAxSXJGYzdWM2Q5R2gxQ2xyVnl6VzVGL0hGdG1tUTlkZStjNkZsQzJ2dXg0WVhvSlhsMS9WR3JYUHl6Z0FBQUNlaUFBTEFBQUFBRkFxekpqNmk1SVM0d3U5UG4zeWVLMWJ0VVNTTk9UQlp6VG1rOUhLenNwU1RQUnUrUWNHNmUyWEhsZGNiTFN5c2pKMDNZMkRKRW1aV1JtU3BPeXNUSTBhZnEvQ0k2b3BLelB2M09ybEMzUlgzdzZTSkh1dVBlKy9PVG5PYzZlMGF0dEpEdzEvUlZNbjVjM2M4dkh4MVRPalBwRC95YVVMQjkvem1GNTQvRTVKMHFxbDgvSUZXRjdlM25yeHpjOVV0bHdGbWFhcHArN3ZyME1IOC9iWXFsRzd2cDU1NVVOWkxCWmQxYTZMSHIrM3J5UXBQUzFWUjVNT3EwSm9XTDczNGU1aEk1d2gzWFUzRHRJend3WTZ4MXU5YktGcTFZM1Mwb1V6ZFRUcHNDU3BWOS9iMWJQUFFFbFMxUnAxdEhibElxMWR1Vmk3ZDJ6VzBTT0p5a3hQMDlhTmE1empQLy82SjZwVk4wcVNkSFhISG5ybW9WdVZrNTN0VWtOY1RQUTU5eW11K3g4ZnFUWWR1a21TZ3N1VTFiaXZQcEFrSFlqZTdXd3paL3J2enE4SDMvT29ycjlwc0NTcDU0MkQ5T3pEZ3hVWEcxMmlleGRIUUdDUXJ1MTlpeGJOL1Z2ZmZmRmVpY1pvY0VWekRSOVpzcjRBQUFDWENnSXNBQUFBQUVDcFlMZm5GSHB0L1pwbCtubHMzdEorbGF0VVZidE9QVFJ6MmtUdDJyNUpmMDhlcncxcmxpa2wrWmdrYWZlT0xWcXpZcEcrL3VRTjV3d2h1OTJ1bmRzMnFrclZHc284R1dBNUhBN243SjdUblhrdU95dFRoK01QNmtoaWd2UDYvWU92TGJET3BNT0g4cDJyWHJPZXlwNWMxczR3REZXdlZjOFpPRFcvc3YzL3MzZWYwVkZWWFFDRzN6TTlqUlJDQ3dSQ2gxQ1MwSHRIaW9vVUM2S0NEVVJGUlJTN0lpb2ZLb29OQVVGVXFnZ29vSFFRcEJmcHZVTWc5RTU2TWpQMys1Rmt5TTFNUWtCa0FQZXpGb3M1OWU1N000RXdtM09PYTVWVmtXSWw4UE1QY0czNWw1eWM2RGFYd1dDZ1NjdTdYV1dUeVVUdEJzMzVmZXBZQUU2ZHpOaW1jTmUySzJkN3pmcHRQTE9tVDNDVm5abmJMMmJGZXp3dTFsVXVVejdTbFlnQ0tCb1dUdG55VmRpOVk1TXVqcjNadHU3TDc1ajhxbG4zU2dLeFF1VnFydGNwU1JuUDQvU3A0N3B0QzF1MHZiTGl6bXcyVTZkaEMyYjhrdmRLdnB4R1RKaUxmMERHT1d1L2pCdkJyTXhrWlY3UzA5SklTa3dBNE1ublg4ZG9NQUtRbUJqUHBCOHkzcXVObXJlamN0VVkxNWo1czZaeTVOQStVcEtUcmlrK0lZUVFRb2pia1NTd2hCQkNDQ0dFRUVMY0VTS3IxZ0NnUnQzR3JtMzJ5RHd2Nm90QnIyRzNaNnlTOHZNdkFKbXJsL2J0M3NieXhYTWdjMlhVWXoxZnBtVzdUdnk5Nmk5ZGtnT2dlSGhwS2xldHdjcS81Z0Z3ZDZkSDZQSklUd0FXejV2T2hPKy93bVEyTStybmhicHhSb09SMkVON2RYWDJkTS9KdHZRMDkzcGZYejlkMld5MnVGNzdaYTdpeW1LeDJsd0pMRTNUM09meUQ4QnNzZWpxc3AvVGxSWFhwWXZucjlSbFBqZVA4YWFuY3psYjM5QkNSZHo2Mkh4ODNPcXVaMHgrbU14bUxGYXJxK3pqYytYWk9aMU90MnY3RndqVTNUK0FyNS8rZWVlSDBXREVaTXI0aUNYbm1WZjU0UjhRaU1ub1B0NW04OUdkQjJZMHlzYzRRZ2doaFBqdmtKOThoQkJDQ0NHRUVFTGNFVXFYcTB6THRwMG9WS1NZSzRHMWVONE1maHp4cWNja1RFenRoaXlZTlJXQThGSmxlZkdOUVpRb1dRWUEvd0lGTUpwTWhCUXN6SmxUeC9IMTgrZXprYjl3N3N3cDBsSlRBU2dZV3ZpcU1abk5Ga3dtRTdac1NaSUNnY0Y4TjJuK0RidnZhNUdha296VDZkU2RqWFVtMjZxdndLQVF5SkhVZXVLNTE3anI3dnR6blRQMjRKWGtYRUw4SmJmMnJKVm4yWm15SmVIeU8rWkdNWm5NcnRmSmlRblk3WFpYOGduZy9Ma3oxenpuM045L3dacVpPTnUvZS9zMWo1ODZmaVJrSnE2eXIzRDdlL1ZmN05oMlphdkY4Ly9pY3hGQ0NDR0V1TlZJQWtzSUlZUVFRZ2doeEIzQmFzdFlRVFh2OThtdXVqL256Y0J1dDJNd0dDaFNySVJyNnoyQTZqWHFVYkJRRWM2ZE9VVnd3VkJYOGdxZ1RMbElSazlleEliVlMvbjI4d0d1K2hQSGo3cGViOTZ3aW5HanY5REZZRTlQNThuN203bktqL2QrbFRiM1BralJzSkpZclRaU1UxTzRmT2tDMnphdG8xcE1IZDNZNU9Ra3Q5VkFOMXA2V2hvYjE2MmdWcjJNYmZZdVg3ckFtdVdMWE8zbEtsVUZvRlRaQ3F4ZHVSaUExVXNYMHJwOUY3ZVZSU2tweWRoc1BoUVBMKzJxMjdOcks2ZFBIYWR3a1RBQWR1L1l6TkhZQTI1eFhNK1lHNlZJV0RnR2d3R24wNG5ENFdEVjB2bXViUldURWhOWXMyemhWZWZJYWZya01mOG9wcnM3UFlJeE00bVdsQmpQK05GZlF1WjdOTEo2VFZlL3VUTW5jK1RRdm45MExTR0VFRUtJMjRVa3NJUVFRZ2doaEJEaUZoY1pHZW0vYytmT0JHL0hjVHV3Mm15NmNvOW4rakhvN2VkNTRiVkJiTnUwVnBmQU1oZ01ORzExTDcvOS9EMWJONjVsOGJ3WnRHamIwZU04V2Zaa081ZXBWSm1LYk4yNEZxVVVGb3RWMXk4dExWVzNoWi9aYktaUjgzYjhPVzg2QUY4T2ZvTzdPejlDUkptS0pDYkVjM0RmVHZidTNNcWdyOGJlb0NlUnUyR2Z2a1BydSsvSHg5ZVhwWXRtdTg1aENpZ1FSSjJHTFNEejdLVmZKMzJQdzI1bjk0NU4vTytkUGpScGVROSsvZ0djT2hISHlyL20wNzdqd3pSb2VoZVIxV29RVUNDSStNc1hjZGp0dk4rL0p5M2JkaVE5UGQyMXdpMm42eGx6by9qNCtCSmRxd0ViMTYwQVlOVFhnemgwWUErQmdjRXNXenpIYmV2SS9EQ1p6UjdyODlwTzBHZ3lZYlZtdk0vRzUwaUVabG05ZkNIck1oT0pXYXhXbTJ1Y0VFSUlJY1NkVEJKWVFnZ2hoQkJDQ0hHTE01dk5iOGZFeE5SMk9wMmp0MnpaTWhWd2VqdW0yMFdGeXRVWk11SVhDaGNKWTl1bXRicTJJNGYyRVZPN0FZdm0vTXJsU3hmNFljU25CQVlYcEdiZHhybk90M1hUT2dDQ0N4WnliU0ZZUEx3MFEwWk0xdlhyLzJ4WDRvNGMxTlYxZS9JRjl1M1p6cEZEKzBoS1RHRHErTzkwN2NWS2xQckg5M3MxQm9NQkgxOC9adjAyUVZkdk5CcDVwdSs3cmhWZ2hRb1g0OGxuWCtQN1lZUFJOSTN0bS85bSsrYS9QYzVwdGxoNDR0bitmUDNKMndCY09IZUdhUk5IUSthV2hFSEJCWFdKdytzZGN5TTkrblJmOXV6Y1FtSkNQQTY3blhrek03NStKcE9KcUpyMTJiSmg5VFhOTjN6c2JBSUNnenkyYVU3M2IxZUh3NEhEYnFkN3IzNXViWW1KOFV6NjRSc0E2alZxUmVXcU1SN25QWEpvSHlWTGw3K21PSVVRUWdnaGJpZVN3QkpDQ0NHRUVFS0lXNXhTeWtjcDFkSm9OTGFzVWFQR2Q1cW0vZXAwT21jNW5jNWR5Y25KeC9mdjMzL1oyekhleXJLMnBzdGFhWFR4L0ZrR3Yvc2lXemV1NGNYWEIvRjQ3MWY1K3BPM2NkanREUDJvUDEwZTZVbUgrM3RnTXBsSVRVMXh6WFB5K0ZIMjdkb0tRRlROK3E1NnV6MmRrOW0yRnN5cXk4blh6NStCbjMzUG5CbVRXTHRpTVNlUEgwR2hDQW9KSmFKTUJacTM2Zml2UFlNc0JxT1Jkd2FQWVB6b0w5aTlmUk5LS2NwVnFrcVhiajJwVkNWYTE3ZEYyNDRVTDFtYTJiOU5aTyt1clNURVg4TFB2d0NoaFlwU3MxNWpxa1ZmMlFLeGZwUFcrUGo2TVgzeUR4dyt1QWVUeVV4azlabzg4dVNMalBwcWtNZGsxUFdNdVZHS0ZTL0p3TS9HOE12WTRlell1aDY3UFoweTVTSjVxSHR2MXE5WjVrcGcrZnI2NXpySHZmYy9ScXYyblFId0N5amdzVTk2ZWpwN2QyOXpsYzJaNTJRNUhRNm1ULzdCNHhpbmRpWGh0WG45U25adjMrU3gzNzBQZEpjRWxoQkNDQ0h1YUpMQUVrSUlJWVFRUW9qYlM2QlM2a21qMGRqZFlEQWNEZ2dJMkJVVEU3Tk8wN1Q1bXpkdjNnVFl2UjNnclNncE1ZRWRXOWNEY1BiTVNjNmVPUW5BcFl2bmFkdmhJVGF2WDhXeVAyZmpkRHBaOWRjQ2F0WnR3cXhmSjdCN3gyYkkzQXB1L3F5cHJtMEJHN2RveDlIREdlYzBuVHgrbEpkN2RzbFhIRGFiRDUyN1BrWG5yay9sMmE5QjA3dG8wUFF1ajIzUDlodkFzLzBHZUd3YlBtNjJXMTF3U0NnL3oxNm5xM3ZqZzYveUZXL0Z5Q2dxUmtibHEyOTByUVpFMTJyZ1Z2L2VKeU52MkpqODNsK1dzUENJWE51S2gwZlE3NTFQM2VxblRScnRlbDIwZUhpdXNmdjYrZVBycDA5dy9UbDNPdHUzL0kzWmJNRnVUK2ZndmwyY09oRUhtVnMwMm13K25EOTNoclhMRjlHKzQ4TWU1MDFLU25DdFJxc1NWWnVLbGF0NzdPZElUMmZMaGpWRTFheVhhNHhDQ0NHRUVMY3pTV0FKSVlRUVFnZ2h4SzFQODFCblVrcVYwelN0ckZLcUhmQkdkSFQwWVdEYytmUG5SeDg1Y3VTQ0YrSzhaUjA1dko4TDU4NjR5cUdGaTlHcVhTY2FObTBEd0ROOTM4VmdNTEJ1MVJMNnZmTXBCVU9Mc0hyWkFod09Cd0RCSVlXbzI2QTVpMlpQSXl5OE5KV3IxbkFsc0l3bUU2R0ZpdXF1ZC9iTVNSeDJ5U1hlcWk1ZU9JZk54eGVielVkWHYyN1ZFblpzeVVoMG1rd21xc1hVdmFaNWZYejlXTE44a2NlMkppM3ZCdURNcWVOTSttbFludk5rbmFtMVllMHlOcXhkbG11L3hpM2FTd0pMQ0NHRUVIY3NTV0FKSVlRUVFnZ2h4RzBrYXdWUU5pb3ptV1ZTU2xVQlBna05EZjFmd1lJRi8zSTZuYk0xVFZ0dk5Cb1BiTnEwNmVSLytleXNTbFdpcVZtdkNhZFBIcWRUMXllcDI3QUZCb1BCMVc0d0dPajEwanUwNzlTTnNNeXpxS0pxMW1mbjFnMEFkSHpvQ1NwVmphSDdNNjlRdUVoeGxGS3VzY1hDU3VickRDeHg2emk0Ynhjam9TYVFXd0FBSUFCSlJFRlV2L2lBK2sxYUUxRzJJdWxwcWV6ZHRaV1ZmODEzOVdsMTkvMkVGQ3prS2x1c1ZxeFdHemFyVHk2elF1VnFOZHpxQ2hZcVF1MEd6WG53c2Q2UXVhcHQvSXlWTi95ZWhCQkNDQ0h1TkNvZmZZUVFRdnpIeE1URUZGSktUUUR1MGpUdHROUHBmR3pMbGkwTHZCMlhFRUlJOFY4VkhSMzlwY0ZnZUFuUENTekkzT0l1SjAzVE5LWFVLV0NYMCtsY3I1UmFrcFNVdENKVitmUlRpdmNCSHUzUmkwZDc5UHJYNytGV2tKU1lnSSt2bjhkbmxSZE4wNjU1akxpMWJWeTNnaUVEKytYYVhyZGhDNTd2L3lIbXpKVlExeUlsSlJtRndtQXdZRFNaZElsU2tic0pZMGN4WWV3b0FEU045dy92M2p6UTJ6RUpJWVFRd3J0a0JaWVFRZ2doaEJEaWxoSWRIUjJrbFBwY0tmV2t0Mk81VmVSTVd1V1dUTW5lVHltRnl1aFlGQ2hxTUJpYUEvMzkvUHd1Vyt6YXZpUzdodE56THV5T2xmTzhvdnlTNU5XZHAwU3BNalJ1MFo3ZE96WnorZUo1N0E0N2dVRWhsS3RRaGFhdDc2VkduVWJYUFhmT2JRbUZFRUlJSWNUMWtRU1dFRUlJSVlRUTRwYWlhVm9kcGRROTNvN2pkcEhiaWl3UFVqUk5PNnFVMnBQdWRKb3poa2xpUnZ3M0ZTNFN4bk92dk8vdE1JUVFRZ2doUkI1a0hic1FRZ2doaEJEaWxxS1VDZ1FzM283alZxWnBtdXRYZHBtcnJuUXJoakw3bmRVMDdUV2dvMUxxb1JTN1dxMUo4a29JSVlRUVFnaHhDNU1WV0VJSUlZUVFRb2hiMld5bDFDTWJObXk0NU8xQXZDazZPdm9McFZUZm5QVTV0N2JUTk0ycGxFb0QwcHhPNXg5S3FWR2JObTFhQVRpejk0dW9GSDBUb3I3ejJlMTJGcytienViMXErajN6aEJNcGh2elQyeW4wL21QejAxS1RJaG43WW8vYWRHMjR3MkpLUzluVHAvQWFyVlJJREQ0WDcvV3RVcEtUT0Q4dWRQWWJMNkVGaTU2dytaTlRVbkJhclBkc1BtRUVFSUlJWVE3U1dBSklZUVFRZ2doeEczRVE5SktBeTRBdTRCdGRydDlhVXBLeXFLOWUvZWU5VnFRL3hHL2pCM09yTjhtQURCenlvOTA2ZGFUSFZzMzhOR2J6K1o3amllZmY1M1c3YnZvNm9ZTTdFZDZlaG9ObTdhaGVadjdkRzIvVFI3RDFQSGZBZkRTbTRPcDE2aWwyNXl4Qi9jeTZPMCt4RisraUkrdkgvV2J0Q2IrMGtWNmRidnJtdTd2azI4blVUS2lYSzd0NTgrZTVvdi92Y0grUGR0cDFhNHpUL1Y1dzlWbXQ5dXZLNkUzb0g5UDl1N2NRb21TWlJneVl2STFqODl1OURmL1kvRzhHUURVcU5PSS9nT0cvcVA1VnY0MW45K25qZVBVOGFORWxLdkUrNStPK2tmekNTR0VFRUtJdkVrQ1N3Z2hoQkJDQ0NGdVE1cW1wUUZyZ0prT2gyTmxlbnI2a1YyN2RwMEdITjZPN2IraTNYMWRXVGg3R3FtcEtVeWYvQVBWYTlUN3gzTmV2blNSYlp2VzRuQTRzRnB0Ymdtcy9BZ0xMNDEvUUFIaUwxL2t4eEZEcUJKVkMvVVB0NHpVTkkwOU96YXpjdWtDN3U3VWphSmg0UVFYTEVSU1lnSUFTeGIrem4wUFB1NWE1ZlRMMk9Hc1diNklTbFZqYU4veFlVcVhxK1NheTI2M2s1cVM3UGs2em96RmdrNm5rOFNFZUk5OXJEWWZWM0pzNjhhMUpDVWxlT3puSHhEb2VyMWw0eHBXTDF1SThyQ3l6Yzh2Z0dveGRRRFl0M3NiNTg2ZTlqamZtVlBIT1hKb0h3QjdkbXhteWZ5WitQajU1em1mRUVJSUlZUzRmcExBRWtJSUlZUVFRb2hibndMc1FKcW1hV2MwVFJ2dGREckhidDI2TmM3YmdmMlhoWVFXNXI2SEhtZkt1SkU0SEE2bWpCOUo3Nzd2MGIzbnk3cCt2MDhieDhVTDV6Q2FURHp5eEF1NnRncVZxK3ZLZjY5YWdzT1JrWU9zNjJGMVZYNll6V1o2UFBNcUg3LzNvaXVKOWVMcmcvaitsejhCY0RvYzlIbmlYdEpTVTZuVG9EbTlYbnJINHp3K3ZuNnUxNHZuemVEN1lZTUJDQW9Pb1V1M25paWx1S2Z6STR6NmVoQU91NTI1TXlmeldNK01uUzUzYkYzUDJUTW5XYkZrTG0zdWZVQTM3L28xUy9scThKdDUzc1B4dU1NOC9aRG4rMy9odFk5bzBEUmpOZG40MFY4UWQrVGdWWitKdzI3bjYwL2U5dGhXc25SNVBoazJFWUM1TXllemV0bkNxODRITU9yclFWZWRUd2doaEJCQ1hEOUpZQWtoaEJEL2toSWxxb1FZQTR3UmFDcENRU2hPcDUrbWxLOVNCdm43VjRpYndLazVrcFV5SkNsVXZOUHBqTk9jenNOSDkyOC9BcVI3T3pZaHJwWEQ0VmluYVZxc1VtckY1czJiTitRODAwcDRUL3Y3dXJGZzFqVEtWNnpLTTMzZkpURXhZOVhRZ2YyNzZQUHFCd0FzbmorVGl4Zk9ZVEthYU5meFlRQ0dEWGtYWDc4QUtsYlJuMGUyZE5Fc0FJd21FeFVqbzVnMmNiU3VmZGYyamE3WGE1WXZJaTVXbjd4cDBQUXV3a3FVSXFwbVBhcEUxZUxRL3QzVWFkQWNwUlNwS2Nra0pGem0xUEU0MGxKVEFTaFlxQ2puenA1eXU2K1Fnb1YxNTNEVnFOc1k5ZTNIYUpyR3FxVUw2ZEt0WitiMTJqQmh6RmNrSlNhd1pNRk11blI3R3J2ZHp1RURld0FJS0JCRW1mS1IvK2daNTRkU0NvdkZlazFqMHRKU3lkaUIwNTNWYXFOSVdEaGtKcitjbWhPRE1tRE1zUzJpMCtIQTRYU2dVSmpNWmdEQ1NwUzY3dnNRUWdnaGhCQlh5QWRvUWdnaHhJMWxDUzhYMWN4bzBycUJxcVdnZ0tid0IyVlZSb01KRFpOUy9MTlQyWVVRK1dKVVJydW1hWGFGWmpjYVZhSm1OQ1dVcmhSMTBxRTUvMUNvS2JGN3RoN3lkb3hDNU5lMmJkdW1TdkwxMW1TMTJSand5WGNVelV4MkxKdzlqVi9HalFDZy9YMFBVNlo4WmJjeEY4NmZaZld5aFRnenQ4dkw2aE4zNUNEN2RtOERJTHhVV1RSTjQ5ZEpvOTNHWjFtNzRrL1c4cWV1cmt6NXlxNEV5aFBQOXNkcTlibXlyZCs0RVN6N2M3YXUvOXlaUHpOMzVzOXVjK2M4bXlzNEpKUktWV0xZdFgwangrTU9zMlByQnFwVXI0blZacU5SODNiOHZXb0pEWnUzdzJHM3MyTEpYRmRpS0twbWZWMGlMS2ZuWG5uZjlld0F2aC8yTVVjTzdhTncwZUwwNmYrQnEvN1VpV044KzlsN3VjNFRIbEdPVDRaTjVNaWhmWmhNWnNMQ0kxeHRSdzd0NC9peEl3RFVxTjBJaXpVajBkWC8yYTY1cnQ0S2p5akhhKzkvZ2QyZXpyQWg3N0p6NndZaXE5ZWtULzhQZGYybVRSekY0bmt6Q0FrdHpFZURmNEljSzllRUVFSUlJY1Qxa3dTV0VFSUljUU9FbEN0WHdOL2syOVNvREVPQmNtUTdaeUw3Sy9YUGpwOFFRbHdiazFJcTYrZGRmd1ZGVUtxc1VSa2JhcHIyZmtTbHFNa09MZVh0bzN2OHo4QUdTUXlJVzUyOFIyOWgyUk13OVJxM2NpV3cxcTFhNGpHQnRXTEpYRmZ5cWxYN3pxNzZlVE4vY2IwMktBTktLYXhXbTI2czNXSEhZYmNEWUxaWU1DaDljc2hnTkxwZUZ3OHZmUVB1N29wbWQ5M3JXZ0gyeDdSeFZLbGVFNENIdWo5TDkxNzlNR1plKzgrNTAxMWptcmErTjg4NXcwdVZKYUpzUlZmWjV1TUxnTVZpcFh5bGFxNTZxODNucXZIWjdYYUdEWG1QdUNNSHFWMi9HZmM5K0RobHlsZG04ZnlaelA5akNnQ2pmbDdvU21CZHphZnZ2OHorUGR0ZDVaMWJOL0RjWSswOTlqMS85clNycld1UDU3anZ3Y2Z6ZFEwaGhCQkNDSkU3U1dBSklZUVEvMGlrSmFLQ3NUMUdZeThGcmJQLzNhcVVvbkJvSUtWTEZxVjQwWUw0Kzl2dzg3RmhOc3RmdjBMY0RJbEpLU1FscDNMK1FqeXh4MDV6Sk80TWlVa3BrUEg5YVFNZU4ySnJHMUhSUGpZdFBYTDQ4WU03ajNnN1ppSEU3ZU85VjU3aXlLRjlybkx0QnMxNS90V0JGQTBMcDFTWkNzUWUzTXZhRlgvU3RjZHpibVAvV3ZBSEFKV3F4RkF5b2h3QWx5NmVaOWxpL2Vxb0lzVks4Tk52eTNSMXYwMGV3OVR4M3dIdzNDc0RxZWZobkt6bnV0OU5Va0s4cS96dXh5TW9XNkVLWFI5L252c2U2TUdIYnozSHhmTm5LVk0ra3VkZmVkL1ZiKy91Ylh6MzVZZHU4MlZwMExRTms4Y081OEs1TTJ6WnNKcUQrM1pScG54bGZQMzhYWDAyckYzTzhiakRrSmxBcXhwVks4L25hTGVudTdZekJDQno1WmFtYWJwNmU3cm5IRzZ0ZWswcFU3NHlCUXNWSmY3eVJZSUxGdUpvN0FIV3JWckN1bFZMYU52aElkTFQwMXo5YmRrU1lkbkhlbUt4V3JGYWJhU25wK0YwT2pFWURKak5GbDBmaDhPT1BUT2htSlZzek5wS1VBZ2hoQkJDL0RQeUNab1FRZ2h4L2N3UkZjMGZvdFJUYUZvSUttTjlWWUVBWDFvM2lhWmR5OXBFaEJjaHdOOEhYeDhyWnBNUms4bVk1elk2UW9nYngyNTNZSGM0U0UxTkp6RXBoUXVYRWxpellUZHpGdjNOMXAySGNUaWRLS1dLb3JTWExXWnptL0FLMVY4OHVuZnJjbS9ITFlTNFBhU21wcENhbXVJcXAyVjdYYTlSUzJJUDd1WGs4YVBFSHR5ckc3ZG41eFpYZ3FmMTNWZTI2SnN4NVNmUzA5SzRFVkpUa25XeFphMzJDZzRKeGVsd2NQSDhXUUNxeGRUUmJiVjM3dXpwUE9jMW1VeTB1NjhyazM3NEJvQ2ZSbjdHd00rK3ovb1JpUFQwZE1hUC9zTFZ2OTE5WGE4YTY3djludlJZZit6b0lYcDBibnpWOFEvMWVCWXlFNEJmZi93V2JUbzhSSmR1VHpQNXArSHMycjZSdWcxYk1IL1dWTWhjc1dhMldOekc1aHJiNEl5VmRCKy8reUpiTnE2aFduUWQzdmp3YTEyZnNhT0dNbS9tWkVJTEZlV2JuMzYvYXJ4Q0NDR0VFQ0wvSklFbGhCQkNYSWRDRVpGRi9XeVd5VXJSTktOR0VWVEFqMDd0R3ZCeTc0NzQrMTE5bXhzaHhML0xsSmswdGxrdEJCYndJNnhvUWFwVUxNV1REOS9GdWsxNytIRG96K3c3ZUp4MHU4T2lERVNiTkJhV3JCajE5SkU5VzM2UjdkcUVFRmZUclBXOVhEaC9sa1Z6ZmlVNUtWSFhWcmRSU3c0ZjNFdjlKcTBwVnJ5VXJpMmlURVVlNy8wcUsvK2FUKzBHelFFNGQrWVVDMmRQODNpZHBNUUV6cDQ1NlNwZnZuakI5ZnI4MlZNY09iemZWUTR0VkJSZlAzL2FkM3lZd3dmM3NuNzFVbGZiMEk5ZVkvL2VIYnFWVEl2bS9LbzdFeXQ3MitTZnZtWHRpajk1NTMvRGRmSGNkZmNETEpnMWpiT25UN0J2OXpZV3o1dEJ5M2FkQVBoOTZrK2NPaEVIbVdkSU5idXJRejZlNUkweDRmdXYyTGx0SXp1M2JhUk11Y3AwZmZ4NXVoZDRtWWl5RlptV2VZNllmMERnVmVmSk9ydExlZGozZWZ2VzlmUitwSzJ1TGlVNTZZYmRneEJDQ0NHRTBKTUVsaEJDQ0hHTndzdFdyMm8wcTZGQUl3Q0wyVVNycGpFODJxVTV0YUxLWXpJWnJ6NkpFTUpybEZMVXJWR0o4ZC8yNS9kNWE1anc2eElPSEQ0QlNsbU5NTFJVcGVvbFkzZHYvUVJ3ZUR0V0ljU3RLMnQxMGVxbEMxd0pyS1RFQkxadVdndVpaMkZwbXNiR3YxZVFuSnpSN3RTY2JGcS9rc0RnZ3JUdjFJME5hek8yQjR5c1Z0TjFycFhSWkhLOUJ0aThmaFhmZlBxT3h4akdqLzVTVjM3cHpjSFVhOVNTTHQxNnNtYkZuN29FMXFWTEY3aHc3b3l1ZjJKQ1BJblp0aHJNTGlreGdVc1h6cnZWVzIwMnV2ZDhtYUdEWGdOZzNPaWhsS3RZaGZQbnp2RHJwTzlkL1hvODg0cnJUS3ljSXF2VjRKM00xVTA1alIzNUdVZGpEeEJhdUJpOVgzN1BZNThTSmQzUDl1clM3V2tjRGp1cmx5M2s0UDVkZkRuNERiNGMvUnRrbms4RkVCd2M2bkcrN0xLMkd6UWEzVDh1Y2RqdFhMcm8va3lFRUVJSUljUy9ReEpZUWdnaHhEVUlMVlc1bU5Hc2ZnRXFLWVhCMzg5R3Y5NmQ2ZFN1UG9FRi9Md2RuaERpR2dRSCt2UFlBeTJvSFZPQkR6NmZ4THBOZTBGUlNHRjRPNkppOVVLSDkyeDkyZHN4Q2lGdUw2ZFBIdU9yd1cvbTJwNmVsdWF4L2VmWjZ3Z3ZWWmJpSlVzVGUyZ2ZKK0ppYjNoc3I3Ly9oUzR4bGgrR1hCSlF0UnMwbzI2amxxeGQ4U2RwcWFsODltRi9raExqWGF1WFd0OTlQMVdxMTh4MTNnS0J3Ym0yUjlXc1QzSlNJdDJlNkpQbkhHU3Vsc3JhZGpHa1lHRjY5MzJQbG0wN01YYlVVRnExNjRUVjVrTnljaEtuVHg3TDZGT29zUDY4cld4TVpqTUdnOEcxQ3MxaXRaQ1VtRUJ5VWlKUHYvQVdUczJaWnl4S0tjNmZQVTFJYU9FOCt3a2hoQkJDaVB5VEJKWVFRZ2lSVDBYTGxTdGtOVmwvVjRwSUFIOC9Id2EvM1lPN1c5WHhkbWhDaU90a01CaUlyRkNTSDc1Nm1XZGUvWVkxNjNmamNEcDlNYWpuU2xhcXR2UEk3bTAveUVvc0ljVE5FRldyQWUwN1BzeUhiK1orTGxQSEI1K2dZdFZvWGQydWJSdjVmZXJZcTg3djYrZlAvajNiR1Q1MFlMN2lLUjRld1N2dkRNbTF2ZGRMNzNEazhINU94TVZ5OXZRSlYzMkZ5dFhwM3F0Zm5uTnJtdVp4aTc3RWhIaFdMVnZBK2JPbk9iaHZGL1didE5hMVg3cDRIclBaZ3ErZlB3QjdkbXhtNE92UGVMekdqeU9HOE9NSWZmenJWeS9OOVZ5dGR3YVBvRXIxbXNSZnZnU0EyV0psNnNSUnpKczVPYzk3eWM1Z01ERHhqelg1N2krRUVFSUlJZkltQ1N3aGhCQWlIeUlpb29Nd2FaOHFSVFJBa1VMQmZQajZvN1JxRXVQdDBJUVFONEN2emNyd2o1L2o3Y0hqbUx0NFBRNkgwMkxBOEZhcEN0WGlZdmR1bSt2dCtJUVF0NGNTcGNyUzk2MlBLVmVoaXE1KzBEdDlPQkVYaTlWcTQvUHZwbm9jKytCanZUR2J6WG5PWDZwc0JhSnIxdGZWSmVXeUJXQk9hMWI4U1VDQm9IeXY3aktiTFhtMisvcjZVYnQrTTdma1djUG1iVEdaOHY2b1ljT2FaVXo2YVJnTm05NUZRa0k4V3phc3BsaFlPRjI2OVNReC9qSUFzMzZiUUhEQlFyVHYrREFBcTVZdTRNZVJReWhYb1FyOUJ3ekZZRERrNno2dTFibk04OFlDZzBJd21jeVlMUmJYS2krVDJZelI0TDRxTFRVMUJYSTVOMHNJSVlRUVFsdy9TV0FKSVlRUSthRFp0Q2NWZEFWTU5wdUZwN3ExcGxuRDZ0NE9Td2h4QS9uNytmRHFjNTA1ZXV3TVczWWVBaWlsREladmkxZXFWUHZZN3QzbnZCMmZFT0xXNW5BNm1ESitKSDh0K0oxUlB5L1F0V1ZQZWhRc1ZNVGorS3Nsci82SlNUOE1Jems1a2NkNlh0a1o5YUh1ejFJbHFwWmIzKytIZmN5UlEvdnluTy9Fc1NQOE5QSXp0bTUwWDIzMDQvQlAyYmxsUFE4LzBZY2l4VXA0SEwvaXIzbWNpSXRsL1pwbEZDdGVraE54c1JnTlJzcVVyOHlyQTRieTJjQitwS2FtTUgzeUdKcTF2aGRmUDM5T0hJc2w0ZklsTnE5ZnhiU0pvM253c1djSUN5L05TMjhPempYTzJBTjdtVEhsUjhnOFcreVJKMTRnT0pjdC9zSkxsY2s0OXl2empLdENoWXZSOGFFbjZOVDFTUWErMW9zamgvWlJNTFFJcncwWVNsaDRCQUFPaDRQSlk0Y3o2OWZ4R2MrMHgzTjVQamNoaEJCQ0NIRnRKSUVsaEJCQ1hFVjQyY3BWRmRvZ3BRdzJnSFl0YXRMam9WYVljamtYUWdoeGUxSktVYko0WVQ1NTkwa2U3UFUvTHNjbks2QzBXYk5PSkRLeUF6dDNwbms3UmlIRXJXdkRtbVZzWUJsa2JvWG41eDl3dzY5eC91d3BqaHplcjZzN2QvYlVWY2Z0M3JISkxYRld0SGhKeWxlcTV0Ylg1dU9iNnp5blRzUXhaOGJQTEo0M0hYdTI4N1FxVks3TzVVc1hPSG44S0FCclZ5NW0vWnFsTkdyUm5yYjNQa2hFMllxdXZva0o4V3hjdHh5QStrMWFjL2pBSHQwMXFrYlY0dFVCUXhuKytRQmVlWGNJVHFlVGdhODlRK2VIbjZKS1ZDMTJiRm5QOU1sanFCQlpuZWlhOWFuWHFLVmJuSWtKOGN6LzR4Zm16SnprcW5QWTdZd2IvUVdWcXNSUXYybHI2amRxUlVCZ2tHN2N4blVyWEs4TEZ5ME9tU3ZOWG4vL0N6NTRvemVuVHNUeGR0OGVkSGl3QjZYTFZXYnlUOThTZTNBdkFBOC8wWWQ3dXp5VzY3TVRRZ2doaEJEWFRoSllRZ2doUkI1S2w2NWFCTFBoUnpLVFZ6SFZ5dkp1djI2WXI3STFqaERpOWxXaGJIR0dEdXpGQzIrUEpEazVGYVZvWHNwdTZoNExQd0JPYjhjbmhMaTFaRzBmbDZWVW1RbzRuZi9PSHhYalIzK1o3NzRweVVtNnN0T2hQODd2MkpHRDdOZ2FSRTdKaVFtNmNscHFLaHZXTFdmRmtybHMvbnVsN3Q0TUJnTjNkMzZVQngvclRWcHFDbU8rL1poVlN6TlduemtjRHBZdS9JT2xDLytnVFBsSTZqVnVTYVBtN1ZqNTF6elMwOUpRU3VrU1dHbHBxYTU1cTBiVjRxdnZwMk8yV05pMmFSMjdkMnppZisvMDRmNUhlaEo3Y0M4SjhaZjViZEwzcnUwVU5VM2pSRndzdTNkc1pzdUcxV3plc0lxMDFDdnoxYTdmakwyN3RuTHA0bmwyNzlqRTdoMmJHUGZkNTFTSnFrM0RabTJvVmE4cHZuNytiTm13MmpXbVF1VXJLKzFEUWdzejhMUHYrZUQxM2h5UE84eVVjU04xeitqaHg1K24zWDBQNS90ckk0UVFRZ2doOGtjK2ZSTkNDQ0h5NExDcURrWlVOUUIvUHhzRFh1bEdVQUUvYjRjbGhQaVhOYTViaGZZdGF2SHI3SlZvR21abE1Ed2FWcmJxL09NSHRoLzFkbXhDaUZ2SDBkZ0R4RisrNkNxM2F0ZVo3cjM2WWJia2ZYN1V6WkI5ZTcrd0VoRzg5djVRenA2NXNscHIyc1RSK1pvbk1UR2VDZDkveWZtenAzWDFaY3BIOHRUenIxT21mR1VBVENaL1huanRJNXEwdklleG96N1huYlYxY045TzRpOWZwRm1yZTFtOWRDRUExV1BxVXFod01kZUtyOU1uanpGdTFCZVVMbGNSUmNaWlVpbXB5U3ljL2F0cm5ucU5XeE5XSW9LL1YvL0YweSs4QmNDQzJkT1lOT1pydDBRaW1ZbW5KNTk3blpwMUcyTzMyMW0vWmlsTDVzOWc2OGExT0J3T3RtNWN3OWFOYS9EekQyRG9kOU5Zdm5nT0FFWER3dG0xZlJQSGpoN2kwb1Z6bkRoK2xNUDdkM3U4QnNEUFAzM0xMK05HRUJoY0VILy9BcFNyVkpWZUw3NmRyK2NyaEJCQ0NDRnlKd2tzSVlRUUloZEZ5NVVyWk1EUUdhV3NTaWs2dFc5QXBmTGgzZzVMQ0hFVG1NMG11blZ1eHRxTmU0ZzdjVllCRFUwbTZnT1N3QkpDdUJRdVVweGlKVXB4OHRnUkh1LzlLbmZkODhDL2VyMk9EejVCeGFyUnVycGQyemJ5KzlTeGJuMXIxR25NNm1VTHFSQVp4ZXZ2ZjRHdm43OHVnUlZhdUJpK2Z2NXU0MDRkUDZwTDFBU0hoUEx5V3gvemZ2K2VPQndPU3BZdVQ1ZHVUMU9uUVhPUE1VYlZyTWVRNFpOWnQzSXhzNmRQNHNEZUhWaXRObDU1ZHdnQmdVRzgrOGxJbHN5YlFmR1NaUUNvR0JuRmt2a3pBWmc3OCtkYzd6MnllazJLaDBkUVBEeUMrazFhdStxYnRyeUhXYjlPNE15cDQ2NjY4SWh5dEdoekh5M2JkbklsRTAwbUUvVWF0YVJlbzVhY1BuV2NKZk5tc25UUkgxdzRmNWJhOVp2aFh5Q1FacTA3TUhmbXp6UnBkVGRLS1daTytVa1hRNkVpWVZTSnFrVk03WVpZclQ1c1hMZWNYZHMzRVJkN0FLZlR5WVZ6Wjdodzdnd2Q3dStlNjMwSUlZUVFRb2o4a3dTV0VFSUlrUXVyeWJlSmdtWUFoVU1ENmRTK0FSYXovTlVweEg5RnRjZ0lXaldKNXFkZkZnR1lETXI0T2tUT0FEa0xTd2lSd1dxejBlZlZEemh5ZUQvTld0LzdyMXpEYURKaHRkb0FLRk8rc212YnZDejJ0RFFDZzBJQXNGaXNydnBHemR0eS91d3BXdC96QUQ0ZXpyVjY1S2tYUFo0Zk5hQi9UL2J1M0tLcksxZXhLcjM3dmtkbzRhSlVxaHB6OVppTlJ1bzNhVTM5SnEwNWR2UXc4WmN1VUtwMGVRQnNOaC9hZGJ5eTNWNlRsbmR6NnNReEZzK2J6cVdMNXozT0ZWbTlKcjFlZk1manRhdzJHMDg4MjUvbGkrZFFvWEoxcWtiWHBrUm1jaXczaFl1RThWQ1BaK255U0U4MnJWdEJXSGdwREFZRDNYdTlUUEh3Q09vMWJvV2Zmd0I3ZDIzRlB5Q1EwbVVyVXJaaUZVSUtGdExORTFXekhnQXBLY2tjUGJ5ZlkwY1BjLzdzS2VvM3ZldXF6MGdJSVlRUVFseWQ4bllBUWdnaGJqMHhNVEdGbEZJVGdMczBUVHZ0ZERvZjI3Smx5d0p2eDNXelJWU08ycWhRTVFEMzM5T1EvNzMxT0NhVDBkdGhDU0Z1b3JqaloybjV3SnVrcHp2UU5NM3BkR3BQSE5tN2RaeTM0N3JUUlVkSFA2Q1VHcVdVQ2dKbUs2VWUyYkJod3lWdngzVW5pYWdVUFVBcDNnZDR0RWN2SHUzUnk5c2hpWnRBMHpRY21XZGhHWTFHbExxMVBoSklTMDNGNGRTZjFXVzEyakFZREY2TFNkdzhFOGFPWXNMWVVRQm9HdThmM3IxNW9MZGpFa0lJSVlSM3lVK0JRZ2doaEFjbEswWTltSlc4c2xoTVBQL2tQWks4RXVJL3FFUllLRTkzYXdPQVVzcGdNS2kzUTBMS0ZmQjJYRUlJY1QyVVVwaE1Ka3dtMHkyWHZBS3dXSzM0K1BqcWZrbnlTZ2doaEJEaXYwdCtFaFJDQ0NGeWlJaUlEaklvMVRlci9GUzNOcFFxVWNTN1FRa2h2T2FKaCsraWVMR0NHUVdsU2dTRStqN283WmlFRUVJSUlZUVFRb2c3blNTd2hCQkNpQncwcXhhRDBrb0RGQzBVVE5mN21uZzdKQ0dFRndVSCtuTlBxem9aZTI5cm1vOHlHQm9WS1ZMZHo5dHhDU0dFRUVJSUlZUVFkekpKWUFraGhCQjZTaW5xS2xRb1FOMmFGU2xVTU5EYk1Ra2h2TWhvTkZDdlZpVkNRZ3FnTXZiY2lqYjdHY0s4SFpjUVFnZ2hoQkJDQ0hFbmt3U1dFRUlJa1UySkVsV0NVYW91WUxKWVRFUlhLWVBWYXZaMldFSUlMNHVzVUpKaWhZTXpTMW9sZzhWWnljc2hDU0dFRUVJSUlZUVFkelJKWUFraGhCRFptUDJNaFVDclIrYTJZZFVqUzkrU2g1d0xJVzZ1Z2lFRmlLcFNHaktXYVZvVnFvMjNZeEpDQ0NHRUVFSUlJZTVra3NBU1FnZ2hzdE5VSFlVcUNsQWtOSWpJQ3VIZWprZ0ljUXN3S0VYTEpqRlh5aG9kQUtOWGd4SkNDQ0dFRUVJSUllNWdrc0FTUWdnaHN0RU1QSnIxdW5YVEdsaXRGdThHSklTNFpkU05xVWhvU0lHTWdrR0ZsNnBZdmFtM1l4SkNDQ0dFRUVJSUllNVVrc0FTUWdnaFhDSXRDbHdmU0hkb1c5ZTc0VnluNU9SVWI0Y2d4QjNKeDJiaHJ1WTFzbGQxOFY0MFFnZ2hoQkJDQ0NIRW5jM2s3UUNFRUVLSVcwVjRCUldGVWxhQVlrVkNDQThyNU8yUXJzblJ1Tk44TVh3S2NjZlBNUDY3dDcyeWVpenUyR2tLaGdUaTQyTzlhZGY4Zk5oa2xGTFVpcTVFVFBYeUJBVDQ1dHAzL09UNS9ENTNwYXY4U3ArSHFGZTd5azJLTkc5MnU1MExGeE13bTR3RUJRVjQ3RFB5aDVsczMzWFFWZjdvbmFjSkNuVHYrOWVLVFd6WnRwL2dvQUFDQy9nVFdha1U1Y3Zldk8wd3A4NVl3c3c1SzF6bHQxOTVqTW9WSTI3YTlmOU56ZXBWWTlLdmZ3R2dES3FtdCtNUlFnZ2hoQkJDQ0NIdVZKTEFFa0lJSVRJcERORlpyNnRXTE9uZFlLN1JWeU9tTW1uYUl1eDJCd0RmalBxTlYxL282bXFmTnZNdmxxL2Urbyt2ODhnRHJhbFRzM0t1N1c5K01JcDlCK0tvRlZPUnh2V2phTm0wQnFFRmc5ejZwYWZiZWFidlp4dy9lZFpWRjFvd2tORmZ2WFpOeWErMHRIUisrMk1aS1NscFRKeXlFS1VVTXlZT29rVHh3aDc3bnoxL2lZT0hqN3ZLQ1luSjEzU3Q5SFE3bXFiaGRHcG9tb1pHeG11bjAwbGFtcDIwOUhSU1U5TkpTMHNuTlMyZHREUTdLYWxwSkNRa2taQ1lmT1ZYUXNidjV5OWM1dnlGZU01ZnZFeDhmQklBRDkvZlN2ZTF5MjdYM2xoV3I5dmhLcWVtcG52c04yTE1UUFlmakhPVmh3M3BlMU1UV0tmUFhHRFhubGhYT1RFcDVhWmQrOTlXdmt3WVZvdVoxTFIwbEVieEVpV3FoTVRGN1RqdjdiaUVFRUlJSVlRUVFvZzdqU1N3aEJCQ2lFektZS2llOWJwUytadjNZZitOa0ppVTRrcGVBZnc4YlJHTjZsVnpyUzQ2Y09nWUsyNUFBcXRsa3hxNXRzVWVPY25PM1ljQldMMXVCNnZYN1NDc2FFRWFOM0JQWUkzNjZYZTJiTit2cTdOWXpDaDFiZkZzM0xLWGxKUTBWN2w0V0dpdXlhdC82dnR4c3hnemZ2YS9NbmQyZS9jZi9VZmp0KzA0b0V0ZWxTaGU2SnBYbVowK2M0RnZ2NStlWjUrdW5WdFF1V0lFeTFadTRmQ1JFL29ZZGg3VWxSY3MvdHYxM3NpcFpIZ1JtaldLdWFiNHZNblgxMGFSd3NFY2lUc05LS3ZSWm93QUpJRWxoQkJDQ0NHRUVFTGNZSkxBRWtJSUlUSW9CVld6Q3BYSzNWNEpyQmQ2ZFdISjhrMmN2M0RaVlRkZzhBLzg4c1A3dVc1SGQ2UE5YYlJXVnc0czRFLzlPdTZKazExN0RqUDI1L2x1OWNlT24ySDRtQm4wZS82aGZGOXoyYW90dXZLL21RaXBjSlBlRTNzUC9MTUUxbzhUNStyS1BqWXJuMzQxS1Y5ajI3U29RM1QxOGx5T1QyVFd2RlY1OW0zV0tKcktGU1A0WTk1S0ZpL2JtR2ZmWDM5Zm1tdGIwNGJSdDFVQ3kySTJFUjRXbXBuQXdvcFNFVURlRDBBSUlZUVFRZ2doaEJEWFRCSllRZ2doQkZDOGVLVVFsQ29DWUxOYWlDaFp4TnNoWFpPQUFGOWU2Zk1RYjM4NDJsVjM5dHdsUHZwc0hKOTk5UHd1OFVtQUFBQWdBRWxFUVZTL2ZuMU4wNWk3YUkydXJtWFRHcGhNK2g4MUVoS1NlUHZENzNFNEhIank4N1EvYWRta0psSFZ5dVhydWprVFdFMGJScE9VeDNaMTJWZXBrYmt0WUY3OURRYUZ6WmF4cFdHRjY5eUN6MmcwRWhUb1Q0Qy9Ed0VCdmhRSThLTkFnQjhCL2o0RUJRWVFIT1JQY0ZBQUljRUZNbisvL29UampsMkhXTHB5czY1dTM0RTQ5aDJJeTNWTWR1WEtsQ0M2ZXZucnZ2NS9nZFZpem5ZK25tYkZTR2t2aHlTRUVFSUlJWVFRUXR5UkpJRWxoQkJDQVBnWlN5andBeWhhT0FnLzMveWZ3M1NyYU51cUx0Tm0vc1dtcmZ0Y2RZbEpLU1FscGREditZZDRvVmNYeUV3MnFXeDc5YjN3MmxkczNuWmxUUGV1YmVqWjQxNVgrZmpKc3hRclVoQ2xGQmFMNXg4ZFZxN1pSdHl4TTdxNkR1MGE2c3FhcHZIT29PK0pQWHBTVjkrNFFYV1dyOHJZM3REcGROTC92UkdNRy9rV1JZc1V6UE4rZCswNXpJbVQ1MXpsb2tWQzhQV3gwcmhkbnp6SFpmZnVvREY1dGtkVkxjY1AzNzRCbVZ2eDlYMzJBY3htRXhhTENZdlpuUEc3eGN5T1hZZVlNbU1KQ1FsWHp0UXlHQXpjMjdZQnp6N1ZrVUtoN3Rzb0Fody9jWlpOVy9mUnVubHRqKzFKU1NtNmM4SVNjNXpaRlh2MEZQRUpTWmhNUmtxRkYyWElOei9uKzk0OXlYcGJHSTFHYkRhTHExN1RJRFUxVGRmWFlqWUQwT21lSnRTS3FhUnJXNzU2aSs2c3JxNWRXbEt5eEpXazhNU3BDemwyWFA5K3VWMVlMQ1pLaElVQ29JRkZhU29jTUFCT2I4Y21oQkJDQ0NHRUVFTGNTU1NCSllRUTRyWVRIUjBkblpLU2NuVDM3dDNuOHRFOVgwektXQkEwS3lpS0ZnckJ4M2I3SmJBQVh1bnpFSTg5TXdnL1B4c3Y5YjZmenZjMkJlRGc0ZU1zWDdXVjVhdTM0Ty92dzVlRFgzU05NUmowQjArWlRFWjhmVzBBT0J3T25uLzFDMHdtSTNmZlZaOTcyalNnWkxqNzZyVEp2LzJwSzFldVdJcHFWY3JxNmthTW1lRktWR1c1Lzc1bXZQemNBM1RwL2k0blQyVWNJM1R1L0NYNnZmMHRZNzU1SFIrZjNMOE9PYmV0YTllcW5pNHhkNk1aREFZZTY5cEdWN2R0eHdGRy9EQ1R0ZXQzNnVxYk5veW1UNi9PbElrSTh6alh4VXZ4akJrL215blRsMkMzTzloNzRDaDluMzNBTGY3TjIvYnp3bXRmNWhyVHMvMCtoOHp0R2gvdjFwWnRPdzdtMnZkYWxDNVZqSlh6aDd2S0gzNDZsaG16bDd2SzlXcFhjVzBQMmFCdVZiZnhaODlkMUNXd21qZU8wU1c1NXYrNTdyWk5ZQmtNQm9vVUNzSm1OWk9TbXE2Y21oWVNGaFptTzM3OGVKSzNZeE5DQ0NHRUVFSUlJZTRra3NBU1FnaHgyMUZLUGViajQvTmlURXpNSW1DY3BtbnJnVE9iTjIrK2xMRW80dHBwU3ZtaUtTTUtBZ0o4TUp1TU56N3dtNkJ5eFFoZTc5dU5wZzJqS1Z3b0dJQ0xGK1BwK3VSQTE3WjlScU9SaTVmaUNRcTgrbFoxcTlmdDRPeTVTd0NNR1QrYjVhdTM4dk9ZQWJvK3NVZE82cElWQUEvYzExeFhuamhsSVdQR3o5YlZoWmNvekV1OTc4ZG1zL0pHMzBmbysrWTNyclk5KzQ3dy9LdGY4UFVuTCtMdjcrc3h0dm1MLzlhVjcyNVRuN1MwOUt2ZTB6K1ZtcHJHd2lYcm1mYjdYMjRKb3haTmF0Q3p4NzI2ODdJY0RnZkp5YWtrcDZTUmxKVENvcVViR1B2elBOMXFxZ20vTE9CeWZDTHZ2Tm9kby9IYTMzdUpTY2tNSHpORFZ6Zjg4MzdVclJXWjU3Z2ZKc3ptMjlIVFhXVlBDY0Q1ZjY3VEphK0tGZ2xoMER0UE0yL1IycXV1WU12eVROL1BjbTFidW5Jek5acytUWjllblhuaWtmYjVtcy9iL0gxdFdDMW1VbExUVVFac3lUYWIyZHN4Q1NHRUVFSUlJWVFRZHhwSllBa2hoTGd0S2FWTVFGdWdyVkxxcUtacGEyTmlZdFk0bmM2MWlZbUpXL2Z2MzMvNW1pYlVOSnRtd0toUVdDMW1qRWJEdnhiN3YrMkJqdnJrVVZCUUFQVnFSN0p5elRiSVRLZ3NYTExlclo4bjJSTVhBTjN1YitYV1o4eUUyVzUxalJ0VWQ3MmVPbU1KUTcvOVJkZHV0Vm9ZOHNHenJwVmVqUnRFMGFWRFUzNzlmYW1yejVidCsrbmQ3M09HZmRxWG9DQjlzbTNyOWdPNkZUd0ZDdmhSdWxReFRwNDZ4MzN0RzduRjg4ZThWVGlkdWUvd1ZyNXNDU0lyUnJqVjUxeHRscEtTeXQwUHZzN0ZTd2x1ZllzV0NlSE11WXU4TzJnTVNja1pXemNtcDZTNWJiM25TVml4VU9yVnFvTEJjSDN2dTV4bmU3VnJYWSthMFJWSVMwdkhZc2wvYmlWbkFpdnUyR2tHZlQ3ZVZUYVpqSHc2OEZtM3I4ZC9qY1ZpdXBKbzFKVFYxMkl4WGZCMlVFSUlJWVFRUWdnaHhCMUdFbGhDQ0NIdUJPRktxWERnUG9QQmtCQVFFSEF5SmlabXBsSnEzTWFORzNmbGF3Wk4rU2dORXdwc1Z2TjFKeEp1dHJTMGRMZmtSUmFiemVLNmozYXQ2cm9TV0FEekZxMjdhZ0xyN0xtTExNdTI1VjlJY0FIYXRxcXI2M01vOWdSekY2NTFHNXUxTGVHUEUrY3diTlJ2YnUzdnZkYUQ4bVhEZFhYOW5uK1E3YnNPc1dmZkVWZmRyajJ4UE5MclF6NGU4SXh1UzhMZjU2N1VqVlZrWEs5b2tZSzg5L3JqdXJhMTYzY3ljODZLUE8vVmJuZTRqZlBFWnJOU1BLeVF4d1RXeVZQblhkc2c1bGRnQVgrZWV1eHVIdXpVSExQWi9jZXl5RXFsK09iVHZnQWNPM0dHajcrWXFHdi84TzJuOFBmejVkT3ZKN25PQXdzSzlLZmY4dyt5ZU5sR1B2bHlFcDN1YWNMOTl6Vzk2cGxpWkh1T0FPbnBkdDRZK0oxdXBWai9GeCttU3VYU0dYMlZ5dlg3SkdleVVDbWxTNDdsYkRjWURCalU3ZkU5UitiNVh5WlRWcnlhelpKcWtwK3BoUkJDQ0NHRUVFS0lHMHorc1MyRUVPSzJwMmtadXdZcXBjeEtxV0FnR0tpc2FkcHJNVEV4NnpSTm02eVVXcGlZbUhoNjc5NjlGd0MzakkvQmdJK21sRkVCVnV2dHN3SnJ3T0FmV0pCaks3MHNQdzEvMDVYMGFkWW9CcHZOUWtwS3htcWd6ZHYyY2ZMVXVUeVRHalBuckhSdE93andRTWRtYmttVzRkOVA5N2l5eVc1M01QQ1RIL2w5emtxM3RoZWZ1ZDh0RVVabWN1akx3Uy93MkRNZnViWXRKRE14OVBTTG4vTEJXMC9ScG1VZEVoS1NtUGVuZTlJc043Lzh0dGoxT2lqUVg1ZDg4dlB6SVRFeG1VT3hKMWk3ZnVkVnQ5d0RhRnkvT2p0MkhjcjM5VDN4OC9PaGErY1dQUFpRR3dJQ1BHK1JtQkZ2Z091TXFWRS8vZTdXWGpPNklrVUtoMUMyZEJoUDl2bVlzK2N1OGVIYlR4TVNYSUJmZjEvR3hVc0ovRGh4RG1OL25zZWIvUjV4blltV20rd0xzTVpObnMrdVBiR3Vjc1h5SlFrdlh0aDEzbGZ0R3BYNGU4a29qL044Ty9vM2ZwZ3d4MVVlK2NVcnVqT3dubnorWTdaczN3K1o1NFVOL1YrZlBPTzYxZWhXWUtGc2FVYURiQ0VvaEJCQ0NDR0VFRUxjWUpMQUVrSUlrU2VsbEJFb0VoMGQ3YjYvbXBkb21sWWdhelZIVnZJS2ZTSXI2M2NEVUU4cFZVL1R0QXQrZm41clltSmlOamlkenUwT2grT3Y3ZHUzbjhvMjJFZUJFYVd3V2l3WWI1TVZXUG5sNDJPbFdhTVk1aTI2a3ZpWi8rZmY5T2pXMW1OL2g4UEJiMzljMmM3UGJEWngvMzNOZEgzKzNyaUx4Y3MyZWh5L2V0ME9qOG1ySng1cG4rczFBUW9YQ21iWWtMNzBmdmx6WGFMSmJuZFFLRFFJTWxkZkpTZW41bm0vV1U2Y1BNZnkxVmRXa1RXb1c1VTVDOWE0eW8zclYzYzlrd2xURnVRcmdkVzBZVFJ6RjY2bGVGZ29SUXVIVUNnMGlJSWhnWVFFQnhBVTZNL0pVK2VaTUdVaHUvZkd1bzMxOC9QaG9VN05lZVNCMWt5Y3VwQVpzNWZ6V05jMiticVhPUXZYdU5WTm1MS0FWL3AwcFhoWUliNzV0Qy9MVm0yaFFkMnFIRGgwalBXYmRydjZXU3dtbWpTSWNodnZkT3FQak10Ky90YkpVK2QwYlh2MkhlRzVWNGE2eWdOZWY1d083UnV4WVBFNkRzV2UxUFhkdEhXZnJ2ekh2RlZzMkx6M3l0eW5yMjJsMnEzR2FqRmp5a3B5S3kwMHlFZDlHQm9WRmUvdHVPNHc1VFJOOHlIanozYmY2emtiVHVUZmdmMTdXRGp2RDIrSElZVDRqenV3ZjQrM1F4QkNDQ0hFTFVZU1dFSUlJYTRtMEdBd0RBYVM4OUgzWmduTlhsQktlVXhrb1U5bUJRUHRORTFyWXpBWUxoc01ocU14TVRGTG5FN254QzFidHF6SG9HeWFwa3kzMndxc2E5R3VWVjFkQW12dW9qVzVKcE9XcnR5aTJ3NnZYYXU2aEFRWGNKVlRVbEw1NkxOeHVWNnJVZjNxVks1WVNyZUNwMjJydXR6WHZoRkg0MDZqRkpRb1hsZzM1dGp4TXlTbnBLS1VvditMRHpOZzhBK3U3UkdyVnkxTGphZ0syTzEySms1ZG1POTdIdkhERE5jS3NTcVZTK3Z1QWFCaDNhb3NYYm1aNU9SVVZxM2R6dXAxMjZsZnAycWVjMVlvRjg1dkV6NXlxejl5OUJTanh2N0J2RVZyZGU5Qk1yY0tmTEJUYzdyZDN3cXIxY3lBd1QreWNFbkd5cm1rNUZTZWVhSkRudGZjdXYwQVIrTk91OVZQbXJvSXAxT2ovNHNQVTZGY09CWEtaV3pMT1BuWFAzWDl1bmR0UzJqQklDNWNqQ2NsSlkxaVJUTlczdVdNTTJ2cngydXhjTW42WEJPWldXYk5XM1hOODk3S0xPWXJLN0FVV2hHandmRDRuZmhueHEwZzh6MWE2dVRKay9MdmxuL1I2cFZMV2IxeWFUNTZDaUdFRUVJSUljVE5JLzhRRkVJSTRVYlR0SFJOMDlLVVVwcFN5cVNVS3U3dG1MTEwrYUU3MlJKVk9kdHpXWlVWbFBtcm1zRmdlQ29tSm1iMXBSUkhyQk1Nb0RDYmpMcjVibVdsU3hXalJsUUZBQTRlUHU3eGJLWXM5V3BIRWh3VVFJbmloV2pSdUFZdG10VEl0VytqZXRVWThQcmovREo5Q2J2M3h0THRnVmE2OWtuVEZoRjM3RXl1NDVXQzU1L3VSSi8rWDBMbXFxVjVpOWE2RW1nV2k1blZDMGZveHJ3N2FJeHJXem1BRHUwYXNuWEhBUTRmT2NrVDNkb0RzR0R4My9rK1oycjMzbGhtejEvdEtyZHBVWWZUWnkvbytsZ3NacG8zam5HdHl2cjA2NStaOHVOQWorZFI1ZVp3N0FuR1RKak52RVhyM0xaVExCNVdpRWNmYkUySGRnMngyYXdBL0RScHJpdDVSZWJXZ0hhN25lZDdkczcxR2pObUw4KzFiZkt2ZjJLM08zamo1VWRRU25IMjNFVm1aYnZ2MElLQlBOUzVPVDlPbk1PUEUrZFN2VW9aaGcxNUdUeDhMMGtTSm45TUptTzJaNldNdDh1ZkY3ZWp6R2RyOGZIeGtUZm5EZVpFTzJHRUJGRCszbzVGQ0NHeTB6U1NuV2dudkIySEVFSUlJYnhQRWxoQ0NDSGNiTjY4K1ZKVVZOUWZTcWxTbXFZRmVEc2VEMEtBQWprclBTVzJ5SkhjeXV5bkthVU9BYXVjVHVjS2g4T3gydWt3M0kxQk9RRmphbG82VHFlVDIySExxbDZQZDZEWDR4bXJkL3EvT3p6UGxUQW1rNGxadjN6c1NxVGt4V0l4MDZGOUl6cTBiOFMrQTBjcFh6WmMxMTYwY01oVjU2aGZweXExYTFTaTg3MU5DQTRLWU9uS3phNjIvSHpnWHpLOENLLzBlWWpSNDJiUnVFRjF5RHduSzcrK0dEN1Y5ZHBrTXRMK3JucjhOR211VzcvTzl6WnhKYkNPSEQzRmp4UG51SjVwWHJidE9NRFluK2Z4MTRyTmJ1KzltT3JsZWZqK1ZqUnZISU1oeDNhVTNidTJZZCtCT04xcXVCOG16TUZnTVBEc1V4M2RyaE4zN0RTekY2eDJxODl1MnN5L2NEaWN2UDNxWTB5WXNwQzB0SFJYVys4bjcrUGIwZFA1N1k5bGtMbTlZOVpLczV4YkNHYVA5WUdPelYzbmJ3SHNPeERIZHo5ZU9ZZkx4eWZqYS9IUk8wL2pjT2dUZDZQSC9zRzR5Zk5kNWE4L2VZbVk2dVU5eG40N0pzM3NEc2VWZTlaSWNtcGFra0hEN3UyNDdqQyttcWFGR0F3R2c2WnBzWUdCZ1duZUR1aE9vMmtwc3pTc0JVRlY4SFlzUWdpUm5hWnBCelJTWm5rN0RpR0VFRUo0bnlTd2hCQkNlS0pkdW5ScG5JK1B6M3lEd1dEMmRqQTVXU3lXTjRFbnM4clhrTGk2cEduYUFxWFVsTFMwdEUzcDZlbW45K3paRXc5UXNtTDFaa1kwT3loamFtbzZEb2ZHYlpDL3VpcW4wNms3dDhpVHZRZU82c3B6RjYxbDI4NkR1ZlovOFpuN2FWdy9DcVBSaU1QaHdHYXo0SEE0U1U5My8veCsySkMrbUV3bTFtM1lwYXZQNzFaMS92Nit2UHpjZzY1eW1WTEY4alh1bDk4VzY4NkFhdFlvaHVBZ3o3blltT29WS0JNUnhzSER4d0VZOWRNZlZLOVNsbnExcTdqMXRkdnRMRjYya1Y5K1c4TG1iZnB6bnZ6OGZHamZ1aDRQZEd4RzJkSVppeGFkVGlmeDhVa2tKQ2FUa0pqNWUwSXlEZXBVWmQyR1haeS9jTmsxL3Z0eHN6Q1pqUFRzY2E5dTNoRS96SFJ0cFpoVHNhSUZPWEV5NDZ5cWxOUTBUcCs1d0pUcFMxenRaVXNYcDBPN2hsU3ZVcGJwczVhN3ZsZStHRDZWdXJVaWNUajA4MlpQSmxVb0Y0N1ZZaWIyNkNtYU5Jemk3TGxMdXI2Vks1UUNjRXRlL1Jla3BxWmp6M3gybWlMdWNvcXphK3llclllOEhkZWRKRG82K2dHbDFDZ2d5R0F3WFBSMlBIZWlvM3YySEFjR2V6c09JWVFRUWdnaGhNaU5KTENFRUVKNGRQanc0UlFnTmg5ZGI3cVltQmkzRHpNOXJiSUNFb0F6bXFadEIzNjEyKzEvYk51MjdVTE9zUUJHcFNWcnl1QlFRRXBLR2c2bjQ0NzRhOUxwZFBMM3h0MzU2SG5GaVpQblhFa1JUeTVlU2lDeVVnVFIxY3F4WWZNZStqNzdBQ1BHek9SU3V2djJoU1pUeGpQTW1TZ3htYTR2T3hoZW9qQm1zd21sRkZGVnkzcTh0d09IanZIbGlLbTZ1c2R6T2VzclMvZXViWGovNHg4aE15SDY5b2VqbVRqNlhZb1dLYWpyTjJEd2o3cVZVMW1NUmlQbHk1Umc5NzVZWGg4d2tzU2tGQklTazBsS1NybW0reHY1dzB5c0ZqUGRIODZJZDkrQm84ei9jMTJ1L2QvdDM0T1gzeHBHaXlZMUdQam1Fd3o4NUNkU1U2OHNWT243N0FNWWpVYktsaTVPNithMVdMQTRZK3ZDQTRlT01XZkJHcmNWV0VaRHh0ZmxjT3dKUnY3NE80ditXayt4b2dWcDBqQ0tmUWZpWFAyQ0F2MHBVYnd3RnkvRjA3TER5MWU5cnhkZi95clh0cVlOb3huNnZ6NVhuZU5Xa3BxYWZpV3BxS2tVdTBOTHY5b1lJWVFRUWdnaGhCQkNYSnZiYjg4V0lZUVFJaHVsVk03a1ZicW1hZXVCYnpWTjYrTndPTnB0MnJTcDg2Wk5tOGJsbHJ3Q2NHaUdaSlc1QlZoS2F0cC9jbFhKdGFwWE81SUdkYXZ5UU1mbVYrMmJjd1dSMVhKOUMvdU1SaU1SSll2eTVLUHRDUzllMkswOU1UR1p0ejRZcmR0Q3IzNmRLbFN1R0pIbnZPMWExeVdzV0tpcmZQRlNBaSsrL2pVWEw4WHIrbFd2VXRiamVJZkR3ZVp0KzlpMjR5Q0hZazl3K3N5RmEwNWVaZmxxNURTbVRGOE13SkxsbTF5cnBtdzJDMUZWeStuNlJwUXN5ckFoZlJuNDVoT3MyN0JMZCtaWDNWcVJ1aTBBbjNtOGcyNkx3SkUvemlRNUpWVTNYOVlLckJPbnpyRnd5ZDlvbXNieEUyZlpzSGtQYXpmc2RQV3JVcm4wZGQzYm5TSTFMVnNDQ3kzRjRuQktBa3NJSVlRUVFnZ2hoTGpCYnYvL1dpNkVFT0kvTC9OTXE2UEFGTHZkL2lzUWw1U1VkR2IvL3YycCtSZ09nRkphc3Fad0tCUXBxZW1Td01xSHBnMmo2ZEN1WWI3NlhyaW9Ud1JaclpicnZtN3I1clhwM3JVTm4zNDFTVmR2dDl2cC85NEk5aCs4c2xKSUtVV2ZucDJ2T3FmSlpPTFpKKy9qM1VGalhIVUhEaDJqOTh1Zk0zTG9Ld1JsYmovWW9FN1ZQR2JKVzFDZ1AvNytQdGlzVm13MkN6NDJDemFiQlp2VlN1elJrK3pkZjJVcngxbnpWOVA1M2lhdXJRZ0I3cjZyUHFmT3VPZGdhMFJWNEhEc0NkNzU2SHRkZmRuU1lZeWZQSi9MOFluRUp5UnpPVDRSWDE4ckNRbkprTG5TYm02TzFXUlpLK1BxMW9xa1NPRVFUcDArRDhDWEk2WVNkK3lNcTEvV2VWWm1rNG03V3RSMmkybmZnVGdPeFY0NWU3MVdUQ1ZDZ2oxdjRSaDVsZVRpclNnbDdjb1dncUJTMHRMc2N2NlZFRUlJSVlRUVFnaHhnMGtDU3dnaHhHMUgwelNIVXVvc2NCSllDa3padUhIakt1RDZQMFIyYXNuS1lMQ2pNbGRnT2UrTUJKYkpaR0w1M0dGczJiNmYyalVxZWV6VCsrWFAyYlQxeW5sT1R6N2FubWVlNkpEcm5NYk13OEd5SjFldUptZml4Yy9YbHUreE9UM3hTRHZkU2lJQURZMkJuL3pFMnZVN2RmV2Q3bWxNcGN5em1xNm0vVjMxK2UyUFpicG5zZTlBSEc5LzlEM2ZmcGF4VFY1NGljTFVyMU1GcFJTaElZRUVCd1VRRWx5QUFnRytCQVQ0VWlEQUQxOGZLLzUrdm53NFpDd2JOdTl4emZXLzkzcFJ0MWFrcTV5ZWJrZlROQ3dXTTRtSnlmVHEreG03OThaU3UwWWxoZzdxZzhsa29rTFpjRmYvcmwxYTh0WElhUjVqbnpWL05SY3Y2YmR3bkRSMTBWWHYrZkxsUkYwNUs0RmxNQmpvMEs0aG84ZitBY0RPM1lkMS9kcTFxZ3VaNTM0Tkh2Q00yN3pmanY1Tmw4RHEyZU1lYXNWNGZ2L2RqblJiQ0NvdE9kbkhMaXV3aEJCQ0NDR0VFRUtJRzB3U1dFSUlJVzQ3U3FuWlRxZnpMN3Zkdm1INzl1Mm5ic3lraG1STmFRNkZJajR4bWZSMFJ6NEczZnJpanAybS8zc2ppQ2habFBxNXJCN0tlWDRZMmM2dXVsR09IanV0S3hjcEhIemRjK1ZNWGdFa0pDUXpaOEVhajlmdC8rNXdWM24vb1dPNjlnbFRGdWpPbUVwTmM4OURkTDYzaWE0OGJNaVZNNTkrbjdPQ0hic1A4OXBMRDdzU2Uxa3NsdHlmb2QxdTU0MzN2K1BZaVRNTUh2QU1wVXNWNDV0UFgyTE0rTm04MVB0K0xKbGJMSllvWGdpYnpVS2pldFVwRXhHVzYzeHRXdGJteDRsemNtM1BMNHY1U3N3UGQybkp6Nzh1Y3EzWXlsSzdSaVdLRmluSWpsMkg2TlYzU0M3M3AvLytlZUcxcnpBWTNOOW5XWm8waVBLWUNMdFZKU2Fsa0phV21TL1hWSXB2U2tyNitmKzNkOS94VVZWcEdNZWZPelBwQ1NBQ29STjY3MFVFRVVWUlJCQldCTllDZ3F3b1VxellRRkVYZXdkWFJWU2FpaWdpQWdxS2RLUko3eEE2SVpSVTBzdk0zUDBqeVpBaGswS1JDZkQ3L3JPNTU1NTc3enVUNG9kNTlqM0gyMFVCQUFBQUFIQ0ZJY0FDQUZ4Mk5tM2F0T3hpMzlNaFI0eE50blJKT25rcUxzL2VRSmVqeFNzMmF0YmM1VXBLU3IyZ2pxY0w1WFE2dFdydGRyZXhhbFhLWDlSbmhBUUhxdXR0YlRWOTVwbXVvLzczM3E2cDAzOHY4THB0T3c3a0dldDFWMGY5TkNmclI2eGorMmE2cFdQTFBITk0wOVM0ejJkcTZ2ZFo5ejl4S2xadmpYbEVBUUYraGRicWREcjF5bHVUdFhUbEprblMvUS8vVjA4UDY2dGVkM1hVeUJIM3VzMDFERU4xYTFVdGRCbkUyaldycUVaWVJSMDRGT2thSzFraVdPWEtsbExaTXFWVTl0cFN1cVpVaUVxVkRKYS92Ni9lK1hpNi9QeDhGQlRvcitpWTA2NXJmSElGV0NWTEJtdkFmWGZva3k5bXVUMHJaOWxJcDlPcHRMU01RbCt2SkxjOXlUeEpUNzk4R3BnY0RxZE9SY1VySTZ1RHpwUVVHeEVSa1ZxRVN3RUFBQUFBd0RrZ3dBSUFRSkl0M1haRUFVcVdwRlBScDVXVWZQbC9IcDA3dk1tOW5OdWx0bWxyZUo0OXNCclZyMzdSbnpQaWtWNWF2Mm0zd3ZkSGFGQy9POVdtWmYxQ0F5eFBldDNWVVlaaGFNNzh2L1RNOEgvbk9aK2FtcTZYWHY5U1MxWnNjbzJ0WEwxVnc1LzlTQlBIUGV1eG95MjN2ZnVPdXNJclNVcFB6OUFiNzAvVG1yOTNhTXh6QXhRY0hPZzIvOG5IZXF0SzVYS0YxdjNVMEQ2S2kwOVV6ZXFWVktsQ21UejN5UzBrT0ZCdFd6ZlE2TEZmdWdWWS92N3VlNU5kZTAySlBOZit0bkNOV2pXdnA1Q1FRRjNmcHFISCt4K0pPS1Zqa1dmMnpHcFFMMHdsU3dUbFcwKzlPbFVMZlgzRlJYcEdwbzVtdnpaRFNqZE44MUNoRndFQUFBQUFnSE5HZ0FVQWdLUkRoemJIaDlWckdpSERhSkNSYWRmaEk2ZlVxRjZZdDhzNkoyY3YyNVpiYWxxR1VsTFNGT2lGVHF3SmsrYTRIVnV0VnJYK0IvWkQ4dlgxMGRqUi85RzRDVC9wMFlkNmFPT1d2ZWQ5cjVFai9xMjJyUnVvWW9VeWJ1UHJOKzNXZjkrZG9vaGpVVzdqcFVvR2E5akRkeGNhWGtsU3ZUclZOUFh6VVhwbTlLYzZmUFNFYTN6eDhvM2FkL0NZM24xdGlHclZxT3dhYjl5d1pwRnF6bStKU0UrNjNIcWRuRTZuOXU2TGNCc3ZXU0xZOWZYVzdmdjExa2ZmNWJsMjlib2Q2dFgvSmQzZXFZMEc5YnRUalJ2VXlMUGs1UDhtenRMWDM1eFowdkR4UisrNVl2YkF5c2kwSytKNFRQYVJrZTQweklOZUxna0FBQUFBZ0NzU0FSWUFBTmxNbVZzTkdiZEowcTU5RWJyenRqYmVMdW1jSERzZTdYRzhjY01hZXZYNWg3d1NYaTFhdGtFYk51OXhHMnZidW9GS2xRcjVSNTVYcTBabGZmVG1jRmtzRnJWc1ZsZHJGMzN1ZG43Y2hKLzA3UThMWGNkdmpobXNUamUyY0p1VEU4YmMzT0hNZUVwS21zWk4rRWsvemw2UzU1bFZLcGZUK0xlZmNPdVNzdHZ0aW9pTXlqTTNSNDJ3aXByNitZdDY1YTFKYnAxY1I0NmUxSU5EM3REb1ovcnJqczV0ei9uMW55MHBLVVUybTFYKy91NUxHNmFuWitpenIzOVJUT3laN3F1UWtFQ1ZLcGtWWUczWnRrL0RudjFJNmVtZWx3aE1TVW5Uei9PVzYrZDV5Mld6V1ZXOVdnVlZyMVpCd1VFQkNnejAxL2FkN3BuT0w3K3QxS3ExMitWd091VndPT1Z3T0xMLzE1azk1bEJZMVFvYTFPL09DMzdOLzdTTWpNeGN2MnRtdWpPRERpd0FBQUFBQVA0SkJGZ0FBR1F6cEkwNVgrL2FkOFM3eFp5am5ic1BhZi9CWTI1amhtSG9vUWU2NnBHQmQ4bHF0Vjd5bXNMM0g5V3JiMC9PTS81QW45diswZWRhTEJZcCsvV2YzUmwwZG9lVXhXTEpNOGVUU2QvKzVqRzhhdEcwanQ1OWJZaSsrdVpYL2JsMGd3TDgvV1MxV25RcU9rNUpTZTdMVUo3OTdPRGdRTDAzZHFpK212YXJQdjN5WjlkNFdscUdQdnJzUjdWcjAwZ2xTd2JyUXN6N2ZiWGVIVGRkTnB0VndVRUI4dmYzbFdFWWlvcU96OU94MTZaRmZWZU5SeUpPS2lVbHpYV3VmR2hwdlRYbUVZMmI4Rk9lemphNzNhSHcvUkVLMysvZXpaWGJiMytzS2JUV2dmZDNQWTlYZU9tbHBtWG9SRlM4Sk1tVWtaS1pmQ3J2Um1vQUFBQUFBT0NDRVdBQkFKQXQzZUhjN0cvTENqLzI3TXYvdy9qaXFFcWxjcXBRL2xvZFA1RzF0Rmx3Y0lEZUd2UElPUzByZDdGOSt1VnNKWisxbDFqN3RvM1ZwbVY5cjlWMHZoNFplSmYyN28vUXl0VmJwZXpnNitFSHUybFF2enRsdFZwVnMzb2xmZmZqbndYZW8yeVpVaDdIQi9XN1U5V3JWZEJMcjMrcHRMUU1sU29ack04K2VQcUN3eXRKYXBLOS9LRGQ3bEQ4NlNUcGRQNXorL1U5RXl4MnVMNkpMQmFMbkU2bi9QMTk5ZjdZb2FwWHA1b21qbnRXSzFadDBaVHBDN1JwYS9nRjE1ZmI1Zkp6RVg0d1VwbVpka21TYVpqN1Q1NDhtZXp0bWdBQUFBQUF1QkpadkYwQUFBREZ4Zkh3N2J0TTAweVRwTWdUc1RwMnd2T1NmTVZSU0VpZzNocnppR3cycThxSGx0YmtUMS8wYW5nbFNXKzhQRmdkMmpWeEhaZStwb1JHUGQzUHF6V2RMNXZOcGpkZWVsZzF3aXFxZkdocFRmeDRwQVlQT05QWlZyZFdsUUt2cjEyenNxcm1XbUx3YkoxdWJLR3Z4aitubXRVcjZYL3ZQYWthWVJVdlN0MjFhMWFXelZaNDk5MFRRM3E3N2JWVnFsU0ltalNzcVlBQVAzM3crakRWcTFQTmRhNUR1NmI2Y3Z4em12M3RHM3J5c1Q2NnJWTnIxYWxWUmFWS0JoZHBEekJQZkgxOTFMUlIwZmI2OHJZVmE3YTd2amFjV3UvVllnQUFBQUFBdUlMUmdRVUFRQzZtakhtR2RJOGt6ZjV0allZKzFNM2JKUlZab3dZMU5QcVovbXJlcExZcVY4by9MTGxVQWdMODlQN1lvWHJ4dFlsYXMzNkhQbnhqbUVMTGxiNW85L2YzOTFWd2NJQ1UzWEgyVHdzS0N0RDRkeDVYVUdDQVFrSUMzYzZGVmEzZzhaclFjcVhWdWtVOVBUYW9aNkhMT05hclUwMHpKcjF5M2lHUUp6NCtOdFd2VzAyNzloeVdhV2FOV1N5Ry9QeDhWQ0lrU0hWclZkRzk5OXlxbHMzcTVybTJSOWYycWxtOWp4cldyKzd4M2xVcWw5TURmZk11QjJtMzI1V1o2WkNaODhBaXlLcko5MXhlbWxla3BtVm8vcUtzek1vMFRkTnBkLzdvN1pvQUFBQUFBTGhTWGJ4UFNBQUF1QUtFMVcvYzA1RDFaMGxxM3JpR3BuLytuSHg5Zkx4ZFZyRjNMREpLVHVlWndLSlN4VEt1dmFqc2Ryc2lqOGVvYXBWUUwxYjR6MHRLU3BHeWx4ZTBXaTN5OGJHNTNnTmNHVmF1MjZIK3c5NlhzZ0tzOEVPN3Q5U1Q1UFIyWFZlaVpzMmE5VFlNNHd2RE1FcEordFV3alBzM2JOaFF3Q0tZQUFBQUFJQXJEUjFZQUFEa1lzOXdicmY1V284WVV0WGpKK08wT3p4Q1RScDQ3a0RCR1pVcWx2eTZOd3dBQUNBQVNVUkJWTTMzbk0xbXUrTERLMGtLRGc0c3dpeGNya3pUMUovTE41ODVsdVlTWHVGeVZxWnUzWkJBQlRTeFNHVzhYUXNBNU9ad091SlNMUm1ib3Zmc1NmUjJMUUFBd0xzSXNBQUF5Q1haVEkwcUtkdGF5YWdhRjUra0xUc09xSEg5c0l1NnJCdUF5MDlNYklJMmJ0MG5aWVZYS2FiRHNjRGJOUUVYSXNqdzcyd1k1a2VHaklJMzhRT0FTOHhxV0k4SHlYOVl0RFRMMjdVQUFBRHZZbDBiQUFCeWlUdHdJTUhwTk5aTHlrelB5TlRXblllVW5wSHA3YklBZU5udS9jZDBNaW8rNjhBMDl6aWQ1a0Z2MXdSY0NFTnFKRk9WdlYwSEFPUmxsamVrUnQ2dUFnQUFlQjhkV0FBQXVETXRodGFaTW1NTUdlWFhidHlqMkxoRVZTeC9yYmZyQXVBbFRxZFRmMi9hbytpWTB6Sk4wNVNNTGM3VXVFaHYxd1ZjR01Nd2pLdzlrVU5ES3lpMGZFVnZGd1RnS25meVJLUk9uand1d3pBTTAyVFBkZ0FBUUlBRkFFQWVDZmFralNWOWd2WkpLaDl4UEZyVGYxNm1wNGZjN2UyeUFIaEpiSHlTWmk5WUxWT1NEQ05GVG5ONVpHUmtpcmZyQWk2V3psMjY2NEVIQjN1N0RBQlh1VyttZktGdnBuemg3VElBQUVBeHdoS0NBQUNjSlhiZnZnVFRibjZhY3p4cHhrSkZub3oxYmxFQXZPYTdXVXQxOUZoMDFvRnBIbldtT21kN3V5WUFBQUFBQUs1MEJGZ0FBSGh3S0h6cmROTTBkMGhTU2txNi92ZjFQRGtjVG0rWEJlQVNPeGtWcC85Tm1pZEpNazNUS2RQNXpwRWoyK0s4WFJjQUFBQUFBRmM2QWl3QUFQSmhPdldTS2FWSTBwS1ZXN1I5OXlGdmx3VGdFckk3SEpvd2RiNHlNKzNaSSthbVEzdTJUZk55V1FBQUFBQUFYQlVJc0FBQXlFZWF3L3pMTVBXWEpKMktpZGVjUDlibStpQWJ3SlZ1NTU0ald2elhsdXdqMDI3Sy9FQVNmd1FBQUFBQUFMZ0VDTEFBQU1qSHlmMWJUNW1tODJmSnpIQTZUYzJjdTFMaEJ5TzlYUmFBUzhCdWQrajcyY3QxSkNKS3BtbWFrdFprWmpoV2Vyc3VBQUFBQUFDdUZnUllBQUFVd01od3pqS2xqWktVbUpTcUY5K1lyTmo0UkcrWEJlQWZ0dml2TGZwbHdXcEprbUVZbVE3VE9UWHl3TTRJYjljRkFBQUFBTURWZ2dBTEFJQUNIRHk0L2FTWnFjZE0wMHlUcEswN0QrbnQ4VDhxUFNQVDI2VUIrSWVFSHppbUY5K1lvdFMwREVtU2Fab3I3UWt4MzBweWVyczJBQUFBQUFDdUZnUllBQUFVNHZDK0xac2s4elZKR1pJMDk0KzFtdmJqSWprY0RtK1hCdUFpTWsxVGtTZGk5T3hyWHlzMkxqRjd6SGtpdzVuYU56SXlNc1hiOVFFQUFBQUFjRFVod0FJQW9BaWNLZWJucHFudlRWT090UFJNVFppMlFMOHNXS09zclhFQVhBbmlUeWRwN0lmZmEvdnV3MWtEcGhsaFNJTWo5KzZOOW5adEFBQUFBQUJjYlFpd0FBQW9naU5IdHNXbHBhV05rY3dEa2hRVG02RFgzcCt1U2Q4dmxOUEpxbUxBNVM0MlBsRkRudnVmRmk3ZkpFZlc3N1RkbFA1M2NMZjlkMi9YQmdBQUFBREExWWdBQ3dDQUlqcHhhUGNoZTdyakh0TTBvMHpUTkJPU1V2VGVwejlwd3RUNVNreGlkVEhnY3VSME9yVXIvS2dHalBoQTZ6YnRsY09SRlY0NVRmUDNRN3UzdkMvdHpQQjJqUUFBQUFBQVhJMElzQUFBT0FjUkI3ZHZkVGpOWG9hTURhWnBtbW5wbWZwd3dteU5mUFVyTGZscnE5TFMrYXdidUJ5WXBxbWprZEg2OHR2Zk5lVFpUMXpMQnBveWswMm44NU8wdUJOOUpXVjZ1MDRBQUFBQUFLNVdObThYQUFEQTVlYm8zcTEvVmF2VjVCSERac3lVVk4zdWNPaVBaWnYwOStad3RXdGRYeVArMDBPMWExVDBkcGtBOG1GM09EUno3a3BOK1dHUkRodytvY3hNdSt1VTA5VDRKRWZLbTdFblR5Wjd0MG9BQUFBQUFLNXVCRmdBQUp3NzUrRjlXemVHMXF6Wk5zQW5lS29oZFpSaCtNZWRUdEt2Zi82dFgvLzhXeDJ2YjZTSDdydGRkV3BVVW9DL3IveDhmV1MxV21TeFdHU3hHTjZ1SDdncU9CeE9PWnhPMmUwT3BhVm5LQ0V4UlFzV3I5Zms3eGZwVkV5OGE1NXBtazVKMFU3VGZQM0lucTNqSlpsZUxSd0FBQUFBQUJCZ0FRQnd2azd1MzMrcVlzV1dkL3NFT3dZWUZyTy9wRGFHWVJpU3RHejFkaTFmczBPaFpVcXFXcFZRVmE1UVJzSEIvZ29LOEplUEQvLzVCUzZGNUpRMHBhU21Lell1VVljalR1bklzU2dscDZTNVR6S1ZJT2tuMDY3eFIvWnQzZVN0V2dFQUFBQUFnRHMrUVFNQTRBSkVSbTVJa1RTaGNwMm12MWdOczR0aEdDOUxxcXJzUFhaT1JNWHJSRlM4MW1xUHQwc0ZrSnRwcHBtbWZuRWF6bmRUekl5OTBmdjJKSHE3SkFBQUFBQUFjQVlCRmdBQUY4NFJzWGZMTVVsZlNacFdyWGF6enJJNkIxZ000enFaUm9BTTAxK21mR1FZVnRNMExZWmhXTHhkTUhBMU1FMDVERU5PMDVUZGtESk13MHd6VEVXWmNzNnlaenFuUmV6ZnNjL2JOUUlBQUFBQUFNOElzQUFBdUxneURvZHYvbFhTcjVVck55eHREYkdHU1VZMVF5b3JoeVBJTkl4QXllQy92OEFsNERRZHFZWXNLYWJNUkRuTVkwNm44MURFZnYvRDBvWk1iOWNHQUFBQUFBQUt4Z2RvQUFEOFF5SWlkc1JLaXBXMDBkdTFBQUFBQUFBQUFKY1RsakFDQUFBQUFBQUFBQUJBc1VLQUJRQUFBQUFBQUFBQWdHS0ZBQXNBQUFBQUFBQUFBQURGQ2dFV0FBQUFBQUFBQUFBQWloVUNMQUFBQUFBQUFBQUFBQlFyQkZnQUFBQUFBT0NxRnhzVEphZlQ2ZTB5TGdtNzNhN016RXh2bHdFQUFGQWdtN2NMQUFBQUFBQmNuWjc0ejkwNmVUeml2SzU5N2YydlZMdGVZNC9uUG5yamVhV2tKS2xOKzA3cWNITlgrZm43YThMSFk3WDBqem1TcE5GdmZxYUdUVm9XK296NXM2ZHI2c1FQSlVram5udGQxOS9ZK2J4cWRUZ2N5c2hJUDY5cmJUWWYrZmo0dUkzOVB2Y0hUZjc4UFFXWEtLbUoweGU2alJYRjR5KzhxYlkzM0ZMZ25FWHpmOWI2TmN0MElIeVhIbnY2VlRWdDJmYWM2ajU4WUsvZWVmVXB0V2wzc3pwMDZxb2F0ZXNySnVxa2hnM29Ma21xMzZpRlhuNzc4d0x2TVdQS1o1cjl3NlJ6ZW02T0tiTld5TmZQejIxczZjSzVtdkRSZnlWSlg4OWNxb0NBUU5lNTdadi8xdXVqaHNybTQ2TWJiN2xURHc5L01kOTdtNmFwdExUVTg2b3JoMkVZOHZjUDBGc3ZqZENXaldzS25ULzgyYkVhLzg3b2ZNOS9PV09SZ29KRENyM1BkMStQMTkrcmx5cjYxSEYxNjlWZmZmcy9lczYxQXdBQVhDb0VXQUFBQUFCUXpEVnQydlJma3VJek16UC8ycmx6WjRhMzY3bllxdFdvbzU1OUJ4WTZiOWUyamZwajNvOEZ6b21MamRiNk5jdmtjRGdVY2ZpQWJ1cDgxM25YbFpLUzVQbzZJQ2o0dk8remU4ZG1qWDFoeUhsZGUxdTMzaG80Wk9SNVAvdDh4Y1pFYWZQNlZaS2s1WXZtblhPQTllZjhueFViZlVvTDVzeFFoVXBWVmFOMi9YK28wZ3RudDlzMTZiTjNzNzdPekZSUWNBa3RYVGczejd6Nmpab3J0RUpsUlowNnJzY2Y2bmxCejdSWUxQcDJidUhCMWZuWXVHNWx2b0ZwYkd5VVRrUWVsU1F0KzNPdXF0V283WEZlaFlwVlZLMUduWCtrUGdBQWdLSWl3QUlBQUFDQVlzNHdqSTZHWVl6dzkvYy8wS0pGaTFsT3AzTzJZUmlIMHRQVG82K0VRQ3ZpOEg1TkhQZDZvZlBzOXNLWFBQdnp0MWx5T0J5U3BNN2Q3cEhOVnZnL2UwK2RPS1p5NVN2bEdVOUpUblo5L2NIWWtiSVlSVitGdjFtcmRucml4YmVLUEw4b0ZzMy9XVHUycm5jRkVLa3B5UnIzOWloVnFoS21acTNicTNlL1I0cDBuNnJWYWtxUzB0SlNaWnFteHpsTlc3YlZyT2xmU3BJMnJGbXUwL0d4OHZYejl6alh4OGZYN1gxT1NVN1NYMHNYU0pJQ2c0SjE0NjNkQ3EwcExqWmFnWUhCOHZQMy9Jd2JiN2xUUGo2K0JkNGpmTTkySFRrWVh1aXp6alpqNm1lS2pEamtPcDQ3YzZySGVVT2ZmbFdoRlNxZjgvMExNbWo0QzBwTnlmbzVtLy9MOTFyNnh4dzk4ZUpiR3YvT2FEVm8zRUlQL09jSlNWSndjQW4xZi9oSnQydjM3TnFxdFNzWDVibm5GeCtQMWVuNDJFS2ZIUmNUcFkvZmZNSGp1UzQ5L3EwSEJ6OTFucThLQUFEZzRpREFBZ0FBQUlETGdHRVlocVNha2taYUxKWmhrbmI3K2ZsdGF0cTA2VnFIdzdGaSsvYnR1N3hkNC9tcUVsWkxkLzk3VUtIemRteGRyOS9uL3BEditaVGtKUDArZDRhVUhaeDA3bnBQb2ZmODQ5ZVptanJoZmZYcFAwVGRlL1ZUMXR1Y2ZiOWNIVmlaR2VlV0UrYlhBZE9pelEycTE2aDVnZGVtSkNWNVhEcHYzOTRkV3IxOG9ldllZYmRyOWZLRnF0K29oWHJkOTdCcTFtNXdUalVPNm4xemtmWjhTazlQMDZQM2Q4bjMvSUJIbjlIdDNmdTRqdWYvTXQwVnl0emV2YS84L1FNS3ZIL0M2WGlOZmVFeDJYeDg5TlNvdHoyR1JBOE1lbHdoSlV2SmJyZTdoV1dwcVNsYXYzcVpPblM2UTk5OCtiSEhBR3ZDeDJPMWV0a2ZjamdkcnJFaDkzZVJmMENnN2gvMHVPYjlORTJTVktGU1ZWWEpEdmR5Yk5td1d1bnBhWklrWHcvaFdwMEdUZFdxN1kxWnIzdjJkTVhGUnF0c2FFVjF2ck9YRWs3SHUrN2Q0cm9PcXRld21lczZpeVVyREMxYnJvSnJMS1JFS1VsU2FQbEtNZ3hEQVFGQnFocFd5M1granA3M3VqM2I1dXZyTWNES1VhTGtOU3BWdW95VTNWbG15cFROYXBOaGNROWljODVaREl1czJlOXQ2V3ZMNW50ZkFBQ0FTNFVBQ3dBQUFBQXVQd0dTbWh1RzBkeHF0ZjdiWXJFa05tdldiSnVreVFrSkNmTU9IRGh3MnRzRm5vc2pCOFAxdi9kZUxuUmU3Z0RDa3dWenZsZHlVcUlrcVd2UGV4VWNVcUxBK2F0WC9LbkpuNzByMHpRMWZkSW5NZ3hEM1h2MWM1MVBUVDRUWUhXNXE2OThmUDN5dVZOZWxhcUVlUnl2MTZpNTJ6TThPWFV5OHJ6M2Z2SzJsT1FrTFpoekprUzg4MS8zRlRnL0xTMVY3Nzc2bEtzRDZwV1JEK3VEaVQrNTdVOGxTY25KaVpyMCtidnlEd2pVNEJHalhPTkxmcCt0YVJNLzB1SUZzM1hOdFdVOFBpTXpNOE1WUXVWSVQwOVRabWFHSm80LzAvbVhsSmlnK3dlTmNIWGpMWnIvczlhdFdpSkpxbDJ2c1ZwZWQyT2VlNGZWcU9QNmZpNWJPRTl4c2RFcVY3Nml1dmZxcDhpamgxd0JWcU1tcmZJRVVKS1VrWjZ1d3dmM1N0a2RVWkowOVBCK21hYXBwS1FFaGUvZUpvdlZlczdocENSMTdOeGRkL1Q0dHlScHhFTTlaTS9NVk04K0EzVmI5OTV1ODk0WU5Vd1JSdzZvYllkYjFUKzc2eW9uVEFNQUFQQW1BaXdBQUFBQXVJemtYdkl0dTFzbzBEQ01RTU13UWlYZFdySmt5ZGdXTFZyTWR6Z2MzeHVHc1Qwakl5TjY1ODZkU1FYZDAxdnVlMmk0VXBMUHI3U3p1M1Jpb2s1cXpvOW5sbjVyZGYxTkJWNi9ZdkY4VGZqb05kZjcyYmg1RzNYcDN0ZHRUdTRPckhzSERKT3ZYOUVEclB6czNyRlpObXZCL3hSUFRFendPRjZqZG4ybEpDWHFRUGd1UlVlZGtOVm1VOHMySFZTcWRCa3QvTzJuYzZyajV0dDY2SzU3SG5TRmdrdCtuNjJrN09mZTFxMjMvRHgwVGExZXZsRFJwNDVMMloxSGRSczBsU1JWcjFYUE5lZkhieWE0N3RPd1NTc0ZCWWZrVzBOeVVxTGVIdk9FOXUzWkxrbXkybXg2NUltWDhvUlhrdlRsSjI5cXg1YjFrcVNtTGEvWGRlMDdLVE16VTcvTm5pNUppamg2SU4vUXNHV2JEaXA5YlRsdDJiRGExYUhWdGVkOWlvazZvYlYvTFZaSWlWSktUMDlWWWtLOHhyNDRWTSs4L0o2MmJseWo2Wk0ra1NRRkJZZm9zYWRma2RWcUxmQTl6Y3pNNnRMelBZZWdNL3JVY2IzOHRIdjM0YWZ2dnlKSjJybDFnMTUrZXBBQ2c0TDExUStMaTN6UDNQVTgxcStyMjlqc0h5YmxHNDZ1V2ZHbjFxejRVNUwwMnZ0ZnFYYTl4dWY4VEFBQWdJdUpBQXNBQUFBQWlqL1BHeFhsQ3JSeWxyNHpES08wcFB1dFZtdGZTWWY4L1B5Mk5HL2VmTDNENFZpNmRldld2eVVWM01aMENZeDdlNVRiVW5nWDRvdnYvbEJJeVZMNjVxdVAzYnBzY2k4RmVMWWxmL3lpVlV0L2Q3MTM5Um8yMTlPajM1T1ByL3NlUzZrcEtaSWtxOVdxUFR1M0ZMa20vNENBZkQvODM3aDJoVGF1WFZIa2UrWFd1V3N2ZGU3YVMwOE56bG9hTVNBd1NFK09lbHVIOXUvUkN5TUs3dW82MncwMzM2RytEdzV4SFNjbkpXanhndGxTZGlCMVUrZnVidlBUMGxLMWNONlBydU1IQm8zSTh4b1BId3pYd2w5bnVvNEwraDRrSlNYb3RlY2ZkUVZLVnF0Vmp6LzNocHExYXVkeGZ0LytRL1Q2aTBPVm5wNm1pZU5lVjgzYURiVDJyMFdLaVRvcFpYZmNKU2NtZXJ6MitoczdxMjJIVzkxKzV1NTVZTEQ4L1B6MXlic3ZxVWVmQVlxTGlkSjcvMzFHVVNjajljTHdCMXhMSzRhVUtLVlJyMytpOGhXcjVQdGFjcVFrWnowL0lEQ28wTGxuQ3dvT2thK3ZuK0ppbzFXMWVtMGRPUml1NEpBU3N0bDg4bDJPc2pDR0RQbGw3MXVXODd0aHRkbnlCS2daR2VreVRWTldxMVUybTQrVWE0bERBQUFBYnlMQUFnQUFBRkNjM1d5YTV0Ym16WnNYdmxIUGxhMTA3Z05Qd2NEWlFWYjJ2L2RxR1laUnl6VE43amFiTGFGNTgrYkhuRTduOU1SMHM2U3AvTU9GZjFySFc3dTd1bmN1bEo5L2dGWXZYK2pxSENtS3Y1WXNjSDFkdTE1ampYemxBL2w1Mk44b3B6dk00WERvamRIRGluei9HclhxNi9XUHB4UjUvcms0Y2pCY3g0OGRrU1NaVHFkYlI5NkZhSGZqYmE0QWE4R2NHZXA0YXplM243T2xmOHhSV2xxcWxMMW4yZG5oVldabXBqNTkveFU1SEVYTFI0OGUydWY2Mm1xMWFzaFRyNmgxTy9ldU9UTlhiaHRhb1lyK1BXQ29wa3g0WDhsSmlSci96bWpYc29NaEpVcnA5bTU5Tkd2NlYvaytiOC9PTGE3dU1VazZzSGVuR2padHBSSFB2YTVUSnlPMWZmTTZsU2g1amVKaW90ejJCYXRRdVpvTzd0OGovNEJBajN0ejVVaE5UWEYxbnBVb2VVMis4NXhPcDJLaVQ3cnRmYVhzcFNWTFgxdE9DMytkcWFkZmVsZFBQOUpiRFJxM1ZPbXlvVnIrNXp4SjB2QUJkeWt4SWQ1MVRXRkxhdHA4ZkRSNTFuSkpVcitlN1dYUHpGVHYrd2VyUjU4QmJ2T2VHM2Evamh3TVYvdWJ1bWpJVTJNS3ZDY0FBTUNsUklBRkFBQUFvRmd4VGROdUdFYk9KOGlCa3FvVzFNbHhOU2dvcE1oNWIzTG1lQWl5WkJpR3I2UXlra3BicmRaS0lmN09qSlJNeWU2bFdMQnB5N1pxMnJLdG5ubTByK0ppbzg3ckhzKy85ckZxMTJ1c2hOTngrdktUTjgvckh0ZTE3NlFoVDczaU1ieVNwTlNVODF2ZTBLZUFwUWJ2ZTJoNGtmYkFldnlobmg3UHJWejZ1K3ZyNUtSRWpYbm1QeHJ3NkRQNmNzWWl0M2tyRnYrbUtSUGVseVNOSFBOQm5zRHc3R1g2R2padDVlcjhPWHhncjFZdVdhQU9uZTZRc29POE9UK2VDZVI2bmhXQVNOS3M3NzUwZFZPZGk4Q2dZRDN4d2x0cTNMeE5ubk81Zis2dFZxdHU3OTVIZjY5ZXFwMWJOMmp2cnEydWM3MzdQYUxBb09BQ24vUG4vRmx1eDYrUEdxcm1yZHNyNHNoQm5UcHh6TzNjTmFYTEtPRjBuQndPaC9idTNLSzkyZDEzZ1VIQmVuUGNOTW5EMzZQY0hYb0ZkV3Vkam8vVmlJRTkxTEJwS3cwYzhxeGJqQngxTWxMS0ZZQ2QvWHVmbHA2YVp5OHZUeno5RGNneGU4WWt6Zi9sZTdleHBNVExhc3M4QUFCd0ZTSEFBZ0FBQUZDc09KM09YUmFMWllla0R0NnVwYmd6VFZPR1lYamFGK3ZzZVJtR1lheVR0TlRwZEs0NW5XcmVhRmlNWnk5eHVYbWtwQ1FwSlRsSlRWdGVyemJ0Ym5hTkwxLzhtL2JzMkt5QXdDQTlNT2h4MTNqVXFST2FQZU5yU1pMRGJwY2tXYTAyVjZlVWo2K3ZNak15OGp4bjVaSUZlWmJ0Njk2cm4rNGRPS3pBWmU2ZS8rODRPWXZZVWVSdzJEWDZ5WUdTSkwrTHNGZVdKeW5KU1ZwMFZoQVR2bnViWG41bWtENlpQRmNiMWl4WDJkQ0txdCs0aGRzK1RINytBUW9LRGxINDdtMnFFbFpML2g3MnQ1S2t1KzhkcEkvZWVGNlNOSFhpQjJyVXJMV3VLVjFHVTcvNFFIR3gwWktrcXRWcnEyMkhXL05jbXhPczVQYzlpSTJKMGpkZmZldzJWcVpjQlQzMzZvZXFYTFdHeDNweTM4ZHFzOGt3REQzeXhFdDZidWg5U2t2Tld0NnhTcldhNm5SN1Z0aVgzL2Z5Nk9IOVdwVXIrRlAyNzg3R2RTdGR4emFiVFkyYXRWSEh6dDNWK3ZxYkZCY1RwVVh6ZjliS0pmTVZIWFhDcmViY3h6bHl1cVFrcVZHejFoN3JrS1M0bUt6QWRzZVc5VXBQUzNWOUwxS1NrblJ3M3k1ZFd6WlUvdjRCOHZYMTA0NnQ2MVg2Mm5KNTduRmQrMDY2OGRadWJtTzU5eXl6MnpPelg1TlBubXZUMGxKZG5YUUFBQURGSFFFV0FBQUFnR0psMjdadGUrdlZxL2V2Z0lDQWdsc3FyaUttYVk0eERHTmdydU04Y3p4OGVHODNUWE9qWVJqVFROUDgzVzYzUjIvYnR1MjBKR2RZdldhdExrSFpSZWJyNjZlUUVxVmN4ejQrV1IrOEc0YmhOcDdpb1NNcUtEaEU1U3RXVVVpSlVxb2FWa3VMRnZ6c09uZjA4SDVOK3ZSZDdkcSswZTJhZXdjTTFWMjlIeXkwcnFwaHRZcjhHbEt6QXhWSjh2SE5QOENhTWZVei9mVHR4Q0xmTjdlRnY4NTBoWFhLRGwyc1ZwdGFYZDlSZnY0Qm1qemhQZGt6TTNYL29CRUtERHp6NjVNUUg2c25IKzZsRTVGSDllaVRMNnZqV2VGSGp1dmFkMUxqNW0yMGJkTTZKU1djMXJ1dlBxM3IydCtzWmRuaGpHRVkrcyt3NXozdWoxU2pkbjFKMHNBaHorcUxqOGU2eHUxMnV4Yk0rVjQvZlR2UkxUZ3BVN2E4L3Z2QjF5cDF6Ylg1dnQ2TTdGRE1NTTdzNWVUbjU2K0FnRUJYZ09YajYzZm1aeitmQU91WEh5YTc5bmpLV2VLd1R2MG1DZ3dLVm1abWhzcFhxS0ttTGE5WFlIQ0lKR24zanMyU3BFYk4yNmhSOHpZNmZHQ3ZkbTdib09vMTYzcDg3ZnZEZDdxV3NBeXJXVmVWcWxTWHp0cTRMalk3QU55M1o3dHJyR0tWTU1WbTcrRzFhL3RHV2ExV05XeVM5YXQ1eXgxMzY3ZlozeW5peUlFODNXWGxLbFJXaXpZMzVQdSs1UVJZUGo0K09oMGZLM3RtcGo3NFltYWh5MDFhRElzU1Q4Y3JwR1NwQXVjQkFBQmNLZ1JZQUFBQUFJb2I1KzdkdTJNa3hYaTdrT0tpV2JObXJqVytjanF1emxvaVVKSXlUZE9Na25STTBueEpNelp0MnJUcnJNL1JpNlZkMnpjcTR1aEIxL0hwdUt4dmZWcHFpcVpQK1o5clBETTkzZVAxelZ2Zm9HNTMzNjlmY2kxenQzRGVUQzM1NHhlUGV6TFZyTnZJN1hqeitsVnEwTGlsZlAzOHRIZlhWcjB4cXVqN1hVbFM5VnIxOWRUb2Qxekh2Z1VFV0E2NzNkVTlkcTcyNzkwcFNhcmJzSm4yN05ncy84QWd2ZlRtWi9Mejg5Zm12LytTUFRNcnVHalJwb04yYjkva3VxNUVxZEt5V0t5U3BHVUw1K1ViWUVuU2Y0YS9xRkdQOTFkU1lvSU83dHVsZy90MnVjNzE2RDBnejk1WE9XclZiYWllZlFhcTFYVTM2b3Zzc2FTa0JMMHcvQUZGSERtUVozN1owSXB1NGRYaGcrSHk4L04zVzM0dktTbHJUNm5Bb0dBWmhpR24wNm54NzR4MmRZTkowb0h3blpyL3kzVGQrYS83M1RxTzNNS2E3TitWdGpkMmR1MS9ObkxNQjdMYWJKci95M1Q5T0cyQ1cvRHBTWENKa25ybXBmZnlqTWZGUk9uak4xOTBQUzkzTUpvN2ZKMzMwelF0blBlanExT3RTcldhZVRyaFJvNzVVQ0VsU2txUzdoczRUUGNPR0txaEQzWlRlZ0VkVTJmL0xVaFBTMU5HOXUrSm41Ky8zaGc5L0p5V2Rtell0SlZHdi9GcGtlY0RBQUQ4a3dpd0FBQUFBT0F5ay9zRGE5TTBEeG1Hc2M0MHpYVk9wM050V2xyYWxqMTc5aVI2dGNCelZLdHVJMTEzd3kydTQyVUw1Mm4zamszeTh3L1FYZmYwZDQxSG56cWhuNzdMMjcxMC82QVJzbHF0Ym1NTm1yVFVza1h6WEFGV1VIQ0lrcFB5dmkwWjZlbDZlOHdUOHZQelYrdDJOK3VXTGoyTHRNK1ErejNTbEpsNVpyazdYei9QZTJwSlVwTVdiVlczWWROOHp5dDdPYmxmZi80MnozaVZzRnJhdldPeldsL2ZVWHV5dTRSeXVzUysvV3FjSktseTFScXFXTG1hVzRBbFNUZDA2cUlmcG42dVhkczM2dFNKWXlwWHZwTEhaNWNMcmFqQkkwYnJnOWZkVjVoczBLU2xldmQ3Sk4rYXkxZXNvdDc5SGxGeVlvSnJMRGk0aEVwZlc4NFZZQVdIbEZCU3J2TzVyVnl5UVBOK21xYUtsY1AwME5EbjFMQkpTOWR5ZTllVUxpdEorbjdLcDlxeFpiMlV2WlJmWEd5VUhIYTdmcHcyUWEzYWRuUmJ1dEZwT2pWN3hpVFZhOWhNVmNOcTZVU2RobXJVdExVcndMTGFiSG4yQVRzZlNZa0pyb0NwV2F0MnVqN1g4b29sU3BaU3k3WTNhc09hNVZLdVpSWWxxV2ZmZ1hudTlmV25iK2ZwcER3ZEZ5UC9BdXBjOXVjOC9iVjBnZHJmMUVVZE9uVlZUSzdsRFVOS1hpTS9QMy9aYkRiWnMwTlR2M3grTnROemRic0JBQUFVRndSWUFBQUFBRkQ4dVgycWJKcm1hZE0wRnpxZHp1OGREc2NXZjMvL3FJMGJONTdPLy9MaXlkOC9RSDUrL3RxMWJhTjJiVHV6ekYvT0VtaXBLY21hL05tN2J0ZmtmQUJ2eVJWWW5SMWVTVktscXRYVnA5K2pXcnhndGdZTmZWNHJseTdRMGovbTVKbVhjRHBPeXY0QVAvTG9JWlV1RzZvNy8zWC9PYjJPMG1YS3VaYTBVd0VoZ2JMM1IrcmVxMStCOXp0MU10SmpnRlc1YW5YZDBmUGZlZlkyU2twTTBLYjFmMG1TMm5hNEpjOTFrdFQrcHF3QVM1SldMZnZEWTRBaVNldFdMZEcwTHo3TU03NTM1eGI5TU8xejllZ3pJTi9neDlQeWVnT0hqTlR1N1p2VTZ2cU91clhyM1hybTBiNGVyMDFLaUpja1JVWWNVbnBhcXV4MnV5djRDcTFZV1gvT242VzVNNmRLMmZ0c1BUMzZIYTFadVVpLy9EQlo2ZWxwbXZUWnUycldxcDNyZms2SFEzK3ZYcWE1UDAzVHNKSC9WWjE2alhYaWVJVEhaK2Q0NjVOdkZSeGN3bTFzeW9UMzlmZnFwZmxlVXlXc3BnWS9Qa3JUSm42b29jKzhsdWY4a3krK3JXMmIxaW9tNnFTY3BsTStQcjZxWGErUmE1bkIzRTZkT0ZaZ2ZaNGtKc1JyKythL3RXdmJSblhvMUZXUng0NjR6cFVOcmFEWDN2OUtodytHNjlWbkJ5czFKVm4xRzdmUThPZGVWMkJnVVBiMXB6WCtuVkhhdG1tZC9QejhkZmU5Zzg2NUJnQUFnSDhLQVJZQUFBQUFGSDhwa2c0NG5jNXRUcWR6bHNWaW1iTjU4K1o0YnhkMUlmYnYzYUZ1ZHovZzhkenl4YjlwejQ3TkNnZ00wZ09ESHZjNEp6TGlzT3JVYjFMZ00rN29jYTl1NzlaSFByNitXcmwwZ1dzODkvSnkwYWVPdTc0T3JWaFo1VUlyNm9IL2VINW1ZYThuUjBGTENPN2N1a0ZPRDhzYTVwYmtvVk5NMmZ0TU5XMTV2VllzL3MxdGZPV1MrYTdsQTl0MXZOM2p0ZVZDSzZwNnJmbzZ1RytYVmkxZjZCWmdPUndPYlZ5N1FqL1BtT1MyWktDeTk5bXkyKzJ5MiszNjVZZkpXalIvbHJyYzFWYzMzOVpEcGN1VUsvQjFLSHY1di9jKy8wRisvdjZLeWQ3dlNSNzJjWXZLOVgwb1g2R3l3bmR2ZGUzMzVldnJwMG1mbmxtaWNlQ2pJeFZXczY0cVZLcW12NVlzVUhUVUNXM1pzTnJ0ZmMvTXpGQjhYTFJLWFZOR2padGZKNXZOVm1pQVZicDAyVHo3UC9uNjV4OUd1dXF0V0VVangzemc4WnpWYW5VTDFncnkxUStMODRTVFR6eDhkNEZMQ01iSFppMjNXYnBNcUt4V3Exdm5YVTZYWGJYcXRmWFVxSGYwM210UGEvUDZWWHJ1c1h0MTMwUERsWnljcUpuZmZLSFQ4YkVLQ0F6U1U2UGVVZjFHTFlwVUt3QUF3S1ZBZ0FVQUFBQUF4WnpGWXZuZTRYQk0zckpseXdGSjU3ZUJVakd6WTh0NkxmejFKNC9ua2hLem1zblNVbFAwOC9kZmU1emo0K3VybXpwM0wvQVpWcXZWMVoyVk85ell0M3ViR2pWdEpVbGF0K3BNZDAzRnltSG44VXF5NUN4dEp5bFBDSkxiNXZXcnRIbjlxdk42Um1pRnloN0hjOTdIT3ZXYnFFS2xxbEt1THJiY3JtdC9zdzd1MjZXamgvWXA0c2dCV1F5TFZpMWZxR1VMNXlvNjE5Snp5ZzZlQmo0NlVyWHJOOVluNzc2c2ZYdTJTOW5kWGpPL25haFowNzlTbzJhdDFmSzZHOVc4elEwcVc2NUN2blg3WllkQXViOEh4NDRlVkhKU29vS0NReFI5Nm9ScmZ5K2J6YVp5RlNwcjdxeHZYSE52dS9NZUJZZVUxTUpmWitxT0h2ZnE1dHQ3dU83YmYvQlQrdUQxWjFXaGNqVTFhOVhPMVMxMTVPQSt4Y1ZFdWNLcm9oZys4SzQ4WTU3ZXg5eDI3OWlzS1Y5NERxOEtjMHVYbnJJWVo3cldQRDAvSlRsSmdVSEJibU81QTlBVGtWa2RWK1VydDkwRGNnQUFDRnBKUkVGVVp2MXNiTm13V3NyZVkreWEwbVZjOHhvMWE2MFh4bzdYbTZPSEt6cnFoTWE5UGNwMXpzL1BYNDgvLzZZYVp2OU9BQUFBRkJjRVdBQUFBQUJRekczY3VIR3J0MnU0bU5hdFdpSWZIMTkxN1htdngvT3JWL3lwOE4zYjVPY2ZrTzhjU1pvL2U3bzZkdTZlNXdOK1Q4cVZyK2o2ZXNiVXo3Umd6Z3hsWm1hNHVud2txWGE5eG9YZTUrQyszWm8rK1JQWmJENnkyWHhrc1ZvVkczMUs0YnUzdWVaVXIxbXYwUHRjVE0rKzhvSCttRGRUSVNWSzZ0dXZ4c25IMTA4cmw4eDNuYmRZc2xhZ2JOTytremF2WDYxT1hYcXFkT2x5ZXVucGh4UVpjU2pQL1RyZTJrMTlIM3pNRllDODh1NUVMWm8vU3o5Kys0V1NFckxDUmFmVHFhMGIxMnJIbHZXcVZMVkdnUUZXanBDU3BlUWZFS2kwMUJRbEpzVHJzZjVkRlJnVW90TnhNYTZPck9xMTZpdjYxSEd0V1BTcmxMMDhZNTBHVFZXblFWT0ZWcWlrTzNxNC96eTBibmVUK3ZZZm90dTY5WmJENGRERThXOUlrdDU1NVFtWnBxa3ExV29XK1gwODE3M1BKT25Jd1hBZE9SaCt6dGRKVXVObWJWUStWeWlaKzJmUkV6OC9meVhwdE5hdFdxSnk1U3NxT1RuUkZWaFZybHBUdTdkdmNpMjdXTGRCVTgyYjlZM2lZMk1VSHhldG80Y1A2TmlSQTY0OTRYSkxUMC9UV3krUGtJK3ZyMHFXdWxaQndTRzY1WTUvcVhQWFh1ZjF1Z0FBQUM0V0Fpd0FBQUFBd0NXMWVNRnM3ZGk2dnNBNU5oOGYyZTJaK203eUp3WE9hOVh1cGlJRldPMXY2cUpaMDc5eWhRU240MlBkenRlcTIwaU5tN2NwOUQ3bEsxWFZybTBiWmJkN2JvU3JVYXQrZ1owc2Zmc1AwZTEzZWQ0SEtrZE0xQW1OSFBMdlFtdkpFVnFoc3ZvOS9JUVNFMDVyOEwyZDNjNFpocUZ5b1ZsTHlWV29WRlZqM3BuZ09qZjgyZjlxOUpNRDVIQTRaQmlHMm5hNFZUMzdEbFRWc0ZwdTk3QmFyYnF0VzIvZGNQTWRXdmpyVEMyWU0wUHhjVmxMMTkwN2NKZ2FObWxaNUZwdjY5WmJjMzZjSWtuS1NFOVhSbnE2NjV6Rll0RmR2UitVWVJnS0RBcFJZa0s4YnJ2ekh0ZmVXdm50VFpaN09jVG1yZHRyMDk5L3VZS2FSa1g0bnVhNGY5QUkrZmtIdUkwdFd6alBiWGxJU2JJWWxnTDNPU3NxeTFsN3QwMzQ3Zy81K1BxNmpUMDErQjVsWkFkcjFhclhWa3pVU1VXZGpOU2tzL2FHYTlyeWVsV3VWbFAxRzdYUXJ1MGJkY3NkLzlLS3hiOXA4WUxacmptR1lTaXNabDAxYnRaR1RWdTFVMXhNbExac1dLM2QyemNwT3VxRU1qTXlGSDNxdU9KaVRxbHBpN1lYL1BvQUFBQXVGQUVXQUFBQUFPQ1NldjYxankvNU0wdGRjNjNHZmpoWmMzNmNvb2dqQjVXV21pS0wxYXBTMTVSV3d5YXRkR3V1b0tRZ0FRR0JxbGFqcmx1b1liUFpWS1pjQmJXKy9pYjE2RE9nd1B0WWJUWUZCQVFXK0F6Zjh3eEhRa3FVMUxWbFExMTdUWlVzVlZvOSt3N1V0V1ZEUGM0UHExbFhmZm9QVVVweWttNjU0MStGZGxFRkJnV3JSNThCdXZQdUI3UnAzVXJ0RDkrcHJqM3ZPNmNhKy9ZZm9tdkxsTlBHZFNzVkd4TWxtYWI4QXdKVnZtSVZkZXJTVS9VYU5wTWtQZlB5ZXhyLzltaDF2dk9lYzdyL3d5TkdhZHhibzdRL2ZJZmFkN3k5MENER1lsaGMzNjhiYittbUVtY3QvM2g0LzE0ZFAzWllnWUZuUXRJeTVjcHI4cXpsNTFSWGZpSWpEc3ZtazdYdlZVQkFZSjRBeXpBTTE5ZjNQVFJDQ2FmamRXai9ibGVBR2hnVXJNNTMzcU9tTGJOZTV3dGp4MnZocnpOVnIyRXpoVmFvckl6MGRGVUpxNmthdGVxclJ1MzZlY0xlRzI3dUlrbEtPQjJuSXdmM0tmTFlZZm40K0xyMnp3SUFBUEFtb3doekFBQUFBQUJYa0xCNnpjWVlobDZScEFjZUhLd0hIaHpzN1pKd2thU21wc2cwVGZuNCtNb25PeGk1WENVbEppZzRwSVMzeThBbDhzMlVML1RObEM4a1NhYXBWdzd0M3Z5cXQyc0NBQURlUlFjV0FBQUFBQUJYaU1LNnV5NG5oRmNBQUFCWHQ4TFhSd0FBQUFBQUFBQUFBQUF1SVFJc0FBQUFBQUFBQUFBQUZDc0VXQUFBQUFBQUFBQUFBQ2hXQ0xBQUFBQUFBQUFBQUFCUXJCQmdBUUFBQUFBQUFBQUFvRmdod0FJQUFBQUFBQUFBQUVDeFFvQUZBQUFBQUFBQUFBQ0FZb1VBQ3dBQUFBQUFBQUFBQU1VS0FSWUFBQUFBQUFBQUFBQ0tGUUlzQUFBQUFBQUFBQUFBRkNzRVdBQUFBQUFBQUFBQUFDaFdDTEFBQUFBQUFBQUFBQUJRckJCZ0FRQUFBQUFBQUFBQW9GZ2h3QUlBQUFBQUFBQUFBRUN4UW9BRkFBQUFBQUFBQUFDQVlvVUFDd0FBQUFBQUFBQUFBTVVLQVJZQUFBQUFBQUFBQUFDS0ZRSXNBQUFBQUFBQUFBQUFGQ3NFV0FBQUFBQUFBQUFBQUNoV0NMQUFBQUFBQUFBQUFBQlFyQkJnQVFBQUFBQUFBQUFBb0ZnaHdBSUFBQUFBQUFBQUFFQ3hZdk4yQVFBQUFBQUE3NG1QaTlXaGcvdThYUWFBcTF4OFhLeTNTd0FBQU1VTUFSWUFBQUFBWE1YbXpabXBlWE5tZXJzTUFBQUFBSERERW9JQUFBQUFjSlV4VEtWSXNudTdEZ0E0bTJuS2tmMDNDZ0FBWE9Yb3dBSUFBQUNBcTR6VFlmNXBTTzFrcUo2M2F3RUFkOFplMDZtRjNxNENBQUI0bitIdEFnQUFBQUFBbDV3UkZoYm1sNXdjeVArcEVVQ3hFaFNVWWo5MDZGQzZKTlBidF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a05mL0FUcEh3WXpISk5oa0FBQUFBRWxGVGtTdVFtQ0MiLAoJIlRoZW1lIiA6ICIiLAoJIlR5cGUiIDogImZsb3ciLAoJIlZlcnNpb24iIDogIjU3Igp9Cg=="/>
    </extobj>
  </extobjs>
</s:customData>
</file>

<file path=customXml/itemProps37.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3564</Words>
  <Application>WPS 演示</Application>
  <PresentationFormat>宽屏</PresentationFormat>
  <Paragraphs>509</Paragraphs>
  <Slides>21</Slides>
  <Notes>3</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21</vt:i4>
      </vt:variant>
    </vt:vector>
  </HeadingPairs>
  <TitlesOfParts>
    <vt:vector size="50" baseType="lpstr">
      <vt:lpstr>Arial</vt:lpstr>
      <vt:lpstr>宋体</vt:lpstr>
      <vt:lpstr>Wingdings</vt:lpstr>
      <vt:lpstr>Calibri</vt:lpstr>
      <vt:lpstr>微软雅黑</vt:lpstr>
      <vt:lpstr>华文中宋</vt:lpstr>
      <vt:lpstr>Lato</vt:lpstr>
      <vt:lpstr>Italic PEP</vt:lpstr>
      <vt:lpstr>黑体</vt:lpstr>
      <vt:lpstr>汉仪青云简</vt:lpstr>
      <vt:lpstr>Nexa Light</vt:lpstr>
      <vt:lpstr>Calibri</vt:lpstr>
      <vt:lpstr>Arial Unicode MS</vt:lpstr>
      <vt:lpstr>等线</vt:lpstr>
      <vt:lpstr>Rockwell</vt:lpstr>
      <vt:lpstr>Arial</vt:lpstr>
      <vt:lpstr>Agency FB</vt:lpstr>
      <vt:lpstr>Trebuchet MS</vt:lpstr>
      <vt:lpstr>Arial Black</vt:lpstr>
      <vt:lpstr>Times New Roman</vt:lpstr>
      <vt:lpstr>等线 Light</vt:lpstr>
      <vt:lpstr>Arial Black</vt:lpstr>
      <vt:lpstr>Nexa Light</vt:lpstr>
      <vt:lpstr>Wingdings</vt:lpstr>
      <vt:lpstr>汉仪青云简</vt:lpstr>
      <vt:lpstr>Tahoma</vt:lpstr>
      <vt:lpstr>Windsor Std Light</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锐旗设计；https://9ppt.taobao.com</dc:title>
  <dc:creator>锐旗设计;https://9ppt.taobao.com;微软用户</dc:creator>
  <cp:keywords>锐旗设计; https:/9ppt.taobao.com</cp:keywords>
  <cp:category>锐旗设计;https://9ppt.taobao.com</cp:category>
  <cp:lastModifiedBy>Alice</cp:lastModifiedBy>
  <cp:revision>33</cp:revision>
  <dcterms:created xsi:type="dcterms:W3CDTF">2016-07-01T08:29:00Z</dcterms:created>
  <dcterms:modified xsi:type="dcterms:W3CDTF">2025-12-16T11:29:38Z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5B1EE354202545F39892F791F65B598D_13</vt:lpwstr>
  </property>
  <property fmtid="{D5CDD505-2E9C-101B-9397-08002B2CF9AE}" pid="3" name="KSOProductBuildVer">
    <vt:lpwstr>2052-12.1.0.24034</vt:lpwstr>
  </property>
</Properties>
</file>